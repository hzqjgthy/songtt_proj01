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PROJECT REPORT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812280" y="118872"/>
            <a:ext cx="5376672" cy="6739128"/>
          </a:xfrm>
          <a:prstGeom prst="rect">
            <a:avLst/>
          </a:prstGeom>
          <a:solidFill>
            <a:srgbClr val="020916"/>
          </a:solidFill>
          <a:ln w="12700">
            <a:solidFill>
              <a:srgbClr val="02091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685800"/>
            <a:ext cx="4681728" cy="5440680"/>
          </a:xfrm>
          <a:prstGeom prst="roundRect">
            <a:avLst>
              <a:gd name="adj" fmla="val 1172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7" name="Image 0" descr="/Users/thy/Desktop/KeTiZu/proj_260608/Songtt_proj01/output_nifti/patient_0099039449/CT_brain_0.80_Hr40_S3_00000262_paths_3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41464" y="740664"/>
            <a:ext cx="4572000" cy="5056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32904" y="5852160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代表病例路径规划 3D 视图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594360" y="10241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脑出血 CT 影像分割与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穿刺路径规划流水线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21792" y="20848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从原始 DICOM 到关键结构分割、风险禁区生成、路径规划与报告输出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944368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3063240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4672" y="33649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病例数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011680" y="2944368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76272" y="3063240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176272" y="33649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转换序列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3383280" y="2944368"/>
            <a:ext cx="150876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F05252">
                <a:alpha val="6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47872" y="3063240"/>
            <a:ext cx="1179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8.37 mL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547872" y="3364992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疑似血肿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3547872" y="3538728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 个病例检出</a:t>
            </a:r>
            <a:endParaRPr lang="en-US" sz="590" dirty="0"/>
          </a:p>
        </p:txBody>
      </p:sp>
      <p:sp>
        <p:nvSpPr>
          <p:cNvPr id="21" name="Shape 18"/>
          <p:cNvSpPr/>
          <p:nvPr/>
        </p:nvSpPr>
        <p:spPr>
          <a:xfrm>
            <a:off x="5074920" y="2944368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39512" y="3063240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239512" y="33649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合法路径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640080" y="4114800"/>
            <a:ext cx="5623560" cy="1554480"/>
          </a:xfrm>
          <a:prstGeom prst="roundRect">
            <a:avLst>
              <a:gd name="adj" fmla="val 3529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431596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汇报重点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868680" y="4663440"/>
            <a:ext cx="5184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完整跑通 9 步处理流程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产出 NIfTI、mask、overlay、3D 图、路径 JSON 和 PDF 报告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当前方法为规则/几何驱动原型，结果需要人工复核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640080" y="5788152"/>
            <a:ext cx="5623560" cy="475488"/>
          </a:xfrm>
          <a:prstGeom prst="roundRect">
            <a:avLst>
              <a:gd name="adj" fmla="val 11538"/>
            </a:avLst>
          </a:prstGeom>
          <a:solidFill>
            <a:srgbClr val="09182A"/>
          </a:solidFill>
          <a:ln w="12700">
            <a:solidFill>
              <a:srgbClr val="F05252">
                <a:alpha val="6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4672" y="5861304"/>
            <a:ext cx="5294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项目定位</a:t>
            </a:r>
            <a:endParaRPr lang="en-US" sz="760" dirty="0"/>
          </a:p>
        </p:txBody>
      </p:sp>
      <p:sp>
        <p:nvSpPr>
          <p:cNvPr id="29" name="Text 26"/>
          <p:cNvSpPr/>
          <p:nvPr/>
        </p:nvSpPr>
        <p:spPr>
          <a:xfrm>
            <a:off x="804672" y="6016752"/>
            <a:ext cx="52943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这套系统不是“自动看病”，更像影像辅助工具原型：把 CT 数据整理成三维结果，标出疑似结构和禁区，再给人工复核提供候选路径。</a:t>
            </a:r>
            <a:endParaRPr lang="en-US" sz="640" dirty="0"/>
          </a:p>
        </p:txBody>
      </p:sp>
      <p:sp>
        <p:nvSpPr>
          <p:cNvPr id="30" name="Text 27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OBJECTIVE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项目目标与最终交付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把 CT 原始数据转化为可检查、可汇报、可追踪的结构化结果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2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输入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医院导出的 DICOM 切片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包含图像、空间位置和扫描参数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47472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分割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7588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标出颅骨、颅腔、脑组织、血肿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以及脑室等结构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规划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6480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在避开风险禁区的前提下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寻找候选穿刺直线路径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05256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372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5372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输出 PNG、JSON、TXT 和 PDF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便于复核和汇报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85800" y="4297680"/>
            <a:ext cx="534924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49884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当前项目定位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14400" y="4846320"/>
            <a:ext cx="4910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不是自动诊断系统，也不能替代医生判断；所有医学结论都需要专业人员复核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核心价值是把复杂影像流程自动化：统一格式、生成 mask、输出可视化图和报告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适合做原型验证、流程演示，以及后续接入更精确算法或医生标注数据的基础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355080" y="4297680"/>
            <a:ext cx="512064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4988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本次已跑出的结果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6583680" y="4846320"/>
            <a:ext cx="4681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2 个病例完成 DICOM 转换、颅骨、脑组织、脑室和各类风险禁区生成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1 个病例检出疑似血肿 8.37 mL，并进一步完成穿刺路径规划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2 个病例均生成自然语言方案和 PDF 报告，可作为人工检查入口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DATA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数据与运行结果概览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本次基于已解压的头颅 CT 数据完成端到端跑通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3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14173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9961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项目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2057400" y="1417320"/>
            <a:ext cx="27432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499616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结果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640080" y="1755648"/>
            <a:ext cx="14173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3794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遍历文件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057400" y="1755648"/>
            <a:ext cx="27432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183794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1003 个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40080" y="2084832"/>
            <a:ext cx="14173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16712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识别 DICOM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2057400" y="2084832"/>
            <a:ext cx="27432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2167128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1001 个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640080" y="2414016"/>
            <a:ext cx="14173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49631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DICOM series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057400" y="2414016"/>
            <a:ext cx="27432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2496312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11 个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40080" y="2743200"/>
            <a:ext cx="14173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82549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成功转换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057400" y="2743200"/>
            <a:ext cx="27432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0" y="2825496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 个体数据序列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640080" y="3072384"/>
            <a:ext cx="14173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15468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跳过序列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2057400" y="3072384"/>
            <a:ext cx="27432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3154680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 个（定位像/患者方案等）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640080" y="3401568"/>
            <a:ext cx="14173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48386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失败序列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2057400" y="3401568"/>
            <a:ext cx="27432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03120" y="348386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640080" y="4069080"/>
            <a:ext cx="12801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15137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1920240" y="406908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65960" y="41513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颅腔</a:t>
            </a:r>
            <a:endParaRPr lang="en-US" sz="730" dirty="0"/>
          </a:p>
        </p:txBody>
      </p:sp>
      <p:sp>
        <p:nvSpPr>
          <p:cNvPr id="40" name="Shape 38"/>
          <p:cNvSpPr/>
          <p:nvPr/>
        </p:nvSpPr>
        <p:spPr>
          <a:xfrm>
            <a:off x="3063240" y="406908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41513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脑组织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4206240" y="4069080"/>
            <a:ext cx="10515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51960" y="4151376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血肿</a:t>
            </a:r>
            <a:endParaRPr lang="en-US" sz="730" dirty="0"/>
          </a:p>
        </p:txBody>
      </p:sp>
      <p:sp>
        <p:nvSpPr>
          <p:cNvPr id="44" name="Shape 42"/>
          <p:cNvSpPr/>
          <p:nvPr/>
        </p:nvSpPr>
        <p:spPr>
          <a:xfrm>
            <a:off x="640080" y="4407408"/>
            <a:ext cx="128016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48970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1920240" y="4407408"/>
            <a:ext cx="114300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65960" y="448970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827.24 mL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3063240" y="4407408"/>
            <a:ext cx="114300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0" y="448970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785.40 mL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4206240" y="4407408"/>
            <a:ext cx="105156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51960" y="4489704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8.37 mL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640080" y="4754880"/>
            <a:ext cx="128016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83717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1920240" y="4754880"/>
            <a:ext cx="114300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65960" y="483717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1048.32 mL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3063240" y="4754880"/>
            <a:ext cx="114300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0" y="483717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999.50 mL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4206240" y="4754880"/>
            <a:ext cx="105156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51960" y="48371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0.00 mL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640080" y="5358384"/>
            <a:ext cx="4160520" cy="530352"/>
          </a:xfrm>
          <a:prstGeom prst="roundRect">
            <a:avLst>
              <a:gd name="adj" fmla="val 10345"/>
            </a:avLst>
          </a:prstGeom>
          <a:solidFill>
            <a:srgbClr val="09182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4672" y="5431536"/>
            <a:ext cx="3831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怎么读这页</a:t>
            </a:r>
            <a:endParaRPr lang="en-US" sz="760" dirty="0"/>
          </a:p>
        </p:txBody>
      </p:sp>
      <p:sp>
        <p:nvSpPr>
          <p:cNvPr id="62" name="Text 60"/>
          <p:cNvSpPr/>
          <p:nvPr/>
        </p:nvSpPr>
        <p:spPr>
          <a:xfrm>
            <a:off x="804672" y="5586984"/>
            <a:ext cx="3831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1001 个 DICOM 文件不是 1001 个病例，而是很多张 CT 切片；程序会把同一组切片拼成三维体数据，再按病例目录输出。</a:t>
            </a:r>
            <a:endParaRPr lang="en-US" sz="640" dirty="0"/>
          </a:p>
        </p:txBody>
      </p:sp>
      <p:sp>
        <p:nvSpPr>
          <p:cNvPr id="63" name="Shape 61"/>
          <p:cNvSpPr/>
          <p:nvPr/>
        </p:nvSpPr>
        <p:spPr>
          <a:xfrm>
            <a:off x="5212080" y="1389888"/>
            <a:ext cx="6309360" cy="2148840"/>
          </a:xfrm>
          <a:prstGeom prst="roundRect">
            <a:avLst>
              <a:gd name="adj" fmla="val 255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64" name="Image 0" descr="/Users/thy/Desktop/KeTiZu/proj_260608/Songtt_proj01/output_nifti/patient_0099039449/CT_brain_0.80_Hr40_S3_00000262_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66944" y="1444752"/>
            <a:ext cx="6199632" cy="1764792"/>
          </a:xfrm>
          <a:prstGeom prst="rect">
            <a:avLst/>
          </a:prstGeom>
        </p:spPr>
      </p:pic>
      <p:sp>
        <p:nvSpPr>
          <p:cNvPr id="65" name="Text 62"/>
          <p:cNvSpPr/>
          <p:nvPr/>
        </p:nvSpPr>
        <p:spPr>
          <a:xfrm>
            <a:off x="5358384" y="3264408"/>
            <a:ext cx="6016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0099039449 · 薄层软组织 CT 三视图</a:t>
            </a:r>
            <a:endParaRPr lang="en-US" sz="730" dirty="0"/>
          </a:p>
        </p:txBody>
      </p:sp>
      <p:sp>
        <p:nvSpPr>
          <p:cNvPr id="66" name="Shape 63"/>
          <p:cNvSpPr/>
          <p:nvPr/>
        </p:nvSpPr>
        <p:spPr>
          <a:xfrm>
            <a:off x="5212080" y="3794760"/>
            <a:ext cx="6309360" cy="2148840"/>
          </a:xfrm>
          <a:prstGeom prst="roundRect">
            <a:avLst>
              <a:gd name="adj" fmla="val 255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67" name="Image 1" descr="/Users/thy/Desktop/KeTiZu/proj_260608/Songtt_proj01/output_nifti/patient_0100297683/CT_brain_0.80_Hr40_S3_00000269_previe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66944" y="3849624"/>
            <a:ext cx="6199632" cy="1764792"/>
          </a:xfrm>
          <a:prstGeom prst="rect">
            <a:avLst/>
          </a:prstGeom>
        </p:spPr>
      </p:pic>
      <p:sp>
        <p:nvSpPr>
          <p:cNvPr id="68" name="Text 64"/>
          <p:cNvSpPr/>
          <p:nvPr/>
        </p:nvSpPr>
        <p:spPr>
          <a:xfrm>
            <a:off x="5358384" y="5669280"/>
            <a:ext cx="6016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0100297683 · 薄层软组织 CT 三视图</a:t>
            </a:r>
            <a:endParaRPr lang="en-US" sz="7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PIPELINE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全流程总览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 个步骤串起数据读取、分割、风险建模、路径规划和报告输出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4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71323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5039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DICOM 转 NIfTI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49631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5351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981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9067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颅骨分割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473659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9379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F05252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3095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脑/血肿分割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97687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3407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037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57123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脑室分割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921715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7435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065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81151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血管风险禁区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181051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5681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4767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3593592" y="430682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5079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9709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07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8795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5833872" y="430682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9107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737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08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2823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路径规划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8074152" y="430682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3135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7765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09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66851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报告生成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731520" y="5349240"/>
            <a:ext cx="10744200" cy="777240"/>
          </a:xfrm>
          <a:prstGeom prst="roundRect">
            <a:avLst>
              <a:gd name="adj" fmla="val 7059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5550408"/>
            <a:ext cx="10287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汇报时的一句话解释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960120" y="5897880"/>
            <a:ext cx="103052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先把 CT 切片拼成三维体数据；再用 HU 亮度、形态学和几何规则生成结构 mask；最后把脑室、血管风险、脑干和功能区当作避让约束，筛出候选穿刺路径。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1 · DICOM 转 NIfTI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目的：把医院导出的原始 CT 切片整理成后续算法可处理的三维体数据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5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417320"/>
            <a:ext cx="3977640" cy="1828800"/>
          </a:xfrm>
          <a:prstGeom prst="roundRect">
            <a:avLst>
              <a:gd name="adj" fmla="val 3000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1848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做了什么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50392" y="1965960"/>
            <a:ext cx="3538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递归扫描原始 DICOM 目录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按 SeriesInstanceUID 自动分组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跳过定位像、剂量报告、切片数过少的序列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写出 .nii.gz 三维影像和三视图预览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21792" y="3703320"/>
            <a:ext cx="13258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78561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指标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1947672" y="3703320"/>
            <a:ext cx="21031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378561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结果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621792" y="4041648"/>
            <a:ext cx="132588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412394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识别 DICOM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1947672" y="4041648"/>
            <a:ext cx="21031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412394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1001 个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621792" y="4352544"/>
            <a:ext cx="132588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43484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获得 series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1947672" y="4352544"/>
            <a:ext cx="210312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93392" y="443484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11 个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621792" y="4663440"/>
            <a:ext cx="132588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474573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转换成功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1947672" y="4663440"/>
            <a:ext cx="21031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3392" y="4745736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 个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621792" y="4974336"/>
            <a:ext cx="132588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505663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失败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1947672" y="4974336"/>
            <a:ext cx="210312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93392" y="505663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 个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621792" y="5285232"/>
            <a:ext cx="132588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536752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主用序列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1947672" y="5285232"/>
            <a:ext cx="21031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93392" y="536752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0.80mm Hr40 / Hr60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4919472" y="1417320"/>
            <a:ext cx="6537960" cy="4480560"/>
          </a:xfrm>
          <a:prstGeom prst="roundRect">
            <a:avLst>
              <a:gd name="adj" fmla="val 1224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36" name="Image 0" descr="/Users/thy/Desktop/KeTiZu/proj_260608/Songtt_proj01/output_nifti/patient_0099039449/CT_brain_0.80_Hr40_S3_00000262_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74336" y="1472184"/>
            <a:ext cx="6428232" cy="409651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065776" y="5623560"/>
            <a:ext cx="6245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转换后生成的 NIfTI 三视图预览</a:t>
            </a:r>
            <a:endParaRPr lang="en-US" sz="730" dirty="0"/>
          </a:p>
        </p:txBody>
      </p:sp>
      <p:sp>
        <p:nvSpPr>
          <p:cNvPr id="38" name="Shape 35"/>
          <p:cNvSpPr/>
          <p:nvPr/>
        </p:nvSpPr>
        <p:spPr>
          <a:xfrm>
            <a:off x="4919472" y="5961888"/>
            <a:ext cx="6537960" cy="402336"/>
          </a:xfrm>
          <a:prstGeom prst="roundRect">
            <a:avLst>
              <a:gd name="adj" fmla="val 13636"/>
            </a:avLst>
          </a:prstGeom>
          <a:solidFill>
            <a:srgbClr val="09182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84064" y="6035040"/>
            <a:ext cx="6208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白话解释</a:t>
            </a:r>
            <a:endParaRPr lang="en-US" sz="760" dirty="0"/>
          </a:p>
        </p:txBody>
      </p:sp>
      <p:sp>
        <p:nvSpPr>
          <p:cNvPr id="40" name="Text 37"/>
          <p:cNvSpPr/>
          <p:nvPr/>
        </p:nvSpPr>
        <p:spPr>
          <a:xfrm>
            <a:off x="5084064" y="6190488"/>
            <a:ext cx="6208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DICOM 可以理解成“一摞带坐标的 CT 小切片”；NIfTI 就是把这些切片按真实空间位置叠起来后的三维脑部 CT，后续分割都基于它。</a:t>
            </a:r>
            <a:endParaRPr lang="en-US" sz="6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2 · 颅骨分割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目的：先找到头骨外壳，为颅腔提取和入颅点采样打基础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6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417320"/>
            <a:ext cx="6400800" cy="2331720"/>
          </a:xfrm>
          <a:prstGeom prst="roundRect">
            <a:avLst>
              <a:gd name="adj" fmla="val 235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60_S3_00000263_skull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72184"/>
            <a:ext cx="6291072" cy="19476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474720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 overlay：白/红色区域为骨结构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15200" y="1417320"/>
            <a:ext cx="4069080" cy="4526280"/>
          </a:xfrm>
          <a:prstGeom prst="roundRect">
            <a:avLst>
              <a:gd name="adj" fmla="val 1348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60_S3_00000263_skull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70064" y="1472184"/>
            <a:ext cx="3959352" cy="41422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5669280"/>
            <a:ext cx="3776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 3D 表面渲染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3977640"/>
            <a:ext cx="2971800" cy="1325880"/>
          </a:xfrm>
          <a:prstGeom prst="roundRect">
            <a:avLst>
              <a:gd name="adj" fmla="val 4138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1788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方法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526280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骨 HU 阈值筛选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开闭运算清理噪声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3D 最大连通域保留主颅骨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3794760" y="3977640"/>
            <a:ext cx="12801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840480" y="405993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074920" y="3977640"/>
            <a:ext cx="11887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120640" y="40599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颅骨体积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3794760" y="4315968"/>
            <a:ext cx="12801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840480" y="439826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5074920" y="4315968"/>
            <a:ext cx="11887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120640" y="439826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402.10 cm³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3794760" y="4645152"/>
            <a:ext cx="12801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840480" y="472744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074920" y="4645152"/>
            <a:ext cx="11887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120640" y="472744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484.34 cm³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621792" y="5504688"/>
            <a:ext cx="6400800" cy="530352"/>
          </a:xfrm>
          <a:prstGeom prst="roundRect">
            <a:avLst>
              <a:gd name="adj" fmla="val 10345"/>
            </a:avLst>
          </a:prstGeom>
          <a:solidFill>
            <a:srgbClr val="09182A"/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86384" y="5577840"/>
            <a:ext cx="6071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为什么先找骨头</a:t>
            </a:r>
            <a:endParaRPr lang="en-US" sz="760" dirty="0"/>
          </a:p>
        </p:txBody>
      </p:sp>
      <p:sp>
        <p:nvSpPr>
          <p:cNvPr id="31" name="Text 27"/>
          <p:cNvSpPr/>
          <p:nvPr/>
        </p:nvSpPr>
        <p:spPr>
          <a:xfrm>
            <a:off x="786384" y="5733288"/>
            <a:ext cx="6071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头骨像一个外壳。找到外壳后，程序才能推断里面的颅腔范围，也才能从头骨表面挑选可能的入颅点。</a:t>
            </a:r>
            <a:endParaRPr lang="en-US" sz="6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3 · 颅腔、脑组织、血肿粗分割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目的：定位脑内空间，并筛出疑似出血区域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7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92240" cy="2487168"/>
          </a:xfrm>
          <a:prstGeom prst="roundRect">
            <a:avLst>
              <a:gd name="adj" fmla="val 220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brain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382512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602736"/>
            <a:ext cx="6199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脑/血肿 overlay：红色为疑似血肿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88352" y="1389888"/>
            <a:ext cx="3977640" cy="4480560"/>
          </a:xfrm>
          <a:prstGeom prst="roundRect">
            <a:avLst>
              <a:gd name="adj" fmla="val 1379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brain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43216" y="1444752"/>
            <a:ext cx="3867912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34656" y="5596128"/>
            <a:ext cx="3685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颅骨半透明 + 血肿 3D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187952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38912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处理逻辑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736592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由颅骨填洞得到颅腔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HU 0-80 提取脑组织区域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HU 45-80 + 几何过滤筛血肿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297680" y="4187952"/>
            <a:ext cx="10515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43400" y="427024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349240" y="418795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94960" y="42702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颅腔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6062472" y="418795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108192" y="42702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脑组织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6775704" y="418795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821424" y="42702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血肿</a:t>
            </a:r>
            <a:endParaRPr lang="en-US" sz="730" dirty="0"/>
          </a:p>
        </p:txBody>
      </p:sp>
      <p:sp>
        <p:nvSpPr>
          <p:cNvPr id="25" name="Shape 21"/>
          <p:cNvSpPr/>
          <p:nvPr/>
        </p:nvSpPr>
        <p:spPr>
          <a:xfrm>
            <a:off x="4297680" y="4526280"/>
            <a:ext cx="10515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343400" y="46085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349240" y="452628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394960" y="460857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827.24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6062472" y="452628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108192" y="460857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785.40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6775704" y="452628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821424" y="460857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8.37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4297680" y="4855464"/>
            <a:ext cx="10515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343400" y="493776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5" name="Shape 31"/>
          <p:cNvSpPr/>
          <p:nvPr/>
        </p:nvSpPr>
        <p:spPr>
          <a:xfrm>
            <a:off x="5349240" y="485546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394960" y="493776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1048.32</a:t>
            </a:r>
            <a:endParaRPr lang="en-US" sz="720" dirty="0"/>
          </a:p>
        </p:txBody>
      </p:sp>
      <p:sp>
        <p:nvSpPr>
          <p:cNvPr id="37" name="Shape 33"/>
          <p:cNvSpPr/>
          <p:nvPr/>
        </p:nvSpPr>
        <p:spPr>
          <a:xfrm>
            <a:off x="6062472" y="485546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108192" y="493776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999.50</a:t>
            </a:r>
            <a:endParaRPr lang="en-US" sz="720" dirty="0"/>
          </a:p>
        </p:txBody>
      </p:sp>
      <p:sp>
        <p:nvSpPr>
          <p:cNvPr id="39" name="Shape 35"/>
          <p:cNvSpPr/>
          <p:nvPr/>
        </p:nvSpPr>
        <p:spPr>
          <a:xfrm>
            <a:off x="6775704" y="485546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821424" y="493776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0.00</a:t>
            </a:r>
            <a:endParaRPr lang="en-US" sz="720" dirty="0"/>
          </a:p>
        </p:txBody>
      </p:sp>
      <p:sp>
        <p:nvSpPr>
          <p:cNvPr id="41" name="Text 37"/>
          <p:cNvSpPr/>
          <p:nvPr/>
        </p:nvSpPr>
        <p:spPr>
          <a:xfrm>
            <a:off x="4315968" y="5394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单位：mL；血肿为粗分割结果，需要人工复核。</a:t>
            </a:r>
            <a:endParaRPr lang="en-US" sz="650" dirty="0"/>
          </a:p>
        </p:txBody>
      </p:sp>
      <p:sp>
        <p:nvSpPr>
          <p:cNvPr id="42" name="Shape 38"/>
          <p:cNvSpPr/>
          <p:nvPr/>
        </p:nvSpPr>
        <p:spPr>
          <a:xfrm>
            <a:off x="621792" y="5687568"/>
            <a:ext cx="6492240" cy="512064"/>
          </a:xfrm>
          <a:prstGeom prst="roundRect">
            <a:avLst>
              <a:gd name="adj" fmla="val 10714"/>
            </a:avLst>
          </a:prstGeom>
          <a:solidFill>
            <a:srgbClr val="09182A"/>
          </a:solidFill>
          <a:ln w="12700">
            <a:solidFill>
              <a:srgbClr val="F05252">
                <a:alpha val="6500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86384" y="5760720"/>
            <a:ext cx="61630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白话逻辑</a:t>
            </a:r>
            <a:endParaRPr lang="en-US" sz="760" dirty="0"/>
          </a:p>
        </p:txBody>
      </p:sp>
      <p:sp>
        <p:nvSpPr>
          <p:cNvPr id="44" name="Text 40"/>
          <p:cNvSpPr/>
          <p:nvPr/>
        </p:nvSpPr>
        <p:spPr>
          <a:xfrm>
            <a:off x="786384" y="5916168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先由头骨“填洞”得到脑袋内部空间，再在里面找脑组织；血肿通常比普通脑组织更亮，所以用 HU 45-80 粗筛，再过滤太小、太靠骨头或形状太散的误判。</a:t>
            </a:r>
            <a:endParaRPr lang="en-US" sz="6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4 · 脑室分割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目的：找出脑室区域，作为路径规划时需要避开的结构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8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00800" cy="2487168"/>
          </a:xfrm>
          <a:prstGeom prst="roundRect">
            <a:avLst>
              <a:gd name="adj" fmla="val 220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ventricle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291072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602736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青色区域为脑室候选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33488" y="1389888"/>
            <a:ext cx="4041648" cy="4480560"/>
          </a:xfrm>
          <a:prstGeom prst="roundRect">
            <a:avLst>
              <a:gd name="adj" fmla="val 135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ventricle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88352" y="1444752"/>
            <a:ext cx="3931920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79792" y="559612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 + 脑室 + 血肿 3D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206240"/>
            <a:ext cx="356616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4074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方法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754880"/>
            <a:ext cx="31272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颅腔内筛选 CSF HU 范围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剔除贴近颅骨的脑沟/蛛网膜下腔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保留较大的连通域作为脑室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462272" y="420624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07992" y="428853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605272" y="420624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50992" y="428853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脑室体积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6748272" y="4206240"/>
            <a:ext cx="7315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93992" y="4288536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连通域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4462272" y="4544568"/>
            <a:ext cx="11430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07992" y="46268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5605272" y="4544568"/>
            <a:ext cx="11430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650992" y="46268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19.09 mL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6748272" y="4544568"/>
            <a:ext cx="7315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793992" y="4626864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5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4462272" y="4873752"/>
            <a:ext cx="11430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07992" y="495604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605272" y="4873752"/>
            <a:ext cx="11430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650992" y="495604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40.29 mL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6748272" y="4873752"/>
            <a:ext cx="7315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793992" y="495604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</a:t>
            </a:r>
            <a:endParaRPr lang="en-US" sz="720" dirty="0"/>
          </a:p>
        </p:txBody>
      </p:sp>
      <p:sp>
        <p:nvSpPr>
          <p:cNvPr id="35" name="Shape 31"/>
          <p:cNvSpPr/>
          <p:nvPr/>
        </p:nvSpPr>
        <p:spPr>
          <a:xfrm>
            <a:off x="621792" y="5715000"/>
            <a:ext cx="6400800" cy="457200"/>
          </a:xfrm>
          <a:prstGeom prst="roundRect">
            <a:avLst>
              <a:gd name="adj" fmla="val 12000"/>
            </a:avLst>
          </a:prstGeom>
          <a:solidFill>
            <a:srgbClr val="09182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86384" y="5788152"/>
            <a:ext cx="6071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为什么要避开脑室</a:t>
            </a:r>
            <a:endParaRPr lang="en-US" sz="760" dirty="0"/>
          </a:p>
        </p:txBody>
      </p:sp>
      <p:sp>
        <p:nvSpPr>
          <p:cNvPr id="37" name="Text 33"/>
          <p:cNvSpPr/>
          <p:nvPr/>
        </p:nvSpPr>
        <p:spPr>
          <a:xfrm>
            <a:off x="786384" y="5943600"/>
            <a:ext cx="60716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脑室可以理解为脑内装脑脊液的空腔。路径规划时如果穿过脑室，通常会增加风险或不符合预期，所以把它作为禁区之一。</a:t>
            </a:r>
            <a:endParaRPr lang="en-US" sz="6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5 · 血管风险禁区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目的：在平扫 CT 无法精确分割血管时，生成保守避让区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9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00800" cy="2487168"/>
          </a:xfrm>
          <a:prstGeom prst="roundRect">
            <a:avLst>
              <a:gd name="adj" fmla="val 220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vessel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291072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602736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红/橙色风险区用于路径避让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33488" y="1389888"/>
            <a:ext cx="4041648" cy="4480560"/>
          </a:xfrm>
          <a:prstGeom prst="roundRect">
            <a:avLst>
              <a:gd name="adj" fmla="val 135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vessel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88352" y="1444752"/>
            <a:ext cx="3931920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79792" y="559612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风险区 3D 展示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206240"/>
            <a:ext cx="374904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4074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关键说明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754880"/>
            <a:ext cx="33101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这一步不是精确血管分割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平扫 CT 难以看到未钙化血管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用高密度结构 + 解剖先验生成风险区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590288" y="4206240"/>
            <a:ext cx="123444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36008" y="428853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824728" y="4206240"/>
            <a:ext cx="123444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70448" y="428853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风险区体积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4590288" y="4544568"/>
            <a:ext cx="123444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36008" y="4626864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5824728" y="4544568"/>
            <a:ext cx="123444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70448" y="4626864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77.76 mL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4590288" y="4873752"/>
            <a:ext cx="123444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36008" y="495604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824728" y="4873752"/>
            <a:ext cx="123444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870448" y="495604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213.37 mL</a:t>
            </a:r>
            <a:endParaRPr lang="en-US" sz="720" dirty="0"/>
          </a:p>
        </p:txBody>
      </p:sp>
      <p:sp>
        <p:nvSpPr>
          <p:cNvPr id="29" name="Text 25"/>
          <p:cNvSpPr/>
          <p:nvPr/>
        </p:nvSpPr>
        <p:spPr>
          <a:xfrm>
            <a:off x="4617720" y="51937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后续接入 CTA/MRA 后应替换为真实血管分割。</a:t>
            </a:r>
            <a:endParaRPr lang="en-US" sz="740" dirty="0"/>
          </a:p>
        </p:txBody>
      </p:sp>
      <p:sp>
        <p:nvSpPr>
          <p:cNvPr id="30" name="Shape 26"/>
          <p:cNvSpPr/>
          <p:nvPr/>
        </p:nvSpPr>
        <p:spPr>
          <a:xfrm>
            <a:off x="621792" y="5715000"/>
            <a:ext cx="6400800" cy="457200"/>
          </a:xfrm>
          <a:prstGeom prst="roundRect">
            <a:avLst>
              <a:gd name="adj" fmla="val 12000"/>
            </a:avLst>
          </a:prstGeom>
          <a:solidFill>
            <a:srgbClr val="09182A"/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86384" y="5788152"/>
            <a:ext cx="6071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重要边界</a:t>
            </a:r>
            <a:endParaRPr lang="en-US" sz="760" dirty="0"/>
          </a:p>
        </p:txBody>
      </p:sp>
      <p:sp>
        <p:nvSpPr>
          <p:cNvPr id="32" name="Text 28"/>
          <p:cNvSpPr/>
          <p:nvPr/>
        </p:nvSpPr>
        <p:spPr>
          <a:xfrm>
            <a:off x="786384" y="5943600"/>
            <a:ext cx="60716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普通平扫 CT 看不清很多血管，所以这里不是“真实血管图”，而是根据高密度结构和常见解剖位置画出的保守避让区。</a:t>
            </a:r>
            <a:endParaRPr lang="en-US" sz="6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6-7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6-7 · 脑干与功能区近似禁区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目的：把高风险结构纳入路径规划约束，但当前是几何近似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10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5440680" cy="2359152"/>
          </a:xfrm>
          <a:prstGeom prst="roundRect">
            <a:avLst>
              <a:gd name="adj" fmla="val 232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brainstem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5330952" cy="19751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474720"/>
            <a:ext cx="5148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脑干近似禁区 overlay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6236208" y="1389888"/>
            <a:ext cx="5212080" cy="2359152"/>
          </a:xfrm>
          <a:prstGeom prst="roundRect">
            <a:avLst>
              <a:gd name="adj" fmla="val 232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eloquent_overla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91072" y="1444752"/>
            <a:ext cx="5102352" cy="19751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82512" y="3474720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功能区近似禁区 overlay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069080"/>
            <a:ext cx="3383280" cy="1490472"/>
          </a:xfrm>
          <a:prstGeom prst="roundRect">
            <a:avLst>
              <a:gd name="adj" fmla="val 3681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270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617720"/>
            <a:ext cx="2944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基于颅腔下部、中线附近位置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结合 HU 约束和最大连通域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用于路径规划避让，不是精确脑干边界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251960" y="4069080"/>
            <a:ext cx="3383280" cy="1490472"/>
          </a:xfrm>
          <a:prstGeom prst="roundRect">
            <a:avLst>
              <a:gd name="adj" fmla="val 3681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80560" y="4270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</a:t>
            </a:r>
            <a:endParaRPr lang="en-US" sz="1120" dirty="0"/>
          </a:p>
        </p:txBody>
      </p:sp>
      <p:sp>
        <p:nvSpPr>
          <p:cNvPr id="19" name="Text 15"/>
          <p:cNvSpPr/>
          <p:nvPr/>
        </p:nvSpPr>
        <p:spPr>
          <a:xfrm>
            <a:off x="4480560" y="4617720"/>
            <a:ext cx="2944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按颅腔归一化坐标画经验区域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覆盖运动、语言、视觉和深部核团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真实功能区需要 MRI/fMRI 或图谱配准</a:t>
            </a:r>
            <a:endParaRPr lang="en-US" sz="880" dirty="0"/>
          </a:p>
        </p:txBody>
      </p:sp>
      <p:sp>
        <p:nvSpPr>
          <p:cNvPr id="20" name="Shape 16"/>
          <p:cNvSpPr/>
          <p:nvPr/>
        </p:nvSpPr>
        <p:spPr>
          <a:xfrm>
            <a:off x="7882128" y="4069080"/>
            <a:ext cx="10972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927848" y="4151376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22" name="Shape 18"/>
          <p:cNvSpPr/>
          <p:nvPr/>
        </p:nvSpPr>
        <p:spPr>
          <a:xfrm>
            <a:off x="8979408" y="4069080"/>
            <a:ext cx="8229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025128" y="415137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</a:t>
            </a:r>
            <a:endParaRPr lang="en-US" sz="730" dirty="0"/>
          </a:p>
        </p:txBody>
      </p:sp>
      <p:sp>
        <p:nvSpPr>
          <p:cNvPr id="24" name="Shape 20"/>
          <p:cNvSpPr/>
          <p:nvPr/>
        </p:nvSpPr>
        <p:spPr>
          <a:xfrm>
            <a:off x="9802368" y="4069080"/>
            <a:ext cx="8229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848088" y="415137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</a:t>
            </a:r>
            <a:endParaRPr lang="en-US" sz="730" dirty="0"/>
          </a:p>
        </p:txBody>
      </p:sp>
      <p:sp>
        <p:nvSpPr>
          <p:cNvPr id="26" name="Shape 22"/>
          <p:cNvSpPr/>
          <p:nvPr/>
        </p:nvSpPr>
        <p:spPr>
          <a:xfrm>
            <a:off x="7882128" y="4407408"/>
            <a:ext cx="10972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927848" y="448970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8" name="Shape 24"/>
          <p:cNvSpPr/>
          <p:nvPr/>
        </p:nvSpPr>
        <p:spPr>
          <a:xfrm>
            <a:off x="8979408" y="4407408"/>
            <a:ext cx="8229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025128" y="448970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20.89</a:t>
            </a:r>
            <a:endParaRPr lang="en-US" sz="720" dirty="0"/>
          </a:p>
        </p:txBody>
      </p:sp>
      <p:sp>
        <p:nvSpPr>
          <p:cNvPr id="30" name="Shape 26"/>
          <p:cNvSpPr/>
          <p:nvPr/>
        </p:nvSpPr>
        <p:spPr>
          <a:xfrm>
            <a:off x="9802368" y="4407408"/>
            <a:ext cx="8229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848088" y="448970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185.52</a:t>
            </a:r>
            <a:endParaRPr lang="en-US" sz="720" dirty="0"/>
          </a:p>
        </p:txBody>
      </p:sp>
      <p:sp>
        <p:nvSpPr>
          <p:cNvPr id="32" name="Shape 28"/>
          <p:cNvSpPr/>
          <p:nvPr/>
        </p:nvSpPr>
        <p:spPr>
          <a:xfrm>
            <a:off x="7882128" y="4736592"/>
            <a:ext cx="10972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927848" y="48188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4" name="Shape 30"/>
          <p:cNvSpPr/>
          <p:nvPr/>
        </p:nvSpPr>
        <p:spPr>
          <a:xfrm>
            <a:off x="8979408" y="4736592"/>
            <a:ext cx="8229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025128" y="48188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36.70</a:t>
            </a:r>
            <a:endParaRPr lang="en-US" sz="720" dirty="0"/>
          </a:p>
        </p:txBody>
      </p:sp>
      <p:sp>
        <p:nvSpPr>
          <p:cNvPr id="36" name="Shape 32"/>
          <p:cNvSpPr/>
          <p:nvPr/>
        </p:nvSpPr>
        <p:spPr>
          <a:xfrm>
            <a:off x="9802368" y="4736592"/>
            <a:ext cx="8229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848088" y="48188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204.56</a:t>
            </a:r>
            <a:endParaRPr lang="en-US" sz="720" dirty="0"/>
          </a:p>
        </p:txBody>
      </p:sp>
      <p:sp>
        <p:nvSpPr>
          <p:cNvPr id="38" name="Text 34"/>
          <p:cNvSpPr/>
          <p:nvPr/>
        </p:nvSpPr>
        <p:spPr>
          <a:xfrm>
            <a:off x="7918704" y="5010912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单位：mL</a:t>
            </a:r>
            <a:endParaRPr lang="en-US" sz="650" dirty="0"/>
          </a:p>
        </p:txBody>
      </p:sp>
      <p:sp>
        <p:nvSpPr>
          <p:cNvPr id="39" name="Shape 35"/>
          <p:cNvSpPr/>
          <p:nvPr/>
        </p:nvSpPr>
        <p:spPr>
          <a:xfrm>
            <a:off x="621792" y="5650992"/>
            <a:ext cx="10835640" cy="475488"/>
          </a:xfrm>
          <a:prstGeom prst="roundRect">
            <a:avLst>
              <a:gd name="adj" fmla="val 11538"/>
            </a:avLst>
          </a:prstGeom>
          <a:solidFill>
            <a:srgbClr val="09182A"/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86384" y="5724144"/>
            <a:ext cx="10506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为什么叫“近似禁区”</a:t>
            </a:r>
            <a:endParaRPr lang="en-US" sz="760" dirty="0"/>
          </a:p>
        </p:txBody>
      </p:sp>
      <p:sp>
        <p:nvSpPr>
          <p:cNvPr id="41" name="Text 37"/>
          <p:cNvSpPr/>
          <p:nvPr/>
        </p:nvSpPr>
        <p:spPr>
          <a:xfrm>
            <a:off x="786384" y="5879592"/>
            <a:ext cx="10506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平扫 CT 对脑干边界和功能区定位能力有限。脚本只是按颅腔位置和经验比例画出需要尽量避开的区域，真实定位需要 MRI、fMRI 或图谱配准。</a:t>
            </a:r>
            <a:endParaRPr lang="en-US" sz="6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8 · 穿刺路径规划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目的：在避开禁区的前提下，从颅骨外表面找到到达血肿的候选直线路径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11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00800" cy="2423160"/>
          </a:xfrm>
          <a:prstGeom prst="roundRect">
            <a:avLst>
              <a:gd name="adj" fmla="val 2264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paths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291072" cy="20391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538728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 overlay：线条为候选路径，黄星为目标点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60920" y="1389888"/>
            <a:ext cx="4005072" cy="4480560"/>
          </a:xfrm>
          <a:prstGeom prst="roundRect">
            <a:avLst>
              <a:gd name="adj" fmla="val 1370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paths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15784" y="1444752"/>
            <a:ext cx="3895344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07224" y="5596128"/>
            <a:ext cx="3712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路径规划 3D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096512"/>
            <a:ext cx="347472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2976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路径评估规则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645152"/>
            <a:ext cx="30358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入颅点来自颅骨外表面采样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目标点沿血肿 PCA 长轴采样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路径主体不得穿过脑室、血管风险、脑干等禁区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315968" y="409651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61688" y="417880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029200" y="4096512"/>
            <a:ext cx="841248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74920" y="4178808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目标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5870448" y="4096512"/>
            <a:ext cx="8686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16168" y="417880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长度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6739128" y="4096512"/>
            <a:ext cx="6858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84848" y="417880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角度</a:t>
            </a:r>
            <a:endParaRPr lang="en-US" sz="730" dirty="0"/>
          </a:p>
        </p:txBody>
      </p:sp>
      <p:sp>
        <p:nvSpPr>
          <p:cNvPr id="25" name="Shape 21"/>
          <p:cNvSpPr/>
          <p:nvPr/>
        </p:nvSpPr>
        <p:spPr>
          <a:xfrm>
            <a:off x="4315968" y="443484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361688" y="451713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Top-1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029200" y="4434840"/>
            <a:ext cx="841248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74920" y="4517136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质心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5870448" y="4434840"/>
            <a:ext cx="8686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916168" y="4517136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50.6 mm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6739128" y="4434840"/>
            <a:ext cx="6858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784848" y="451713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18.1°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4315968" y="476402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361688" y="484632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Top-2</a:t>
            </a:r>
            <a:endParaRPr lang="en-US" sz="720" dirty="0"/>
          </a:p>
        </p:txBody>
      </p:sp>
      <p:sp>
        <p:nvSpPr>
          <p:cNvPr id="35" name="Shape 31"/>
          <p:cNvSpPr/>
          <p:nvPr/>
        </p:nvSpPr>
        <p:spPr>
          <a:xfrm>
            <a:off x="5029200" y="4764024"/>
            <a:ext cx="841248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074920" y="4846320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远端 A</a:t>
            </a:r>
            <a:endParaRPr lang="en-US" sz="720" dirty="0"/>
          </a:p>
        </p:txBody>
      </p:sp>
      <p:sp>
        <p:nvSpPr>
          <p:cNvPr id="37" name="Shape 33"/>
          <p:cNvSpPr/>
          <p:nvPr/>
        </p:nvSpPr>
        <p:spPr>
          <a:xfrm>
            <a:off x="5870448" y="4764024"/>
            <a:ext cx="8686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916168" y="484632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92.4 mm</a:t>
            </a:r>
            <a:endParaRPr lang="en-US" sz="720" dirty="0"/>
          </a:p>
        </p:txBody>
      </p:sp>
      <p:sp>
        <p:nvSpPr>
          <p:cNvPr id="39" name="Shape 35"/>
          <p:cNvSpPr/>
          <p:nvPr/>
        </p:nvSpPr>
        <p:spPr>
          <a:xfrm>
            <a:off x="6739128" y="4764024"/>
            <a:ext cx="6858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784848" y="4846320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75.1°</a:t>
            </a:r>
            <a:endParaRPr lang="en-US" sz="720" dirty="0"/>
          </a:p>
        </p:txBody>
      </p:sp>
      <p:sp>
        <p:nvSpPr>
          <p:cNvPr id="41" name="Text 37"/>
          <p:cNvSpPr/>
          <p:nvPr/>
        </p:nvSpPr>
        <p:spPr>
          <a:xfrm>
            <a:off x="4334256" y="507492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候选入颅点 1500 个，最终合法路径 2 条；另一病例因血肿 mask 为空自动跳过。</a:t>
            </a:r>
            <a:endParaRPr lang="en-US" sz="710" dirty="0"/>
          </a:p>
        </p:txBody>
      </p:sp>
      <p:sp>
        <p:nvSpPr>
          <p:cNvPr id="42" name="Shape 38"/>
          <p:cNvSpPr/>
          <p:nvPr/>
        </p:nvSpPr>
        <p:spPr>
          <a:xfrm>
            <a:off x="621792" y="5623560"/>
            <a:ext cx="6400800" cy="530352"/>
          </a:xfrm>
          <a:prstGeom prst="roundRect">
            <a:avLst>
              <a:gd name="adj" fmla="val 10345"/>
            </a:avLst>
          </a:prstGeom>
          <a:solidFill>
            <a:srgbClr val="09182A"/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86384" y="5696712"/>
            <a:ext cx="6071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筛选方式</a:t>
            </a:r>
            <a:endParaRPr lang="en-US" sz="760" dirty="0"/>
          </a:p>
        </p:txBody>
      </p:sp>
      <p:sp>
        <p:nvSpPr>
          <p:cNvPr id="44" name="Text 40"/>
          <p:cNvSpPr/>
          <p:nvPr/>
        </p:nvSpPr>
        <p:spPr>
          <a:xfrm>
            <a:off x="786384" y="5852160"/>
            <a:ext cx="6071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程序把每个入颅点和目标点连成直线，然后沿线检查：骨头是否太厚、是否二次碰骨、是否穿过脑室/血管风险/脑干/功能区。违反任一规则就丢弃。</a:t>
            </a:r>
            <a:endParaRPr lang="en-US" sz="6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9 · 自然语言方案与 PDF 报告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目的：把分割图、统计结果和路径规划结果整理成可交付材料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12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715000" cy="2240280"/>
          </a:xfrm>
          <a:prstGeom prst="roundRect">
            <a:avLst>
              <a:gd name="adj" fmla="val 2449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paths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1472184"/>
            <a:ext cx="5605272" cy="18562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6384" y="3383280"/>
            <a:ext cx="5422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报告中的路径主页图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6629400" y="1417320"/>
            <a:ext cx="4434840" cy="1280160"/>
          </a:xfrm>
          <a:prstGeom prst="roundRect">
            <a:avLst>
              <a:gd name="adj" fmla="val 4286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16184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自动生成文件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6858000" y="1965960"/>
            <a:ext cx="3995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每个病例生成 plan.txt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每个病例生成 report.pdf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PDF 包含封面、方案、路径图和各分割页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6629400" y="2944368"/>
            <a:ext cx="4434840" cy="1627632"/>
          </a:xfrm>
          <a:prstGeom prst="roundRect">
            <a:avLst>
              <a:gd name="adj" fmla="val 3371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39712" y="316382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推荐路径摘要（病例 0099039449）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6839712" y="352958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入颅点 LPS: (77.57, -143.12, -513.71) mm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目标点 LPS: (33.24, -166.86, -507.71) mm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进针长度: 50.6 mm    入颅角度: 18.1°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640080" y="4041648"/>
            <a:ext cx="5715000" cy="1298448"/>
          </a:xfrm>
          <a:prstGeom prst="roundRect">
            <a:avLst>
              <a:gd name="adj" fmla="val 4225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4242816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报告价值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868680" y="4590288"/>
            <a:ext cx="5276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把零散输出统一到医生/评审容易浏览的格式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保留 JSON 结构化结果，方便后续程序复核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适合作为阶段性汇报和人工检查入口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6629400" y="4773168"/>
            <a:ext cx="123444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0" y="4855464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22" name="Shape 19"/>
          <p:cNvSpPr/>
          <p:nvPr/>
        </p:nvSpPr>
        <p:spPr>
          <a:xfrm>
            <a:off x="7863840" y="4773168"/>
            <a:ext cx="10972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09560" y="4855464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plan.txt</a:t>
            </a:r>
            <a:endParaRPr lang="en-US" sz="730" dirty="0"/>
          </a:p>
        </p:txBody>
      </p:sp>
      <p:sp>
        <p:nvSpPr>
          <p:cNvPr id="24" name="Shape 21"/>
          <p:cNvSpPr/>
          <p:nvPr/>
        </p:nvSpPr>
        <p:spPr>
          <a:xfrm>
            <a:off x="8961120" y="4773168"/>
            <a:ext cx="10972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06840" y="4855464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report.pdf</a:t>
            </a:r>
            <a:endParaRPr lang="en-US" sz="730" dirty="0"/>
          </a:p>
        </p:txBody>
      </p:sp>
      <p:sp>
        <p:nvSpPr>
          <p:cNvPr id="26" name="Shape 23"/>
          <p:cNvSpPr/>
          <p:nvPr/>
        </p:nvSpPr>
        <p:spPr>
          <a:xfrm>
            <a:off x="6629400" y="5111496"/>
            <a:ext cx="123444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75120" y="519379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8" name="Shape 25"/>
          <p:cNvSpPr/>
          <p:nvPr/>
        </p:nvSpPr>
        <p:spPr>
          <a:xfrm>
            <a:off x="7863840" y="5111496"/>
            <a:ext cx="10972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09560" y="51937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8961120" y="5111496"/>
            <a:ext cx="10972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06840" y="51937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6629400" y="5440680"/>
            <a:ext cx="123444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75120" y="552297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7863840" y="5440680"/>
            <a:ext cx="10972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09560" y="552297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6" name="Shape 33"/>
          <p:cNvSpPr/>
          <p:nvPr/>
        </p:nvSpPr>
        <p:spPr>
          <a:xfrm>
            <a:off x="8961120" y="5440680"/>
            <a:ext cx="10972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006840" y="552297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8" name="Shape 35"/>
          <p:cNvSpPr/>
          <p:nvPr/>
        </p:nvSpPr>
        <p:spPr>
          <a:xfrm>
            <a:off x="640080" y="5788152"/>
            <a:ext cx="10424160" cy="411480"/>
          </a:xfrm>
          <a:prstGeom prst="roundRect">
            <a:avLst>
              <a:gd name="adj" fmla="val 13333"/>
            </a:avLst>
          </a:prstGeom>
          <a:solidFill>
            <a:srgbClr val="09182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04672" y="5861304"/>
            <a:ext cx="10094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文件怎么用</a:t>
            </a:r>
            <a:endParaRPr lang="en-US" sz="760" dirty="0"/>
          </a:p>
        </p:txBody>
      </p:sp>
      <p:sp>
        <p:nvSpPr>
          <p:cNvPr id="40" name="Text 37"/>
          <p:cNvSpPr/>
          <p:nvPr/>
        </p:nvSpPr>
        <p:spPr>
          <a:xfrm>
            <a:off x="804672" y="6016752"/>
            <a:ext cx="10094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.nii.gz 给软件继续分析，.png 给人快速看效果，.json 保存体积坐标和路径评分，.txt/.pdf 方便汇报和归档。</a:t>
            </a:r>
            <a:endParaRPr lang="en-US" sz="6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NEXT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局限性与下一步计划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当前系统已经跑通流程，但距离临床可用还需要数据、模型和验证体系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13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F05252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099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医学边界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2075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平扫 CT 无法精确显示血管、功能区和脑干边界；这些模块目前是保守近似。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6236208" y="150876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7099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算法边界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64808" y="2075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血肿依赖 HU 阈值和形态学规则，可能漏检或误检，需要人工复核。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472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规划边界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3813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路径仅评估直线和 mask 碰撞，未纳入骨缝、皮肤肌肉、器械、真实血管变异。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236208" y="324612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34472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工程边界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64808" y="3813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当前为脚本流水线，后续应封装一键运行、日志、质控和可视化交互。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85800" y="5230368"/>
            <a:ext cx="10561320" cy="749808"/>
          </a:xfrm>
          <a:prstGeom prst="roundRect">
            <a:avLst>
              <a:gd name="adj" fmla="val 731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31536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建议推进顺序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14400" y="5779008"/>
            <a:ext cx="1012240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人工复核当前 2 例 overlay 和 3D 图 → 接入更多病例与医生标注 → 用真实 CTA/MRI 或训练模型替换近似模块 → 增加 3D Slicer 复核流程 → 建立 Dice、误检率、路径碰撞率等定量指标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iti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iti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KeTiZu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脑出血 CT 影像分割与穿刺路径规划</dc:title>
  <dc:subject>Brain CT segmentation and puncture path planning pipeline</dc:subject>
  <dc:creator>Songtt CT project</dc:creator>
  <cp:lastModifiedBy>Songtt CT project</cp:lastModifiedBy>
  <cp:revision>1</cp:revision>
  <dcterms:created xsi:type="dcterms:W3CDTF">2026-06-08T02:43:16Z</dcterms:created>
  <dcterms:modified xsi:type="dcterms:W3CDTF">2026-06-08T02:43:16Z</dcterms:modified>
</cp:coreProperties>
</file>