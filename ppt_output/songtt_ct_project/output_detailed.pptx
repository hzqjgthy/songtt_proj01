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PROJECT REPORT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6812280" y="118872"/>
            <a:ext cx="5376672" cy="6739128"/>
          </a:xfrm>
          <a:prstGeom prst="rect">
            <a:avLst/>
          </a:prstGeom>
          <a:solidFill>
            <a:srgbClr val="020916"/>
          </a:solidFill>
          <a:ln w="12700">
            <a:solidFill>
              <a:srgbClr val="020916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86600" y="685800"/>
            <a:ext cx="4681728" cy="5440680"/>
          </a:xfrm>
          <a:prstGeom prst="roundRect">
            <a:avLst>
              <a:gd name="adj" fmla="val 1172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7" name="Image 0" descr="/Users/thy/Desktop/KeTiZu/proj_260608/Songtt_proj01/output_nifti/patient_0099039449/CT_brain_0.80_Hr40_S3_00000262_paths_3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41464" y="740664"/>
            <a:ext cx="4572000" cy="50566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232904" y="5852160"/>
            <a:ext cx="4389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代表病例路径规划 3D 视图</a:t>
            </a:r>
            <a:endParaRPr lang="en-US" sz="730" dirty="0"/>
          </a:p>
        </p:txBody>
      </p:sp>
      <p:sp>
        <p:nvSpPr>
          <p:cNvPr id="9" name="Text 6"/>
          <p:cNvSpPr/>
          <p:nvPr/>
        </p:nvSpPr>
        <p:spPr>
          <a:xfrm>
            <a:off x="594360" y="1024128"/>
            <a:ext cx="5715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脑出血 CT 影像分割与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穿刺路径规划流水线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621792" y="208483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从原始 DICOM 到关键结构分割、风险禁区生成、路径规划与报告输出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2944368"/>
            <a:ext cx="1234440" cy="758952"/>
          </a:xfrm>
          <a:prstGeom prst="roundRect">
            <a:avLst>
              <a:gd name="adj" fmla="val 7229"/>
            </a:avLst>
          </a:prstGeom>
          <a:solidFill>
            <a:srgbClr val="13243A"/>
          </a:solidFill>
          <a:ln w="1270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" y="3063240"/>
            <a:ext cx="9052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04672" y="3364992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病例数</a:t>
            </a:r>
            <a:endParaRPr lang="en-US" sz="780" dirty="0"/>
          </a:p>
        </p:txBody>
      </p:sp>
      <p:sp>
        <p:nvSpPr>
          <p:cNvPr id="14" name="Shape 11"/>
          <p:cNvSpPr/>
          <p:nvPr/>
        </p:nvSpPr>
        <p:spPr>
          <a:xfrm>
            <a:off x="2011680" y="2944368"/>
            <a:ext cx="1234440" cy="758952"/>
          </a:xfrm>
          <a:prstGeom prst="roundRect">
            <a:avLst>
              <a:gd name="adj" fmla="val 7229"/>
            </a:avLst>
          </a:prstGeom>
          <a:solidFill>
            <a:srgbClr val="13243A"/>
          </a:solidFill>
          <a:ln w="12700">
            <a:solidFill>
              <a:srgbClr val="34D399">
                <a:alpha val="65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176272" y="3063240"/>
            <a:ext cx="9052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8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2176272" y="3364992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转换序列</a:t>
            </a:r>
            <a:endParaRPr lang="en-US" sz="780" dirty="0"/>
          </a:p>
        </p:txBody>
      </p:sp>
      <p:sp>
        <p:nvSpPr>
          <p:cNvPr id="17" name="Shape 14"/>
          <p:cNvSpPr/>
          <p:nvPr/>
        </p:nvSpPr>
        <p:spPr>
          <a:xfrm>
            <a:off x="3383280" y="2944368"/>
            <a:ext cx="1508760" cy="758952"/>
          </a:xfrm>
          <a:prstGeom prst="roundRect">
            <a:avLst>
              <a:gd name="adj" fmla="val 7229"/>
            </a:avLst>
          </a:prstGeom>
          <a:solidFill>
            <a:srgbClr val="13243A"/>
          </a:solidFill>
          <a:ln w="12700">
            <a:solidFill>
              <a:srgbClr val="F05252">
                <a:alpha val="65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547872" y="3063240"/>
            <a:ext cx="11795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5252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8.37 mL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3547872" y="3364992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疑似血肿</a:t>
            </a:r>
            <a:endParaRPr lang="en-US" sz="780" dirty="0"/>
          </a:p>
        </p:txBody>
      </p:sp>
      <p:sp>
        <p:nvSpPr>
          <p:cNvPr id="20" name="Text 17"/>
          <p:cNvSpPr/>
          <p:nvPr/>
        </p:nvSpPr>
        <p:spPr>
          <a:xfrm>
            <a:off x="3547872" y="3538728"/>
            <a:ext cx="11795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 个病例检出</a:t>
            </a:r>
            <a:endParaRPr lang="en-US" sz="590" dirty="0"/>
          </a:p>
        </p:txBody>
      </p:sp>
      <p:sp>
        <p:nvSpPr>
          <p:cNvPr id="21" name="Shape 18"/>
          <p:cNvSpPr/>
          <p:nvPr/>
        </p:nvSpPr>
        <p:spPr>
          <a:xfrm>
            <a:off x="5074920" y="2944368"/>
            <a:ext cx="1234440" cy="758952"/>
          </a:xfrm>
          <a:prstGeom prst="roundRect">
            <a:avLst>
              <a:gd name="adj" fmla="val 7229"/>
            </a:avLst>
          </a:prstGeom>
          <a:solidFill>
            <a:srgbClr val="13243A"/>
          </a:solidFill>
          <a:ln w="1270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239512" y="3063240"/>
            <a:ext cx="9052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5239512" y="3364992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合法路径</a:t>
            </a:r>
            <a:endParaRPr lang="en-US" sz="780" dirty="0"/>
          </a:p>
        </p:txBody>
      </p:sp>
      <p:sp>
        <p:nvSpPr>
          <p:cNvPr id="24" name="Shape 21"/>
          <p:cNvSpPr/>
          <p:nvPr/>
        </p:nvSpPr>
        <p:spPr>
          <a:xfrm>
            <a:off x="640080" y="4114800"/>
            <a:ext cx="5623560" cy="1554480"/>
          </a:xfrm>
          <a:prstGeom prst="roundRect">
            <a:avLst>
              <a:gd name="adj" fmla="val 3529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68680" y="4315968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汇报重点</a:t>
            </a:r>
            <a:endParaRPr lang="en-US" sz="1120" dirty="0"/>
          </a:p>
        </p:txBody>
      </p:sp>
      <p:sp>
        <p:nvSpPr>
          <p:cNvPr id="26" name="Text 23"/>
          <p:cNvSpPr/>
          <p:nvPr/>
        </p:nvSpPr>
        <p:spPr>
          <a:xfrm>
            <a:off x="868680" y="4663440"/>
            <a:ext cx="5184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完整跑通 9 步处理流程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产出 NIfTI、mask、overlay、3D 图、路径 JSON 和 PDF 报告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当前方法为规则/几何驱动原型，结果需要人工复核</a:t>
            </a:r>
            <a:endParaRPr lang="en-US" sz="880" dirty="0"/>
          </a:p>
        </p:txBody>
      </p:sp>
      <p:sp>
        <p:nvSpPr>
          <p:cNvPr id="27" name="Text 24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1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OBJECTIVE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项目目标与最终交付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把 CT 原始数据转化为可检查、可汇报、可追踪的结构化结果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2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85800" y="1508760"/>
            <a:ext cx="2423160" cy="2331720"/>
          </a:xfrm>
          <a:prstGeom prst="roundRect">
            <a:avLst>
              <a:gd name="adj" fmla="val 2353"/>
            </a:avLst>
          </a:prstGeom>
          <a:solidFill>
            <a:srgbClr val="13243A"/>
          </a:solidFill>
          <a:ln w="12700">
            <a:solidFill>
              <a:srgbClr val="38BDF8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7373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输入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86968" y="2331720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医院导出的 DICOM 切片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包含图像、空间位置和扫描参数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3474720" y="1508760"/>
            <a:ext cx="2423160" cy="2331720"/>
          </a:xfrm>
          <a:prstGeom prst="roundRect">
            <a:avLst>
              <a:gd name="adj" fmla="val 2353"/>
            </a:avLst>
          </a:prstGeom>
          <a:solidFill>
            <a:srgbClr val="13243A"/>
          </a:solidFill>
          <a:ln w="12700">
            <a:solidFill>
              <a:srgbClr val="34D399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75888" y="17373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分割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75888" y="2331720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标出颅骨、颅腔、脑组织、血肿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以及脑室等结构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6263640" y="1508760"/>
            <a:ext cx="2423160" cy="2331720"/>
          </a:xfrm>
          <a:prstGeom prst="roundRect">
            <a:avLst>
              <a:gd name="adj" fmla="val 2353"/>
            </a:avLst>
          </a:prstGeom>
          <a:solidFill>
            <a:srgbClr val="13243A"/>
          </a:solidFill>
          <a:ln w="12700">
            <a:solidFill>
              <a:srgbClr val="F59E0B">
                <a:alpha val="9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64808" y="17373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规划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64808" y="2331720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在避开风险禁区的前提下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寻找候选穿刺直线路径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9052560" y="1508760"/>
            <a:ext cx="2423160" cy="2331720"/>
          </a:xfrm>
          <a:prstGeom prst="roundRect">
            <a:avLst>
              <a:gd name="adj" fmla="val 2353"/>
            </a:avLst>
          </a:prstGeom>
          <a:solidFill>
            <a:srgbClr val="13243A"/>
          </a:solidFill>
          <a:ln w="12700">
            <a:solidFill>
              <a:srgbClr val="A78BFA">
                <a:alpha val="9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53728" y="17373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报告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253728" y="2331720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输出 PNG、JSON、TXT 和 PDF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便于复核和汇报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685800" y="4297680"/>
            <a:ext cx="5349240" cy="1444752"/>
          </a:xfrm>
          <a:prstGeom prst="roundRect">
            <a:avLst>
              <a:gd name="adj" fmla="val 3797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498848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05252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当前项目定位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914400" y="4846320"/>
            <a:ext cx="49103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不是自动诊断系统，也不能替代医生判断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核心价值是把流程自动化，把中间结果可视化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适合做原型验证、流程演示和后续算法替换的基础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6355080" y="4297680"/>
            <a:ext cx="5120640" cy="1444752"/>
          </a:xfrm>
          <a:prstGeom prst="roundRect">
            <a:avLst>
              <a:gd name="adj" fmla="val 3797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4498848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34D399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本次已跑出的结果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6583680" y="4846320"/>
            <a:ext cx="46817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2 个病例完成转换和全部分割禁区生成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1 个病例检出疑似血肿并完成路径规划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2 个病例均生成自然语言方案和 PDF 报告</a:t>
            </a:r>
            <a:endParaRPr lang="en-US" sz="8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DATA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数据与运行结果概览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本次基于已解压的头颅 CT 数据完成端到端跑通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3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141732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499616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项目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2057400" y="1417320"/>
            <a:ext cx="274320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0" y="1499616"/>
            <a:ext cx="2651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结果</a:t>
            </a:r>
            <a:endParaRPr lang="en-US" sz="730" dirty="0"/>
          </a:p>
        </p:txBody>
      </p:sp>
      <p:sp>
        <p:nvSpPr>
          <p:cNvPr id="12" name="Shape 10"/>
          <p:cNvSpPr/>
          <p:nvPr/>
        </p:nvSpPr>
        <p:spPr>
          <a:xfrm>
            <a:off x="640080" y="1755648"/>
            <a:ext cx="141732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1837944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遍历文件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2057400" y="1755648"/>
            <a:ext cx="274320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03120" y="1837944"/>
            <a:ext cx="2651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1003 个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640080" y="2084832"/>
            <a:ext cx="141732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167128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识别 DICOM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2057400" y="2084832"/>
            <a:ext cx="274320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03120" y="2167128"/>
            <a:ext cx="2651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1001 个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640080" y="2414016"/>
            <a:ext cx="141732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2496312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DICOM series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2057400" y="2414016"/>
            <a:ext cx="274320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03120" y="2496312"/>
            <a:ext cx="2651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11 个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640080" y="2743200"/>
            <a:ext cx="141732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2825496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成功转换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2057400" y="2743200"/>
            <a:ext cx="274320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03120" y="2825496"/>
            <a:ext cx="2651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8 个体数据序列</a:t>
            </a:r>
            <a:endParaRPr lang="en-US" sz="720" dirty="0"/>
          </a:p>
        </p:txBody>
      </p:sp>
      <p:sp>
        <p:nvSpPr>
          <p:cNvPr id="28" name="Shape 26"/>
          <p:cNvSpPr/>
          <p:nvPr/>
        </p:nvSpPr>
        <p:spPr>
          <a:xfrm>
            <a:off x="640080" y="3072384"/>
            <a:ext cx="141732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3154680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跳过序列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2057400" y="3072384"/>
            <a:ext cx="274320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03120" y="3154680"/>
            <a:ext cx="2651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3 个（定位像/患者方案等）</a:t>
            </a:r>
            <a:endParaRPr lang="en-US" sz="720" dirty="0"/>
          </a:p>
        </p:txBody>
      </p:sp>
      <p:sp>
        <p:nvSpPr>
          <p:cNvPr id="32" name="Shape 30"/>
          <p:cNvSpPr/>
          <p:nvPr/>
        </p:nvSpPr>
        <p:spPr>
          <a:xfrm>
            <a:off x="640080" y="3401568"/>
            <a:ext cx="141732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3483864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失败序列</a:t>
            </a:r>
            <a:endParaRPr lang="en-US" sz="720" dirty="0"/>
          </a:p>
        </p:txBody>
      </p:sp>
      <p:sp>
        <p:nvSpPr>
          <p:cNvPr id="34" name="Shape 32"/>
          <p:cNvSpPr/>
          <p:nvPr/>
        </p:nvSpPr>
        <p:spPr>
          <a:xfrm>
            <a:off x="2057400" y="3401568"/>
            <a:ext cx="274320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03120" y="3483864"/>
            <a:ext cx="2651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640080" y="4069080"/>
            <a:ext cx="128016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4151376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病例</a:t>
            </a:r>
            <a:endParaRPr lang="en-US" sz="730" dirty="0"/>
          </a:p>
        </p:txBody>
      </p:sp>
      <p:sp>
        <p:nvSpPr>
          <p:cNvPr id="38" name="Shape 36"/>
          <p:cNvSpPr/>
          <p:nvPr/>
        </p:nvSpPr>
        <p:spPr>
          <a:xfrm>
            <a:off x="1920240" y="4069080"/>
            <a:ext cx="114300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965960" y="4151376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颅腔</a:t>
            </a:r>
            <a:endParaRPr lang="en-US" sz="730" dirty="0"/>
          </a:p>
        </p:txBody>
      </p:sp>
      <p:sp>
        <p:nvSpPr>
          <p:cNvPr id="40" name="Shape 38"/>
          <p:cNvSpPr/>
          <p:nvPr/>
        </p:nvSpPr>
        <p:spPr>
          <a:xfrm>
            <a:off x="3063240" y="4069080"/>
            <a:ext cx="114300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108960" y="4151376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脑组织</a:t>
            </a:r>
            <a:endParaRPr lang="en-US" sz="730" dirty="0"/>
          </a:p>
        </p:txBody>
      </p:sp>
      <p:sp>
        <p:nvSpPr>
          <p:cNvPr id="42" name="Shape 40"/>
          <p:cNvSpPr/>
          <p:nvPr/>
        </p:nvSpPr>
        <p:spPr>
          <a:xfrm>
            <a:off x="4206240" y="4069080"/>
            <a:ext cx="105156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51960" y="4151376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血肿</a:t>
            </a:r>
            <a:endParaRPr lang="en-US" sz="730" dirty="0"/>
          </a:p>
        </p:txBody>
      </p:sp>
      <p:sp>
        <p:nvSpPr>
          <p:cNvPr id="44" name="Shape 42"/>
          <p:cNvSpPr/>
          <p:nvPr/>
        </p:nvSpPr>
        <p:spPr>
          <a:xfrm>
            <a:off x="640080" y="4407408"/>
            <a:ext cx="1280160" cy="347472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" y="448970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0099039449</a:t>
            </a:r>
            <a:endParaRPr lang="en-US" sz="720" dirty="0"/>
          </a:p>
        </p:txBody>
      </p:sp>
      <p:sp>
        <p:nvSpPr>
          <p:cNvPr id="46" name="Shape 44"/>
          <p:cNvSpPr/>
          <p:nvPr/>
        </p:nvSpPr>
        <p:spPr>
          <a:xfrm>
            <a:off x="1920240" y="4407408"/>
            <a:ext cx="1143000" cy="347472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965960" y="4489704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827.24 mL</a:t>
            </a:r>
            <a:endParaRPr lang="en-US" sz="720" dirty="0"/>
          </a:p>
        </p:txBody>
      </p:sp>
      <p:sp>
        <p:nvSpPr>
          <p:cNvPr id="48" name="Shape 46"/>
          <p:cNvSpPr/>
          <p:nvPr/>
        </p:nvSpPr>
        <p:spPr>
          <a:xfrm>
            <a:off x="3063240" y="4407408"/>
            <a:ext cx="1143000" cy="347472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108960" y="4489704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785.40 mL</a:t>
            </a:r>
            <a:endParaRPr lang="en-US" sz="720" dirty="0"/>
          </a:p>
        </p:txBody>
      </p:sp>
      <p:sp>
        <p:nvSpPr>
          <p:cNvPr id="50" name="Shape 48"/>
          <p:cNvSpPr/>
          <p:nvPr/>
        </p:nvSpPr>
        <p:spPr>
          <a:xfrm>
            <a:off x="4206240" y="4407408"/>
            <a:ext cx="1051560" cy="347472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251960" y="4489704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8.37 mL</a:t>
            </a:r>
            <a:endParaRPr lang="en-US" sz="720" dirty="0"/>
          </a:p>
        </p:txBody>
      </p:sp>
      <p:sp>
        <p:nvSpPr>
          <p:cNvPr id="52" name="Shape 50"/>
          <p:cNvSpPr/>
          <p:nvPr/>
        </p:nvSpPr>
        <p:spPr>
          <a:xfrm>
            <a:off x="640080" y="4754880"/>
            <a:ext cx="1280160" cy="347472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5800" y="4837176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0100297683</a:t>
            </a:r>
            <a:endParaRPr lang="en-US" sz="720" dirty="0"/>
          </a:p>
        </p:txBody>
      </p:sp>
      <p:sp>
        <p:nvSpPr>
          <p:cNvPr id="54" name="Shape 52"/>
          <p:cNvSpPr/>
          <p:nvPr/>
        </p:nvSpPr>
        <p:spPr>
          <a:xfrm>
            <a:off x="1920240" y="4754880"/>
            <a:ext cx="1143000" cy="347472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965960" y="4837176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1048.32 mL</a:t>
            </a:r>
            <a:endParaRPr lang="en-US" sz="720" dirty="0"/>
          </a:p>
        </p:txBody>
      </p:sp>
      <p:sp>
        <p:nvSpPr>
          <p:cNvPr id="56" name="Shape 54"/>
          <p:cNvSpPr/>
          <p:nvPr/>
        </p:nvSpPr>
        <p:spPr>
          <a:xfrm>
            <a:off x="3063240" y="4754880"/>
            <a:ext cx="1143000" cy="347472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108960" y="4837176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999.50 mL</a:t>
            </a:r>
            <a:endParaRPr lang="en-US" sz="720" dirty="0"/>
          </a:p>
        </p:txBody>
      </p:sp>
      <p:sp>
        <p:nvSpPr>
          <p:cNvPr id="58" name="Shape 56"/>
          <p:cNvSpPr/>
          <p:nvPr/>
        </p:nvSpPr>
        <p:spPr>
          <a:xfrm>
            <a:off x="4206240" y="4754880"/>
            <a:ext cx="1051560" cy="347472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251960" y="4837176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0.00 mL</a:t>
            </a:r>
            <a:endParaRPr lang="en-US" sz="720" dirty="0"/>
          </a:p>
        </p:txBody>
      </p:sp>
      <p:sp>
        <p:nvSpPr>
          <p:cNvPr id="60" name="Shape 58"/>
          <p:cNvSpPr/>
          <p:nvPr/>
        </p:nvSpPr>
        <p:spPr>
          <a:xfrm>
            <a:off x="5212080" y="1389888"/>
            <a:ext cx="6309360" cy="2148840"/>
          </a:xfrm>
          <a:prstGeom prst="roundRect">
            <a:avLst>
              <a:gd name="adj" fmla="val 2553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61" name="Image 0" descr="/Users/thy/Desktop/KeTiZu/proj_260608/Songtt_proj01/output_nifti/patient_0099039449/CT_brain_0.80_Hr40_S3_00000262_pre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66944" y="1444752"/>
            <a:ext cx="6199632" cy="1764792"/>
          </a:xfrm>
          <a:prstGeom prst="rect">
            <a:avLst/>
          </a:prstGeom>
        </p:spPr>
      </p:pic>
      <p:sp>
        <p:nvSpPr>
          <p:cNvPr id="62" name="Text 59"/>
          <p:cNvSpPr/>
          <p:nvPr/>
        </p:nvSpPr>
        <p:spPr>
          <a:xfrm>
            <a:off x="5358384" y="3264408"/>
            <a:ext cx="60167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病例 0099039449 · 薄层软组织 CT 三视图</a:t>
            </a:r>
            <a:endParaRPr lang="en-US" sz="730" dirty="0"/>
          </a:p>
        </p:txBody>
      </p:sp>
      <p:sp>
        <p:nvSpPr>
          <p:cNvPr id="63" name="Shape 60"/>
          <p:cNvSpPr/>
          <p:nvPr/>
        </p:nvSpPr>
        <p:spPr>
          <a:xfrm>
            <a:off x="5212080" y="3794760"/>
            <a:ext cx="6309360" cy="2148840"/>
          </a:xfrm>
          <a:prstGeom prst="roundRect">
            <a:avLst>
              <a:gd name="adj" fmla="val 2553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64" name="Image 1" descr="/Users/thy/Desktop/KeTiZu/proj_260608/Songtt_proj01/output_nifti/patient_0100297683/CT_brain_0.80_Hr40_S3_00000269_preview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266944" y="3849624"/>
            <a:ext cx="6199632" cy="1764792"/>
          </a:xfrm>
          <a:prstGeom prst="rect">
            <a:avLst/>
          </a:prstGeom>
        </p:spPr>
      </p:pic>
      <p:sp>
        <p:nvSpPr>
          <p:cNvPr id="65" name="Text 61"/>
          <p:cNvSpPr/>
          <p:nvPr/>
        </p:nvSpPr>
        <p:spPr>
          <a:xfrm>
            <a:off x="5358384" y="5669280"/>
            <a:ext cx="60167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病例 0100297683 · 薄层软组织 CT 三视图</a:t>
            </a:r>
            <a:endParaRPr lang="en-US" sz="7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PIPELINE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全流程总览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9 个步骤串起数据读取、分割、风险建模、路径规划和报告输出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4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713232" y="182880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13243A"/>
          </a:solidFill>
          <a:ln w="12700">
            <a:solidFill>
              <a:srgbClr val="38BDF8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99339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50392" y="22860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DICOM 转 NIfTI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2496312" y="2157984"/>
            <a:ext cx="310896" cy="256032"/>
          </a:xfrm>
          <a:prstGeom prst="rightArrow">
            <a:avLst/>
          </a:prstGeom>
          <a:solidFill>
            <a:srgbClr val="34516E"/>
          </a:solidFill>
          <a:ln w="12700">
            <a:solidFill>
              <a:srgbClr val="34516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53512" y="182880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13243A"/>
          </a:solidFill>
          <a:ln w="12700">
            <a:solidFill>
              <a:srgbClr val="34D399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99816" y="199339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090672" y="22860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颅骨分割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4736592" y="2157984"/>
            <a:ext cx="310896" cy="256032"/>
          </a:xfrm>
          <a:prstGeom prst="rightArrow">
            <a:avLst/>
          </a:prstGeom>
          <a:solidFill>
            <a:srgbClr val="34516E"/>
          </a:solidFill>
          <a:ln w="12700">
            <a:solidFill>
              <a:srgbClr val="34516E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93792" y="182880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13243A"/>
          </a:solidFill>
          <a:ln w="12700">
            <a:solidFill>
              <a:srgbClr val="F05252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40096" y="199339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5252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03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330952" y="22860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脑/血肿分割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6976872" y="2157984"/>
            <a:ext cx="310896" cy="256032"/>
          </a:xfrm>
          <a:prstGeom prst="rightArrow">
            <a:avLst/>
          </a:prstGeom>
          <a:solidFill>
            <a:srgbClr val="34516E"/>
          </a:solidFill>
          <a:ln w="12700">
            <a:solidFill>
              <a:srgbClr val="34516E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34072" y="182880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13243A"/>
          </a:solidFill>
          <a:ln w="12700">
            <a:solidFill>
              <a:srgbClr val="38BDF8">
                <a:alpha val="9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0376" y="199339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04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571232" y="22860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脑室分割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9217152" y="2157984"/>
            <a:ext cx="310896" cy="256032"/>
          </a:xfrm>
          <a:prstGeom prst="rightArrow">
            <a:avLst/>
          </a:prstGeom>
          <a:solidFill>
            <a:srgbClr val="34516E"/>
          </a:solidFill>
          <a:ln w="12700">
            <a:solidFill>
              <a:srgbClr val="34516E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74352" y="182880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13243A"/>
          </a:solidFill>
          <a:ln w="12700">
            <a:solidFill>
              <a:srgbClr val="F59E0B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20656" y="199339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05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9811512" y="22860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血管风险禁区</a:t>
            </a:r>
            <a:endParaRPr lang="en-US" sz="830" dirty="0"/>
          </a:p>
        </p:txBody>
      </p:sp>
      <p:sp>
        <p:nvSpPr>
          <p:cNvPr id="27" name="Shape 25"/>
          <p:cNvSpPr/>
          <p:nvPr/>
        </p:nvSpPr>
        <p:spPr>
          <a:xfrm>
            <a:off x="1810512" y="397764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13243A"/>
          </a:solidFill>
          <a:ln w="12700">
            <a:solidFill>
              <a:srgbClr val="F59E0B">
                <a:alpha val="9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56816" y="41422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06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947672" y="443484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脑干近似</a:t>
            </a:r>
            <a:endParaRPr lang="en-US" sz="830" dirty="0"/>
          </a:p>
        </p:txBody>
      </p:sp>
      <p:sp>
        <p:nvSpPr>
          <p:cNvPr id="30" name="Shape 28"/>
          <p:cNvSpPr/>
          <p:nvPr/>
        </p:nvSpPr>
        <p:spPr>
          <a:xfrm>
            <a:off x="3593592" y="4306824"/>
            <a:ext cx="310896" cy="256032"/>
          </a:xfrm>
          <a:prstGeom prst="rightArrow">
            <a:avLst/>
          </a:prstGeom>
          <a:solidFill>
            <a:srgbClr val="34516E"/>
          </a:solidFill>
          <a:ln w="12700">
            <a:solidFill>
              <a:srgbClr val="34516E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50792" y="397764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13243A"/>
          </a:solidFill>
          <a:ln w="12700">
            <a:solidFill>
              <a:srgbClr val="A78BFA">
                <a:alpha val="9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97096" y="41422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78BF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07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187952" y="443484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功能区近似</a:t>
            </a:r>
            <a:endParaRPr lang="en-US" sz="830" dirty="0"/>
          </a:p>
        </p:txBody>
      </p:sp>
      <p:sp>
        <p:nvSpPr>
          <p:cNvPr id="34" name="Shape 32"/>
          <p:cNvSpPr/>
          <p:nvPr/>
        </p:nvSpPr>
        <p:spPr>
          <a:xfrm>
            <a:off x="5833872" y="4306824"/>
            <a:ext cx="310896" cy="256032"/>
          </a:xfrm>
          <a:prstGeom prst="rightArrow">
            <a:avLst/>
          </a:prstGeom>
          <a:solidFill>
            <a:srgbClr val="34516E"/>
          </a:solidFill>
          <a:ln w="12700">
            <a:solidFill>
              <a:srgbClr val="34516E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91072" y="397764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13243A"/>
          </a:solidFill>
          <a:ln w="12700">
            <a:solidFill>
              <a:srgbClr val="34D399">
                <a:alpha val="9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37376" y="41422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08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428232" y="443484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路径规划</a:t>
            </a:r>
            <a:endParaRPr lang="en-US" sz="830" dirty="0"/>
          </a:p>
        </p:txBody>
      </p:sp>
      <p:sp>
        <p:nvSpPr>
          <p:cNvPr id="38" name="Shape 36"/>
          <p:cNvSpPr/>
          <p:nvPr/>
        </p:nvSpPr>
        <p:spPr>
          <a:xfrm>
            <a:off x="8074152" y="4306824"/>
            <a:ext cx="310896" cy="256032"/>
          </a:xfrm>
          <a:prstGeom prst="rightArrow">
            <a:avLst/>
          </a:prstGeom>
          <a:solidFill>
            <a:srgbClr val="34516E"/>
          </a:solidFill>
          <a:ln w="12700">
            <a:solidFill>
              <a:srgbClr val="34516E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531352" y="397764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13243A"/>
          </a:solidFill>
          <a:ln w="12700">
            <a:solidFill>
              <a:srgbClr val="38BDF8">
                <a:alpha val="9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77656" y="41422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09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8668512" y="443484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报告生成</a:t>
            </a:r>
            <a:endParaRPr lang="en-US" sz="830" dirty="0"/>
          </a:p>
        </p:txBody>
      </p:sp>
      <p:sp>
        <p:nvSpPr>
          <p:cNvPr id="42" name="Shape 40"/>
          <p:cNvSpPr/>
          <p:nvPr/>
        </p:nvSpPr>
        <p:spPr>
          <a:xfrm>
            <a:off x="731520" y="5349240"/>
            <a:ext cx="10744200" cy="777240"/>
          </a:xfrm>
          <a:prstGeom prst="roundRect">
            <a:avLst>
              <a:gd name="adj" fmla="val 7059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" y="5550408"/>
            <a:ext cx="10287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汇报时的一句话解释</a:t>
            </a:r>
            <a:endParaRPr lang="en-US" sz="1120" dirty="0"/>
          </a:p>
        </p:txBody>
      </p:sp>
      <p:sp>
        <p:nvSpPr>
          <p:cNvPr id="44" name="Text 42"/>
          <p:cNvSpPr/>
          <p:nvPr/>
        </p:nvSpPr>
        <p:spPr>
          <a:xfrm>
            <a:off x="960120" y="5897880"/>
            <a:ext cx="103052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先把 CT 切片拼成三维体数据，再逐层生成可避让的结构 mask，最后在这些约束下寻找候选穿刺路径。</a:t>
            </a:r>
            <a:endParaRPr lang="en-US" sz="8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STEP 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步骤 1 · DICOM 转 NIfTI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目的：把医院导出的原始 CT 切片整理成后续算法可处理的三维体数据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5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21792" y="1417320"/>
            <a:ext cx="3977640" cy="1828800"/>
          </a:xfrm>
          <a:prstGeom prst="roundRect">
            <a:avLst>
              <a:gd name="adj" fmla="val 3000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61848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做了什么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850392" y="1965960"/>
            <a:ext cx="35387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递归扫描原始 DICOM 目录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按 SeriesInstanceUID 自动分组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跳过定位像、剂量报告、切片数过少的序列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写出 .nii.gz 三维影像和三视图预览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621792" y="3703320"/>
            <a:ext cx="132588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3785616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指标</a:t>
            </a:r>
            <a:endParaRPr lang="en-US" sz="730" dirty="0"/>
          </a:p>
        </p:txBody>
      </p:sp>
      <p:sp>
        <p:nvSpPr>
          <p:cNvPr id="13" name="Shape 11"/>
          <p:cNvSpPr/>
          <p:nvPr/>
        </p:nvSpPr>
        <p:spPr>
          <a:xfrm>
            <a:off x="1947672" y="3703320"/>
            <a:ext cx="210312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93392" y="3785616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结果</a:t>
            </a:r>
            <a:endParaRPr lang="en-US" sz="730" dirty="0"/>
          </a:p>
        </p:txBody>
      </p:sp>
      <p:sp>
        <p:nvSpPr>
          <p:cNvPr id="15" name="Shape 13"/>
          <p:cNvSpPr/>
          <p:nvPr/>
        </p:nvSpPr>
        <p:spPr>
          <a:xfrm>
            <a:off x="621792" y="4041648"/>
            <a:ext cx="1325880" cy="310896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" y="4123944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识别 DICOM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1947672" y="4041648"/>
            <a:ext cx="2103120" cy="310896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93392" y="4123944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1001 个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621792" y="4352544"/>
            <a:ext cx="1325880" cy="310896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" y="4434840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获得 series</a:t>
            </a:r>
            <a:endParaRPr lang="en-US" sz="720" dirty="0"/>
          </a:p>
        </p:txBody>
      </p:sp>
      <p:sp>
        <p:nvSpPr>
          <p:cNvPr id="21" name="Shape 19"/>
          <p:cNvSpPr/>
          <p:nvPr/>
        </p:nvSpPr>
        <p:spPr>
          <a:xfrm>
            <a:off x="1947672" y="4352544"/>
            <a:ext cx="2103120" cy="310896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93392" y="4434840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11 个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621792" y="4663440"/>
            <a:ext cx="1325880" cy="310896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" y="4745736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转换成功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1947672" y="4663440"/>
            <a:ext cx="2103120" cy="310896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93392" y="4745736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8 个</a:t>
            </a:r>
            <a:endParaRPr lang="en-US" sz="720" dirty="0"/>
          </a:p>
        </p:txBody>
      </p:sp>
      <p:sp>
        <p:nvSpPr>
          <p:cNvPr id="27" name="Shape 25"/>
          <p:cNvSpPr/>
          <p:nvPr/>
        </p:nvSpPr>
        <p:spPr>
          <a:xfrm>
            <a:off x="621792" y="4974336"/>
            <a:ext cx="1325880" cy="310896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" y="5056632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失败</a:t>
            </a:r>
            <a:endParaRPr lang="en-US" sz="720" dirty="0"/>
          </a:p>
        </p:txBody>
      </p:sp>
      <p:sp>
        <p:nvSpPr>
          <p:cNvPr id="29" name="Shape 27"/>
          <p:cNvSpPr/>
          <p:nvPr/>
        </p:nvSpPr>
        <p:spPr>
          <a:xfrm>
            <a:off x="1947672" y="4974336"/>
            <a:ext cx="2103120" cy="310896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93392" y="5056632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 个</a:t>
            </a:r>
            <a:endParaRPr lang="en-US" sz="720" dirty="0"/>
          </a:p>
        </p:txBody>
      </p:sp>
      <p:sp>
        <p:nvSpPr>
          <p:cNvPr id="31" name="Shape 29"/>
          <p:cNvSpPr/>
          <p:nvPr/>
        </p:nvSpPr>
        <p:spPr>
          <a:xfrm>
            <a:off x="621792" y="5285232"/>
            <a:ext cx="1325880" cy="310896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512" y="5367528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主用序列</a:t>
            </a:r>
            <a:endParaRPr lang="en-US" sz="720" dirty="0"/>
          </a:p>
        </p:txBody>
      </p:sp>
      <p:sp>
        <p:nvSpPr>
          <p:cNvPr id="33" name="Shape 31"/>
          <p:cNvSpPr/>
          <p:nvPr/>
        </p:nvSpPr>
        <p:spPr>
          <a:xfrm>
            <a:off x="1947672" y="5285232"/>
            <a:ext cx="2103120" cy="310896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93392" y="5367528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0.80mm Hr40 / Hr60</a:t>
            </a:r>
            <a:endParaRPr lang="en-US" sz="720" dirty="0"/>
          </a:p>
        </p:txBody>
      </p:sp>
      <p:sp>
        <p:nvSpPr>
          <p:cNvPr id="35" name="Shape 33"/>
          <p:cNvSpPr/>
          <p:nvPr/>
        </p:nvSpPr>
        <p:spPr>
          <a:xfrm>
            <a:off x="4919472" y="1417320"/>
            <a:ext cx="6537960" cy="4480560"/>
          </a:xfrm>
          <a:prstGeom prst="roundRect">
            <a:avLst>
              <a:gd name="adj" fmla="val 1224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36" name="Image 0" descr="/Users/thy/Desktop/KeTiZu/proj_260608/Songtt_proj01/output_nifti/patient_0099039449/CT_brain_0.80_Hr40_S3_00000262_pre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74336" y="1472184"/>
            <a:ext cx="6428232" cy="4096512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5065776" y="5623560"/>
            <a:ext cx="6245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转换后生成的 NIfTI 三视图预览</a:t>
            </a:r>
            <a:endParaRPr lang="en-US" sz="7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STEP 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步骤 2 · 颅骨分割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目的：先找到头骨外壳，为颅腔提取和入颅点采样打基础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6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21792" y="1417320"/>
            <a:ext cx="6400800" cy="2331720"/>
          </a:xfrm>
          <a:prstGeom prst="roundRect">
            <a:avLst>
              <a:gd name="adj" fmla="val 2353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9" name="Image 0" descr="/Users/thy/Desktop/KeTiZu/proj_260608/Songtt_proj01/output_nifti/patient_0099039449/CT_brain_0.80_Hr60_S3_00000263_skull_overla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" y="1472184"/>
            <a:ext cx="6291072" cy="19476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8096" y="3474720"/>
            <a:ext cx="61081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颅骨 overlay：白/红色区域为骨结构</a:t>
            </a:r>
            <a:endParaRPr lang="en-US" sz="730" dirty="0"/>
          </a:p>
        </p:txBody>
      </p:sp>
      <p:sp>
        <p:nvSpPr>
          <p:cNvPr id="11" name="Shape 8"/>
          <p:cNvSpPr/>
          <p:nvPr/>
        </p:nvSpPr>
        <p:spPr>
          <a:xfrm>
            <a:off x="7315200" y="1417320"/>
            <a:ext cx="4069080" cy="4526280"/>
          </a:xfrm>
          <a:prstGeom prst="roundRect">
            <a:avLst>
              <a:gd name="adj" fmla="val 1348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12" name="Image 1" descr="/Users/thy/Desktop/KeTiZu/proj_260608/Songtt_proj01/output_nifti/patient_0099039449/CT_brain_0.80_Hr60_S3_00000263_skull_3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370064" y="1472184"/>
            <a:ext cx="3959352" cy="41422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61504" y="5669280"/>
            <a:ext cx="3776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颅骨 3D 表面渲染</a:t>
            </a:r>
            <a:endParaRPr lang="en-US" sz="730" dirty="0"/>
          </a:p>
        </p:txBody>
      </p:sp>
      <p:sp>
        <p:nvSpPr>
          <p:cNvPr id="14" name="Shape 10"/>
          <p:cNvSpPr/>
          <p:nvPr/>
        </p:nvSpPr>
        <p:spPr>
          <a:xfrm>
            <a:off x="621792" y="3977640"/>
            <a:ext cx="2971800" cy="1325880"/>
          </a:xfrm>
          <a:prstGeom prst="roundRect">
            <a:avLst>
              <a:gd name="adj" fmla="val 4138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50392" y="417880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34D399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方法</a:t>
            </a:r>
            <a:endParaRPr lang="en-US" sz="1120" dirty="0"/>
          </a:p>
        </p:txBody>
      </p:sp>
      <p:sp>
        <p:nvSpPr>
          <p:cNvPr id="16" name="Text 12"/>
          <p:cNvSpPr/>
          <p:nvPr/>
        </p:nvSpPr>
        <p:spPr>
          <a:xfrm>
            <a:off x="850392" y="4526280"/>
            <a:ext cx="2532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骨 HU 阈值筛选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开闭运算清理噪声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3D 最大连通域保留主颅骨</a:t>
            </a:r>
            <a:endParaRPr lang="en-US" sz="880" dirty="0"/>
          </a:p>
        </p:txBody>
      </p:sp>
      <p:sp>
        <p:nvSpPr>
          <p:cNvPr id="17" name="Shape 13"/>
          <p:cNvSpPr/>
          <p:nvPr/>
        </p:nvSpPr>
        <p:spPr>
          <a:xfrm>
            <a:off x="3794760" y="3977640"/>
            <a:ext cx="128016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840480" y="4059936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病例</a:t>
            </a:r>
            <a:endParaRPr lang="en-US" sz="730" dirty="0"/>
          </a:p>
        </p:txBody>
      </p:sp>
      <p:sp>
        <p:nvSpPr>
          <p:cNvPr id="19" name="Shape 15"/>
          <p:cNvSpPr/>
          <p:nvPr/>
        </p:nvSpPr>
        <p:spPr>
          <a:xfrm>
            <a:off x="5074920" y="3977640"/>
            <a:ext cx="118872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120640" y="4059936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颅骨体积</a:t>
            </a:r>
            <a:endParaRPr lang="en-US" sz="730" dirty="0"/>
          </a:p>
        </p:txBody>
      </p:sp>
      <p:sp>
        <p:nvSpPr>
          <p:cNvPr id="21" name="Shape 17"/>
          <p:cNvSpPr/>
          <p:nvPr/>
        </p:nvSpPr>
        <p:spPr>
          <a:xfrm>
            <a:off x="3794760" y="4315968"/>
            <a:ext cx="128016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840480" y="4398264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0099039449</a:t>
            </a:r>
            <a:endParaRPr lang="en-US" sz="720" dirty="0"/>
          </a:p>
        </p:txBody>
      </p:sp>
      <p:sp>
        <p:nvSpPr>
          <p:cNvPr id="23" name="Shape 19"/>
          <p:cNvSpPr/>
          <p:nvPr/>
        </p:nvSpPr>
        <p:spPr>
          <a:xfrm>
            <a:off x="5074920" y="4315968"/>
            <a:ext cx="118872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120640" y="4398264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402.10 cm³</a:t>
            </a:r>
            <a:endParaRPr lang="en-US" sz="720" dirty="0"/>
          </a:p>
        </p:txBody>
      </p:sp>
      <p:sp>
        <p:nvSpPr>
          <p:cNvPr id="25" name="Shape 21"/>
          <p:cNvSpPr/>
          <p:nvPr/>
        </p:nvSpPr>
        <p:spPr>
          <a:xfrm>
            <a:off x="3794760" y="4645152"/>
            <a:ext cx="128016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840480" y="4727448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0100297683</a:t>
            </a:r>
            <a:endParaRPr lang="en-US" sz="720" dirty="0"/>
          </a:p>
        </p:txBody>
      </p:sp>
      <p:sp>
        <p:nvSpPr>
          <p:cNvPr id="27" name="Shape 23"/>
          <p:cNvSpPr/>
          <p:nvPr/>
        </p:nvSpPr>
        <p:spPr>
          <a:xfrm>
            <a:off x="5074920" y="4645152"/>
            <a:ext cx="118872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120640" y="472744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484.34 cm³</a:t>
            </a:r>
            <a:endParaRPr lang="en-US" sz="7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STEP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步骤 3 · 颅腔、脑组织、血肿粗分割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目的：定位脑内空间，并筛出疑似出血区域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7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21792" y="1389888"/>
            <a:ext cx="6492240" cy="2487168"/>
          </a:xfrm>
          <a:prstGeom prst="roundRect">
            <a:avLst>
              <a:gd name="adj" fmla="val 2206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9" name="Image 0" descr="/Users/thy/Desktop/KeTiZu/proj_260608/Songtt_proj01/output_nifti/patient_0099039449/CT_brain_0.80_Hr40_S3_00000262_brain_overla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" y="1444752"/>
            <a:ext cx="6382512" cy="21031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8096" y="3602736"/>
            <a:ext cx="61996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脑/血肿 overlay：红色为疑似血肿</a:t>
            </a:r>
            <a:endParaRPr lang="en-US" sz="730" dirty="0"/>
          </a:p>
        </p:txBody>
      </p:sp>
      <p:sp>
        <p:nvSpPr>
          <p:cNvPr id="11" name="Shape 8"/>
          <p:cNvSpPr/>
          <p:nvPr/>
        </p:nvSpPr>
        <p:spPr>
          <a:xfrm>
            <a:off x="7388352" y="1389888"/>
            <a:ext cx="3977640" cy="4480560"/>
          </a:xfrm>
          <a:prstGeom prst="roundRect">
            <a:avLst>
              <a:gd name="adj" fmla="val 1379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12" name="Image 1" descr="/Users/thy/Desktop/KeTiZu/proj_260608/Songtt_proj01/output_nifti/patient_0099039449/CT_brain_0.80_Hr40_S3_00000262_brain_3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443216" y="1444752"/>
            <a:ext cx="3867912" cy="40965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34656" y="5596128"/>
            <a:ext cx="3685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颅骨半透明 + 血肿 3D</a:t>
            </a:r>
            <a:endParaRPr lang="en-US" sz="730" dirty="0"/>
          </a:p>
        </p:txBody>
      </p:sp>
      <p:sp>
        <p:nvSpPr>
          <p:cNvPr id="14" name="Shape 10"/>
          <p:cNvSpPr/>
          <p:nvPr/>
        </p:nvSpPr>
        <p:spPr>
          <a:xfrm>
            <a:off x="621792" y="4187952"/>
            <a:ext cx="3429000" cy="1508760"/>
          </a:xfrm>
          <a:prstGeom prst="roundRect">
            <a:avLst>
              <a:gd name="adj" fmla="val 3636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50392" y="4389120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05252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处理逻辑</a:t>
            </a:r>
            <a:endParaRPr lang="en-US" sz="1120" dirty="0"/>
          </a:p>
        </p:txBody>
      </p:sp>
      <p:sp>
        <p:nvSpPr>
          <p:cNvPr id="16" name="Text 12"/>
          <p:cNvSpPr/>
          <p:nvPr/>
        </p:nvSpPr>
        <p:spPr>
          <a:xfrm>
            <a:off x="850392" y="4736592"/>
            <a:ext cx="2990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由颅骨填洞得到颅腔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HU 0-80 提取脑组织区域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HU 45-80 + 几何过滤筛血肿</a:t>
            </a:r>
            <a:endParaRPr lang="en-US" sz="880" dirty="0"/>
          </a:p>
        </p:txBody>
      </p:sp>
      <p:sp>
        <p:nvSpPr>
          <p:cNvPr id="17" name="Shape 13"/>
          <p:cNvSpPr/>
          <p:nvPr/>
        </p:nvSpPr>
        <p:spPr>
          <a:xfrm>
            <a:off x="4297680" y="4187952"/>
            <a:ext cx="105156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343400" y="4270248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病例</a:t>
            </a:r>
            <a:endParaRPr lang="en-US" sz="730" dirty="0"/>
          </a:p>
        </p:txBody>
      </p:sp>
      <p:sp>
        <p:nvSpPr>
          <p:cNvPr id="19" name="Shape 15"/>
          <p:cNvSpPr/>
          <p:nvPr/>
        </p:nvSpPr>
        <p:spPr>
          <a:xfrm>
            <a:off x="5349240" y="4187952"/>
            <a:ext cx="713232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394960" y="4270248"/>
            <a:ext cx="621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颅腔</a:t>
            </a:r>
            <a:endParaRPr lang="en-US" sz="730" dirty="0"/>
          </a:p>
        </p:txBody>
      </p:sp>
      <p:sp>
        <p:nvSpPr>
          <p:cNvPr id="21" name="Shape 17"/>
          <p:cNvSpPr/>
          <p:nvPr/>
        </p:nvSpPr>
        <p:spPr>
          <a:xfrm>
            <a:off x="6062472" y="4187952"/>
            <a:ext cx="713232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108192" y="4270248"/>
            <a:ext cx="621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脑组织</a:t>
            </a:r>
            <a:endParaRPr lang="en-US" sz="730" dirty="0"/>
          </a:p>
        </p:txBody>
      </p:sp>
      <p:sp>
        <p:nvSpPr>
          <p:cNvPr id="23" name="Shape 19"/>
          <p:cNvSpPr/>
          <p:nvPr/>
        </p:nvSpPr>
        <p:spPr>
          <a:xfrm>
            <a:off x="6775704" y="4187952"/>
            <a:ext cx="713232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821424" y="4270248"/>
            <a:ext cx="621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血肿</a:t>
            </a:r>
            <a:endParaRPr lang="en-US" sz="730" dirty="0"/>
          </a:p>
        </p:txBody>
      </p:sp>
      <p:sp>
        <p:nvSpPr>
          <p:cNvPr id="25" name="Shape 21"/>
          <p:cNvSpPr/>
          <p:nvPr/>
        </p:nvSpPr>
        <p:spPr>
          <a:xfrm>
            <a:off x="4297680" y="4526280"/>
            <a:ext cx="105156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343400" y="4608576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0099039449</a:t>
            </a:r>
            <a:endParaRPr lang="en-US" sz="720" dirty="0"/>
          </a:p>
        </p:txBody>
      </p:sp>
      <p:sp>
        <p:nvSpPr>
          <p:cNvPr id="27" name="Shape 23"/>
          <p:cNvSpPr/>
          <p:nvPr/>
        </p:nvSpPr>
        <p:spPr>
          <a:xfrm>
            <a:off x="5349240" y="4526280"/>
            <a:ext cx="713232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394960" y="4608576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827.24</a:t>
            </a:r>
            <a:endParaRPr lang="en-US" sz="720" dirty="0"/>
          </a:p>
        </p:txBody>
      </p:sp>
      <p:sp>
        <p:nvSpPr>
          <p:cNvPr id="29" name="Shape 25"/>
          <p:cNvSpPr/>
          <p:nvPr/>
        </p:nvSpPr>
        <p:spPr>
          <a:xfrm>
            <a:off x="6062472" y="4526280"/>
            <a:ext cx="713232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108192" y="4608576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785.40</a:t>
            </a:r>
            <a:endParaRPr lang="en-US" sz="720" dirty="0"/>
          </a:p>
        </p:txBody>
      </p:sp>
      <p:sp>
        <p:nvSpPr>
          <p:cNvPr id="31" name="Shape 27"/>
          <p:cNvSpPr/>
          <p:nvPr/>
        </p:nvSpPr>
        <p:spPr>
          <a:xfrm>
            <a:off x="6775704" y="4526280"/>
            <a:ext cx="713232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6821424" y="4608576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8.37</a:t>
            </a:r>
            <a:endParaRPr lang="en-US" sz="720" dirty="0"/>
          </a:p>
        </p:txBody>
      </p:sp>
      <p:sp>
        <p:nvSpPr>
          <p:cNvPr id="33" name="Shape 29"/>
          <p:cNvSpPr/>
          <p:nvPr/>
        </p:nvSpPr>
        <p:spPr>
          <a:xfrm>
            <a:off x="4297680" y="4855464"/>
            <a:ext cx="105156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343400" y="4937760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0100297683</a:t>
            </a:r>
            <a:endParaRPr lang="en-US" sz="720" dirty="0"/>
          </a:p>
        </p:txBody>
      </p:sp>
      <p:sp>
        <p:nvSpPr>
          <p:cNvPr id="35" name="Shape 31"/>
          <p:cNvSpPr/>
          <p:nvPr/>
        </p:nvSpPr>
        <p:spPr>
          <a:xfrm>
            <a:off x="5349240" y="4855464"/>
            <a:ext cx="713232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5394960" y="4937760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1048.32</a:t>
            </a:r>
            <a:endParaRPr lang="en-US" sz="720" dirty="0"/>
          </a:p>
        </p:txBody>
      </p:sp>
      <p:sp>
        <p:nvSpPr>
          <p:cNvPr id="37" name="Shape 33"/>
          <p:cNvSpPr/>
          <p:nvPr/>
        </p:nvSpPr>
        <p:spPr>
          <a:xfrm>
            <a:off x="6062472" y="4855464"/>
            <a:ext cx="713232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6108192" y="4937760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999.50</a:t>
            </a:r>
            <a:endParaRPr lang="en-US" sz="720" dirty="0"/>
          </a:p>
        </p:txBody>
      </p:sp>
      <p:sp>
        <p:nvSpPr>
          <p:cNvPr id="39" name="Shape 35"/>
          <p:cNvSpPr/>
          <p:nvPr/>
        </p:nvSpPr>
        <p:spPr>
          <a:xfrm>
            <a:off x="6775704" y="4855464"/>
            <a:ext cx="713232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6821424" y="4937760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0.00</a:t>
            </a:r>
            <a:endParaRPr lang="en-US" sz="720" dirty="0"/>
          </a:p>
        </p:txBody>
      </p:sp>
      <p:sp>
        <p:nvSpPr>
          <p:cNvPr id="41" name="Text 37"/>
          <p:cNvSpPr/>
          <p:nvPr/>
        </p:nvSpPr>
        <p:spPr>
          <a:xfrm>
            <a:off x="4315968" y="539496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单位：mL；血肿为粗分割结果，需要人工复核。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STEP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步骤 4 · 脑室分割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目的：找出脑室区域，作为路径规划时需要避开的结构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8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21792" y="1389888"/>
            <a:ext cx="6400800" cy="2487168"/>
          </a:xfrm>
          <a:prstGeom prst="roundRect">
            <a:avLst>
              <a:gd name="adj" fmla="val 2206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9" name="Image 0" descr="/Users/thy/Desktop/KeTiZu/proj_260608/Songtt_proj01/output_nifti/patient_0099039449/CT_brain_0.80_Hr40_S3_00000262_ventricle_overla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" y="1444752"/>
            <a:ext cx="6291072" cy="21031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8096" y="3602736"/>
            <a:ext cx="61081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青色区域为脑室候选</a:t>
            </a:r>
            <a:endParaRPr lang="en-US" sz="730" dirty="0"/>
          </a:p>
        </p:txBody>
      </p:sp>
      <p:sp>
        <p:nvSpPr>
          <p:cNvPr id="11" name="Shape 8"/>
          <p:cNvSpPr/>
          <p:nvPr/>
        </p:nvSpPr>
        <p:spPr>
          <a:xfrm>
            <a:off x="7333488" y="1389888"/>
            <a:ext cx="4041648" cy="4480560"/>
          </a:xfrm>
          <a:prstGeom prst="roundRect">
            <a:avLst>
              <a:gd name="adj" fmla="val 1357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12" name="Image 1" descr="/Users/thy/Desktop/KeTiZu/proj_260608/Songtt_proj01/output_nifti/patient_0099039449/CT_brain_0.80_Hr40_S3_00000262_ventricle_3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388352" y="1444752"/>
            <a:ext cx="3931920" cy="40965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79792" y="5596128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颅骨 + 脑室 + 血肿 3D</a:t>
            </a:r>
            <a:endParaRPr lang="en-US" sz="730" dirty="0"/>
          </a:p>
        </p:txBody>
      </p:sp>
      <p:sp>
        <p:nvSpPr>
          <p:cNvPr id="14" name="Shape 10"/>
          <p:cNvSpPr/>
          <p:nvPr/>
        </p:nvSpPr>
        <p:spPr>
          <a:xfrm>
            <a:off x="621792" y="4206240"/>
            <a:ext cx="3566160" cy="1444752"/>
          </a:xfrm>
          <a:prstGeom prst="roundRect">
            <a:avLst>
              <a:gd name="adj" fmla="val 3797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50392" y="440740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方法</a:t>
            </a:r>
            <a:endParaRPr lang="en-US" sz="1120" dirty="0"/>
          </a:p>
        </p:txBody>
      </p:sp>
      <p:sp>
        <p:nvSpPr>
          <p:cNvPr id="16" name="Text 12"/>
          <p:cNvSpPr/>
          <p:nvPr/>
        </p:nvSpPr>
        <p:spPr>
          <a:xfrm>
            <a:off x="850392" y="4754880"/>
            <a:ext cx="31272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颅腔内筛选 CSF HU 范围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剔除贴近颅骨的脑沟/蛛网膜下腔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保留较大的连通域作为脑室</a:t>
            </a:r>
            <a:endParaRPr lang="en-US" sz="880" dirty="0"/>
          </a:p>
        </p:txBody>
      </p:sp>
      <p:sp>
        <p:nvSpPr>
          <p:cNvPr id="17" name="Shape 13"/>
          <p:cNvSpPr/>
          <p:nvPr/>
        </p:nvSpPr>
        <p:spPr>
          <a:xfrm>
            <a:off x="4462272" y="4206240"/>
            <a:ext cx="114300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507992" y="4288536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病例</a:t>
            </a:r>
            <a:endParaRPr lang="en-US" sz="730" dirty="0"/>
          </a:p>
        </p:txBody>
      </p:sp>
      <p:sp>
        <p:nvSpPr>
          <p:cNvPr id="19" name="Shape 15"/>
          <p:cNvSpPr/>
          <p:nvPr/>
        </p:nvSpPr>
        <p:spPr>
          <a:xfrm>
            <a:off x="5605272" y="4206240"/>
            <a:ext cx="114300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650992" y="4288536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脑室体积</a:t>
            </a:r>
            <a:endParaRPr lang="en-US" sz="730" dirty="0"/>
          </a:p>
        </p:txBody>
      </p:sp>
      <p:sp>
        <p:nvSpPr>
          <p:cNvPr id="21" name="Shape 17"/>
          <p:cNvSpPr/>
          <p:nvPr/>
        </p:nvSpPr>
        <p:spPr>
          <a:xfrm>
            <a:off x="6748272" y="4206240"/>
            <a:ext cx="73152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793992" y="4288536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连通域</a:t>
            </a:r>
            <a:endParaRPr lang="en-US" sz="730" dirty="0"/>
          </a:p>
        </p:txBody>
      </p:sp>
      <p:sp>
        <p:nvSpPr>
          <p:cNvPr id="23" name="Shape 19"/>
          <p:cNvSpPr/>
          <p:nvPr/>
        </p:nvSpPr>
        <p:spPr>
          <a:xfrm>
            <a:off x="4462272" y="4544568"/>
            <a:ext cx="114300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507992" y="4626864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0099039449</a:t>
            </a:r>
            <a:endParaRPr lang="en-US" sz="720" dirty="0"/>
          </a:p>
        </p:txBody>
      </p:sp>
      <p:sp>
        <p:nvSpPr>
          <p:cNvPr id="25" name="Shape 21"/>
          <p:cNvSpPr/>
          <p:nvPr/>
        </p:nvSpPr>
        <p:spPr>
          <a:xfrm>
            <a:off x="5605272" y="4544568"/>
            <a:ext cx="114300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650992" y="4626864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19.09 mL</a:t>
            </a:r>
            <a:endParaRPr lang="en-US" sz="720" dirty="0"/>
          </a:p>
        </p:txBody>
      </p:sp>
      <p:sp>
        <p:nvSpPr>
          <p:cNvPr id="27" name="Shape 23"/>
          <p:cNvSpPr/>
          <p:nvPr/>
        </p:nvSpPr>
        <p:spPr>
          <a:xfrm>
            <a:off x="6748272" y="4544568"/>
            <a:ext cx="73152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793992" y="4626864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5</a:t>
            </a:r>
            <a:endParaRPr lang="en-US" sz="720" dirty="0"/>
          </a:p>
        </p:txBody>
      </p:sp>
      <p:sp>
        <p:nvSpPr>
          <p:cNvPr id="29" name="Shape 25"/>
          <p:cNvSpPr/>
          <p:nvPr/>
        </p:nvSpPr>
        <p:spPr>
          <a:xfrm>
            <a:off x="4462272" y="4873752"/>
            <a:ext cx="114300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507992" y="4956048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0100297683</a:t>
            </a:r>
            <a:endParaRPr lang="en-US" sz="720" dirty="0"/>
          </a:p>
        </p:txBody>
      </p:sp>
      <p:sp>
        <p:nvSpPr>
          <p:cNvPr id="31" name="Shape 27"/>
          <p:cNvSpPr/>
          <p:nvPr/>
        </p:nvSpPr>
        <p:spPr>
          <a:xfrm>
            <a:off x="5605272" y="4873752"/>
            <a:ext cx="114300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5650992" y="4956048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40.29 mL</a:t>
            </a:r>
            <a:endParaRPr lang="en-US" sz="720" dirty="0"/>
          </a:p>
        </p:txBody>
      </p:sp>
      <p:sp>
        <p:nvSpPr>
          <p:cNvPr id="33" name="Shape 29"/>
          <p:cNvSpPr/>
          <p:nvPr/>
        </p:nvSpPr>
        <p:spPr>
          <a:xfrm>
            <a:off x="6748272" y="4873752"/>
            <a:ext cx="73152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793992" y="4956048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4</a:t>
            </a:r>
            <a:endParaRPr lang="en-US" sz="7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STEP 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步骤 5 · 血管风险禁区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目的：在平扫 CT 无法精确分割血管时，生成保守避让区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9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21792" y="1389888"/>
            <a:ext cx="6400800" cy="2487168"/>
          </a:xfrm>
          <a:prstGeom prst="roundRect">
            <a:avLst>
              <a:gd name="adj" fmla="val 2206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9" name="Image 0" descr="/Users/thy/Desktop/KeTiZu/proj_260608/Songtt_proj01/output_nifti/patient_0099039449/CT_brain_0.80_Hr40_S3_00000262_vessel_overla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" y="1444752"/>
            <a:ext cx="6291072" cy="21031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8096" y="3602736"/>
            <a:ext cx="61081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红/橙色风险区用于路径避让</a:t>
            </a:r>
            <a:endParaRPr lang="en-US" sz="730" dirty="0"/>
          </a:p>
        </p:txBody>
      </p:sp>
      <p:sp>
        <p:nvSpPr>
          <p:cNvPr id="11" name="Shape 8"/>
          <p:cNvSpPr/>
          <p:nvPr/>
        </p:nvSpPr>
        <p:spPr>
          <a:xfrm>
            <a:off x="7333488" y="1389888"/>
            <a:ext cx="4041648" cy="4480560"/>
          </a:xfrm>
          <a:prstGeom prst="roundRect">
            <a:avLst>
              <a:gd name="adj" fmla="val 1357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12" name="Image 1" descr="/Users/thy/Desktop/KeTiZu/proj_260608/Songtt_proj01/output_nifti/patient_0099039449/CT_brain_0.80_Hr40_S3_00000262_vessel_3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388352" y="1444752"/>
            <a:ext cx="3931920" cy="40965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79792" y="5596128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风险区 3D 展示</a:t>
            </a:r>
            <a:endParaRPr lang="en-US" sz="730" dirty="0"/>
          </a:p>
        </p:txBody>
      </p:sp>
      <p:sp>
        <p:nvSpPr>
          <p:cNvPr id="14" name="Shape 10"/>
          <p:cNvSpPr/>
          <p:nvPr/>
        </p:nvSpPr>
        <p:spPr>
          <a:xfrm>
            <a:off x="621792" y="4206240"/>
            <a:ext cx="3749040" cy="1444752"/>
          </a:xfrm>
          <a:prstGeom prst="roundRect">
            <a:avLst>
              <a:gd name="adj" fmla="val 3797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50392" y="440740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59E0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关键说明</a:t>
            </a:r>
            <a:endParaRPr lang="en-US" sz="1120" dirty="0"/>
          </a:p>
        </p:txBody>
      </p:sp>
      <p:sp>
        <p:nvSpPr>
          <p:cNvPr id="16" name="Text 12"/>
          <p:cNvSpPr/>
          <p:nvPr/>
        </p:nvSpPr>
        <p:spPr>
          <a:xfrm>
            <a:off x="850392" y="4754880"/>
            <a:ext cx="33101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这一步不是精确血管分割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平扫 CT 难以看到未钙化血管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用高密度结构 + 解剖先验生成风险区</a:t>
            </a:r>
            <a:endParaRPr lang="en-US" sz="880" dirty="0"/>
          </a:p>
        </p:txBody>
      </p:sp>
      <p:sp>
        <p:nvSpPr>
          <p:cNvPr id="17" name="Shape 13"/>
          <p:cNvSpPr/>
          <p:nvPr/>
        </p:nvSpPr>
        <p:spPr>
          <a:xfrm>
            <a:off x="4590288" y="4206240"/>
            <a:ext cx="123444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636008" y="4288536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病例</a:t>
            </a:r>
            <a:endParaRPr lang="en-US" sz="730" dirty="0"/>
          </a:p>
        </p:txBody>
      </p:sp>
      <p:sp>
        <p:nvSpPr>
          <p:cNvPr id="19" name="Shape 15"/>
          <p:cNvSpPr/>
          <p:nvPr/>
        </p:nvSpPr>
        <p:spPr>
          <a:xfrm>
            <a:off x="5824728" y="4206240"/>
            <a:ext cx="123444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870448" y="4288536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风险区体积</a:t>
            </a:r>
            <a:endParaRPr lang="en-US" sz="730" dirty="0"/>
          </a:p>
        </p:txBody>
      </p:sp>
      <p:sp>
        <p:nvSpPr>
          <p:cNvPr id="21" name="Shape 17"/>
          <p:cNvSpPr/>
          <p:nvPr/>
        </p:nvSpPr>
        <p:spPr>
          <a:xfrm>
            <a:off x="4590288" y="4544568"/>
            <a:ext cx="123444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636008" y="4626864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0099039449</a:t>
            </a:r>
            <a:endParaRPr lang="en-US" sz="720" dirty="0"/>
          </a:p>
        </p:txBody>
      </p:sp>
      <p:sp>
        <p:nvSpPr>
          <p:cNvPr id="23" name="Shape 19"/>
          <p:cNvSpPr/>
          <p:nvPr/>
        </p:nvSpPr>
        <p:spPr>
          <a:xfrm>
            <a:off x="5824728" y="4544568"/>
            <a:ext cx="123444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870448" y="4626864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77.76 mL</a:t>
            </a:r>
            <a:endParaRPr lang="en-US" sz="720" dirty="0"/>
          </a:p>
        </p:txBody>
      </p:sp>
      <p:sp>
        <p:nvSpPr>
          <p:cNvPr id="25" name="Shape 21"/>
          <p:cNvSpPr/>
          <p:nvPr/>
        </p:nvSpPr>
        <p:spPr>
          <a:xfrm>
            <a:off x="4590288" y="4873752"/>
            <a:ext cx="123444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636008" y="4956048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0100297683</a:t>
            </a:r>
            <a:endParaRPr lang="en-US" sz="720" dirty="0"/>
          </a:p>
        </p:txBody>
      </p:sp>
      <p:sp>
        <p:nvSpPr>
          <p:cNvPr id="27" name="Shape 23"/>
          <p:cNvSpPr/>
          <p:nvPr/>
        </p:nvSpPr>
        <p:spPr>
          <a:xfrm>
            <a:off x="5824728" y="4873752"/>
            <a:ext cx="123444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870448" y="4956048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213.37 mL</a:t>
            </a:r>
            <a:endParaRPr lang="en-US" sz="720" dirty="0"/>
          </a:p>
        </p:txBody>
      </p:sp>
      <p:sp>
        <p:nvSpPr>
          <p:cNvPr id="29" name="Text 25"/>
          <p:cNvSpPr/>
          <p:nvPr/>
        </p:nvSpPr>
        <p:spPr>
          <a:xfrm>
            <a:off x="4617720" y="519379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后续接入 CTA/MRA 后应替换为真实血管分割。</a:t>
            </a:r>
            <a:endParaRPr lang="en-US" sz="7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STEP 6-7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步骤 6-7 · 脑干与功能区近似禁区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目的：把高风险结构纳入路径规划约束，但当前是几何近似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10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21792" y="1389888"/>
            <a:ext cx="5440680" cy="2359152"/>
          </a:xfrm>
          <a:prstGeom prst="roundRect">
            <a:avLst>
              <a:gd name="adj" fmla="val 2326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9" name="Image 0" descr="/Users/thy/Desktop/KeTiZu/proj_260608/Songtt_proj01/output_nifti/patient_0099039449/CT_brain_0.80_Hr40_S3_00000262_brainstem_overla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" y="1444752"/>
            <a:ext cx="5330952" cy="19751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8096" y="3474720"/>
            <a:ext cx="51480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脑干近似禁区 overlay</a:t>
            </a:r>
            <a:endParaRPr lang="en-US" sz="730" dirty="0"/>
          </a:p>
        </p:txBody>
      </p:sp>
      <p:sp>
        <p:nvSpPr>
          <p:cNvPr id="11" name="Shape 8"/>
          <p:cNvSpPr/>
          <p:nvPr/>
        </p:nvSpPr>
        <p:spPr>
          <a:xfrm>
            <a:off x="6236208" y="1389888"/>
            <a:ext cx="5212080" cy="2359152"/>
          </a:xfrm>
          <a:prstGeom prst="roundRect">
            <a:avLst>
              <a:gd name="adj" fmla="val 2326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12" name="Image 1" descr="/Users/thy/Desktop/KeTiZu/proj_260608/Songtt_proj01/output_nifti/patient_0099039449/CT_brain_0.80_Hr40_S3_00000262_eloquent_overlay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91072" y="1444752"/>
            <a:ext cx="5102352" cy="19751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382512" y="3474720"/>
            <a:ext cx="4919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功能区近似禁区 overlay</a:t>
            </a:r>
            <a:endParaRPr lang="en-US" sz="730" dirty="0"/>
          </a:p>
        </p:txBody>
      </p:sp>
      <p:sp>
        <p:nvSpPr>
          <p:cNvPr id="14" name="Shape 10"/>
          <p:cNvSpPr/>
          <p:nvPr/>
        </p:nvSpPr>
        <p:spPr>
          <a:xfrm>
            <a:off x="621792" y="4069080"/>
            <a:ext cx="3383280" cy="1490472"/>
          </a:xfrm>
          <a:prstGeom prst="roundRect">
            <a:avLst>
              <a:gd name="adj" fmla="val 3681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50392" y="42702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59E0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脑干近似</a:t>
            </a:r>
            <a:endParaRPr lang="en-US" sz="1120" dirty="0"/>
          </a:p>
        </p:txBody>
      </p:sp>
      <p:sp>
        <p:nvSpPr>
          <p:cNvPr id="16" name="Text 12"/>
          <p:cNvSpPr/>
          <p:nvPr/>
        </p:nvSpPr>
        <p:spPr>
          <a:xfrm>
            <a:off x="850392" y="4617720"/>
            <a:ext cx="29443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基于颅腔下部、中线附近位置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结合 HU 约束和最大连通域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用于路径规划避让，不是精确脑干边界</a:t>
            </a:r>
            <a:endParaRPr lang="en-US" sz="880" dirty="0"/>
          </a:p>
        </p:txBody>
      </p:sp>
      <p:sp>
        <p:nvSpPr>
          <p:cNvPr id="17" name="Shape 13"/>
          <p:cNvSpPr/>
          <p:nvPr/>
        </p:nvSpPr>
        <p:spPr>
          <a:xfrm>
            <a:off x="4251960" y="4069080"/>
            <a:ext cx="3383280" cy="1490472"/>
          </a:xfrm>
          <a:prstGeom prst="roundRect">
            <a:avLst>
              <a:gd name="adj" fmla="val 3681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480560" y="42702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A78BF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功能区近似</a:t>
            </a:r>
            <a:endParaRPr lang="en-US" sz="1120" dirty="0"/>
          </a:p>
        </p:txBody>
      </p:sp>
      <p:sp>
        <p:nvSpPr>
          <p:cNvPr id="19" name="Text 15"/>
          <p:cNvSpPr/>
          <p:nvPr/>
        </p:nvSpPr>
        <p:spPr>
          <a:xfrm>
            <a:off x="4480560" y="4617720"/>
            <a:ext cx="29443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按颅腔归一化坐标画经验区域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覆盖运动、语言、视觉和深部核团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真实功能区需要 MRI/fMRI 或图谱配准</a:t>
            </a:r>
            <a:endParaRPr lang="en-US" sz="880" dirty="0"/>
          </a:p>
        </p:txBody>
      </p:sp>
      <p:sp>
        <p:nvSpPr>
          <p:cNvPr id="20" name="Shape 16"/>
          <p:cNvSpPr/>
          <p:nvPr/>
        </p:nvSpPr>
        <p:spPr>
          <a:xfrm>
            <a:off x="7882128" y="4069080"/>
            <a:ext cx="109728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927848" y="4151376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病例</a:t>
            </a:r>
            <a:endParaRPr lang="en-US" sz="730" dirty="0"/>
          </a:p>
        </p:txBody>
      </p:sp>
      <p:sp>
        <p:nvSpPr>
          <p:cNvPr id="22" name="Shape 18"/>
          <p:cNvSpPr/>
          <p:nvPr/>
        </p:nvSpPr>
        <p:spPr>
          <a:xfrm>
            <a:off x="8979408" y="4069080"/>
            <a:ext cx="82296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9025128" y="4151376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脑干</a:t>
            </a:r>
            <a:endParaRPr lang="en-US" sz="730" dirty="0"/>
          </a:p>
        </p:txBody>
      </p:sp>
      <p:sp>
        <p:nvSpPr>
          <p:cNvPr id="24" name="Shape 20"/>
          <p:cNvSpPr/>
          <p:nvPr/>
        </p:nvSpPr>
        <p:spPr>
          <a:xfrm>
            <a:off x="9802368" y="4069080"/>
            <a:ext cx="82296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9848088" y="4151376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功能区</a:t>
            </a:r>
            <a:endParaRPr lang="en-US" sz="730" dirty="0"/>
          </a:p>
        </p:txBody>
      </p:sp>
      <p:sp>
        <p:nvSpPr>
          <p:cNvPr id="26" name="Shape 22"/>
          <p:cNvSpPr/>
          <p:nvPr/>
        </p:nvSpPr>
        <p:spPr>
          <a:xfrm>
            <a:off x="7882128" y="4407408"/>
            <a:ext cx="109728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927848" y="4489704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0099039449</a:t>
            </a:r>
            <a:endParaRPr lang="en-US" sz="720" dirty="0"/>
          </a:p>
        </p:txBody>
      </p:sp>
      <p:sp>
        <p:nvSpPr>
          <p:cNvPr id="28" name="Shape 24"/>
          <p:cNvSpPr/>
          <p:nvPr/>
        </p:nvSpPr>
        <p:spPr>
          <a:xfrm>
            <a:off x="8979408" y="4407408"/>
            <a:ext cx="82296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9025128" y="4489704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20.89</a:t>
            </a:r>
            <a:endParaRPr lang="en-US" sz="720" dirty="0"/>
          </a:p>
        </p:txBody>
      </p:sp>
      <p:sp>
        <p:nvSpPr>
          <p:cNvPr id="30" name="Shape 26"/>
          <p:cNvSpPr/>
          <p:nvPr/>
        </p:nvSpPr>
        <p:spPr>
          <a:xfrm>
            <a:off x="9802368" y="4407408"/>
            <a:ext cx="82296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9848088" y="4489704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185.52</a:t>
            </a:r>
            <a:endParaRPr lang="en-US" sz="720" dirty="0"/>
          </a:p>
        </p:txBody>
      </p:sp>
      <p:sp>
        <p:nvSpPr>
          <p:cNvPr id="32" name="Shape 28"/>
          <p:cNvSpPr/>
          <p:nvPr/>
        </p:nvSpPr>
        <p:spPr>
          <a:xfrm>
            <a:off x="7882128" y="4736592"/>
            <a:ext cx="109728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927848" y="481888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0100297683</a:t>
            </a:r>
            <a:endParaRPr lang="en-US" sz="720" dirty="0"/>
          </a:p>
        </p:txBody>
      </p:sp>
      <p:sp>
        <p:nvSpPr>
          <p:cNvPr id="34" name="Shape 30"/>
          <p:cNvSpPr/>
          <p:nvPr/>
        </p:nvSpPr>
        <p:spPr>
          <a:xfrm>
            <a:off x="8979408" y="4736592"/>
            <a:ext cx="82296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9025128" y="481888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36.70</a:t>
            </a:r>
            <a:endParaRPr lang="en-US" sz="720" dirty="0"/>
          </a:p>
        </p:txBody>
      </p:sp>
      <p:sp>
        <p:nvSpPr>
          <p:cNvPr id="36" name="Shape 32"/>
          <p:cNvSpPr/>
          <p:nvPr/>
        </p:nvSpPr>
        <p:spPr>
          <a:xfrm>
            <a:off x="9802368" y="4736592"/>
            <a:ext cx="82296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9848088" y="481888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204.56</a:t>
            </a:r>
            <a:endParaRPr lang="en-US" sz="720" dirty="0"/>
          </a:p>
        </p:txBody>
      </p:sp>
      <p:sp>
        <p:nvSpPr>
          <p:cNvPr id="38" name="Text 34"/>
          <p:cNvSpPr/>
          <p:nvPr/>
        </p:nvSpPr>
        <p:spPr>
          <a:xfrm>
            <a:off x="7918704" y="5010912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单位：mL</a:t>
            </a:r>
            <a:endParaRPr lang="en-US" sz="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STEP 8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步骤 8 · 穿刺路径规划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目的：在避开禁区的前提下，从颅骨外表面找到到达血肿的候选直线路径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11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21792" y="1389888"/>
            <a:ext cx="6400800" cy="2423160"/>
          </a:xfrm>
          <a:prstGeom prst="roundRect">
            <a:avLst>
              <a:gd name="adj" fmla="val 2264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9" name="Image 0" descr="/Users/thy/Desktop/KeTiZu/proj_260608/Songtt_proj01/output_nifti/patient_0099039449/CT_brain_0.80_Hr40_S3_00000262_paths_overla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" y="1444752"/>
            <a:ext cx="6291072" cy="20391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8096" y="3538728"/>
            <a:ext cx="61081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路径 overlay：线条为候选路径，黄星为目标点</a:t>
            </a:r>
            <a:endParaRPr lang="en-US" sz="730" dirty="0"/>
          </a:p>
        </p:txBody>
      </p:sp>
      <p:sp>
        <p:nvSpPr>
          <p:cNvPr id="11" name="Shape 8"/>
          <p:cNvSpPr/>
          <p:nvPr/>
        </p:nvSpPr>
        <p:spPr>
          <a:xfrm>
            <a:off x="7360920" y="1389888"/>
            <a:ext cx="4005072" cy="4480560"/>
          </a:xfrm>
          <a:prstGeom prst="roundRect">
            <a:avLst>
              <a:gd name="adj" fmla="val 1370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12" name="Image 1" descr="/Users/thy/Desktop/KeTiZu/proj_260608/Songtt_proj01/output_nifti/patient_0099039449/CT_brain_0.80_Hr40_S3_00000262_paths_3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415784" y="1444752"/>
            <a:ext cx="3895344" cy="40965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07224" y="5596128"/>
            <a:ext cx="37124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路径规划 3D</a:t>
            </a:r>
            <a:endParaRPr lang="en-US" sz="730" dirty="0"/>
          </a:p>
        </p:txBody>
      </p:sp>
      <p:sp>
        <p:nvSpPr>
          <p:cNvPr id="14" name="Shape 10"/>
          <p:cNvSpPr/>
          <p:nvPr/>
        </p:nvSpPr>
        <p:spPr>
          <a:xfrm>
            <a:off x="621792" y="4096512"/>
            <a:ext cx="3474720" cy="1444752"/>
          </a:xfrm>
          <a:prstGeom prst="roundRect">
            <a:avLst>
              <a:gd name="adj" fmla="val 3797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50392" y="429768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34D399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路径评估规则</a:t>
            </a:r>
            <a:endParaRPr lang="en-US" sz="1120" dirty="0"/>
          </a:p>
        </p:txBody>
      </p:sp>
      <p:sp>
        <p:nvSpPr>
          <p:cNvPr id="16" name="Text 12"/>
          <p:cNvSpPr/>
          <p:nvPr/>
        </p:nvSpPr>
        <p:spPr>
          <a:xfrm>
            <a:off x="850392" y="4645152"/>
            <a:ext cx="303580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入颅点来自颅骨外表面采样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目标点沿血肿 PCA 长轴采样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路径主体不得穿过脑室、血管风险、脑干等禁区</a:t>
            </a:r>
            <a:endParaRPr lang="en-US" sz="880" dirty="0"/>
          </a:p>
        </p:txBody>
      </p:sp>
      <p:sp>
        <p:nvSpPr>
          <p:cNvPr id="17" name="Shape 13"/>
          <p:cNvSpPr/>
          <p:nvPr/>
        </p:nvSpPr>
        <p:spPr>
          <a:xfrm>
            <a:off x="4315968" y="4096512"/>
            <a:ext cx="713232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361688" y="4178808"/>
            <a:ext cx="621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路径</a:t>
            </a:r>
            <a:endParaRPr lang="en-US" sz="730" dirty="0"/>
          </a:p>
        </p:txBody>
      </p:sp>
      <p:sp>
        <p:nvSpPr>
          <p:cNvPr id="19" name="Shape 15"/>
          <p:cNvSpPr/>
          <p:nvPr/>
        </p:nvSpPr>
        <p:spPr>
          <a:xfrm>
            <a:off x="5029200" y="4096512"/>
            <a:ext cx="841248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074920" y="4178808"/>
            <a:ext cx="7498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目标</a:t>
            </a:r>
            <a:endParaRPr lang="en-US" sz="730" dirty="0"/>
          </a:p>
        </p:txBody>
      </p:sp>
      <p:sp>
        <p:nvSpPr>
          <p:cNvPr id="21" name="Shape 17"/>
          <p:cNvSpPr/>
          <p:nvPr/>
        </p:nvSpPr>
        <p:spPr>
          <a:xfrm>
            <a:off x="5870448" y="4096512"/>
            <a:ext cx="86868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916168" y="417880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长度</a:t>
            </a:r>
            <a:endParaRPr lang="en-US" sz="730" dirty="0"/>
          </a:p>
        </p:txBody>
      </p:sp>
      <p:sp>
        <p:nvSpPr>
          <p:cNvPr id="23" name="Shape 19"/>
          <p:cNvSpPr/>
          <p:nvPr/>
        </p:nvSpPr>
        <p:spPr>
          <a:xfrm>
            <a:off x="6739128" y="4096512"/>
            <a:ext cx="68580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784848" y="4178808"/>
            <a:ext cx="594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角度</a:t>
            </a:r>
            <a:endParaRPr lang="en-US" sz="730" dirty="0"/>
          </a:p>
        </p:txBody>
      </p:sp>
      <p:sp>
        <p:nvSpPr>
          <p:cNvPr id="25" name="Shape 21"/>
          <p:cNvSpPr/>
          <p:nvPr/>
        </p:nvSpPr>
        <p:spPr>
          <a:xfrm>
            <a:off x="4315968" y="4434840"/>
            <a:ext cx="713232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361688" y="4517136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Top-1</a:t>
            </a:r>
            <a:endParaRPr lang="en-US" sz="720" dirty="0"/>
          </a:p>
        </p:txBody>
      </p:sp>
      <p:sp>
        <p:nvSpPr>
          <p:cNvPr id="27" name="Shape 23"/>
          <p:cNvSpPr/>
          <p:nvPr/>
        </p:nvSpPr>
        <p:spPr>
          <a:xfrm>
            <a:off x="5029200" y="4434840"/>
            <a:ext cx="841248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074920" y="4517136"/>
            <a:ext cx="7498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质心</a:t>
            </a:r>
            <a:endParaRPr lang="en-US" sz="720" dirty="0"/>
          </a:p>
        </p:txBody>
      </p:sp>
      <p:sp>
        <p:nvSpPr>
          <p:cNvPr id="29" name="Shape 25"/>
          <p:cNvSpPr/>
          <p:nvPr/>
        </p:nvSpPr>
        <p:spPr>
          <a:xfrm>
            <a:off x="5870448" y="4434840"/>
            <a:ext cx="86868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916168" y="4517136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50.6 mm</a:t>
            </a:r>
            <a:endParaRPr lang="en-US" sz="720" dirty="0"/>
          </a:p>
        </p:txBody>
      </p:sp>
      <p:sp>
        <p:nvSpPr>
          <p:cNvPr id="31" name="Shape 27"/>
          <p:cNvSpPr/>
          <p:nvPr/>
        </p:nvSpPr>
        <p:spPr>
          <a:xfrm>
            <a:off x="6739128" y="4434840"/>
            <a:ext cx="68580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6784848" y="4517136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18.1°</a:t>
            </a:r>
            <a:endParaRPr lang="en-US" sz="720" dirty="0"/>
          </a:p>
        </p:txBody>
      </p:sp>
      <p:sp>
        <p:nvSpPr>
          <p:cNvPr id="33" name="Shape 29"/>
          <p:cNvSpPr/>
          <p:nvPr/>
        </p:nvSpPr>
        <p:spPr>
          <a:xfrm>
            <a:off x="4315968" y="4764024"/>
            <a:ext cx="713232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361688" y="4846320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Top-2</a:t>
            </a:r>
            <a:endParaRPr lang="en-US" sz="720" dirty="0"/>
          </a:p>
        </p:txBody>
      </p:sp>
      <p:sp>
        <p:nvSpPr>
          <p:cNvPr id="35" name="Shape 31"/>
          <p:cNvSpPr/>
          <p:nvPr/>
        </p:nvSpPr>
        <p:spPr>
          <a:xfrm>
            <a:off x="5029200" y="4764024"/>
            <a:ext cx="841248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5074920" y="4846320"/>
            <a:ext cx="7498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远端 A</a:t>
            </a:r>
            <a:endParaRPr lang="en-US" sz="720" dirty="0"/>
          </a:p>
        </p:txBody>
      </p:sp>
      <p:sp>
        <p:nvSpPr>
          <p:cNvPr id="37" name="Shape 33"/>
          <p:cNvSpPr/>
          <p:nvPr/>
        </p:nvSpPr>
        <p:spPr>
          <a:xfrm>
            <a:off x="5870448" y="4764024"/>
            <a:ext cx="86868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916168" y="4846320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92.4 mm</a:t>
            </a:r>
            <a:endParaRPr lang="en-US" sz="720" dirty="0"/>
          </a:p>
        </p:txBody>
      </p:sp>
      <p:sp>
        <p:nvSpPr>
          <p:cNvPr id="39" name="Shape 35"/>
          <p:cNvSpPr/>
          <p:nvPr/>
        </p:nvSpPr>
        <p:spPr>
          <a:xfrm>
            <a:off x="6739128" y="4764024"/>
            <a:ext cx="68580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6784848" y="4846320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75.1°</a:t>
            </a:r>
            <a:endParaRPr lang="en-US" sz="720" dirty="0"/>
          </a:p>
        </p:txBody>
      </p:sp>
      <p:sp>
        <p:nvSpPr>
          <p:cNvPr id="41" name="Text 37"/>
          <p:cNvSpPr/>
          <p:nvPr/>
        </p:nvSpPr>
        <p:spPr>
          <a:xfrm>
            <a:off x="4334256" y="5074920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候选入颅点 1500 个，最终合法路径 2 条；另一病例因血肿 mask 为空自动跳过。</a:t>
            </a:r>
            <a:endParaRPr lang="en-US" sz="71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STEP 9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步骤 9 · 自然语言方案与 PDF 报告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目的：把分割图、统计结果和路径规划结果整理成可交付材料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12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5715000" cy="2240280"/>
          </a:xfrm>
          <a:prstGeom prst="roundRect">
            <a:avLst>
              <a:gd name="adj" fmla="val 2449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9" name="Image 0" descr="/Users/thy/Desktop/KeTiZu/proj_260608/Songtt_proj01/output_nifti/patient_0099039449/CT_brain_0.80_Hr40_S3_00000262_paths_overla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" y="1472184"/>
            <a:ext cx="5605272" cy="18562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86384" y="3383280"/>
            <a:ext cx="54223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报告中的路径主页图</a:t>
            </a:r>
            <a:endParaRPr lang="en-US" sz="730" dirty="0"/>
          </a:p>
        </p:txBody>
      </p:sp>
      <p:sp>
        <p:nvSpPr>
          <p:cNvPr id="11" name="Shape 8"/>
          <p:cNvSpPr/>
          <p:nvPr/>
        </p:nvSpPr>
        <p:spPr>
          <a:xfrm>
            <a:off x="6629400" y="1417320"/>
            <a:ext cx="4434840" cy="1280160"/>
          </a:xfrm>
          <a:prstGeom prst="roundRect">
            <a:avLst>
              <a:gd name="adj" fmla="val 4286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0" y="161848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自动生成文件</a:t>
            </a:r>
            <a:endParaRPr lang="en-US" sz="1120" dirty="0"/>
          </a:p>
        </p:txBody>
      </p:sp>
      <p:sp>
        <p:nvSpPr>
          <p:cNvPr id="13" name="Text 10"/>
          <p:cNvSpPr/>
          <p:nvPr/>
        </p:nvSpPr>
        <p:spPr>
          <a:xfrm>
            <a:off x="6858000" y="1965960"/>
            <a:ext cx="3995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每个病例生成 plan.txt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每个病例生成 report.pdf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PDF 包含封面、方案、路径图和各分割页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6629400" y="2944368"/>
            <a:ext cx="4434840" cy="1627632"/>
          </a:xfrm>
          <a:prstGeom prst="roundRect">
            <a:avLst>
              <a:gd name="adj" fmla="val 3371"/>
            </a:avLst>
          </a:prstGeom>
          <a:solidFill>
            <a:srgbClr val="13243A"/>
          </a:solidFill>
          <a:ln w="12700">
            <a:solidFill>
              <a:srgbClr val="34D399">
                <a:alpha val="9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39712" y="3163824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34D399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推荐路径摘要（病例 0099039449）</a:t>
            </a:r>
            <a:endParaRPr lang="en-US" sz="1040" dirty="0"/>
          </a:p>
        </p:txBody>
      </p:sp>
      <p:sp>
        <p:nvSpPr>
          <p:cNvPr id="16" name="Text 13"/>
          <p:cNvSpPr/>
          <p:nvPr/>
        </p:nvSpPr>
        <p:spPr>
          <a:xfrm>
            <a:off x="6839712" y="352958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入颅点 LPS: (77.57, -143.12, -513.71) mm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目标点 LPS: (33.24, -166.86, -507.71) mm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进针长度: 50.6 mm    入颅角度: 18.1°</a:t>
            </a:r>
            <a:endParaRPr lang="en-US" sz="840" dirty="0"/>
          </a:p>
        </p:txBody>
      </p:sp>
      <p:sp>
        <p:nvSpPr>
          <p:cNvPr id="17" name="Shape 14"/>
          <p:cNvSpPr/>
          <p:nvPr/>
        </p:nvSpPr>
        <p:spPr>
          <a:xfrm>
            <a:off x="640080" y="4041648"/>
            <a:ext cx="5715000" cy="1298448"/>
          </a:xfrm>
          <a:prstGeom prst="roundRect">
            <a:avLst>
              <a:gd name="adj" fmla="val 4225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68680" y="4242816"/>
            <a:ext cx="5257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34D399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报告价值</a:t>
            </a:r>
            <a:endParaRPr lang="en-US" sz="1120" dirty="0"/>
          </a:p>
        </p:txBody>
      </p:sp>
      <p:sp>
        <p:nvSpPr>
          <p:cNvPr id="19" name="Text 16"/>
          <p:cNvSpPr/>
          <p:nvPr/>
        </p:nvSpPr>
        <p:spPr>
          <a:xfrm>
            <a:off x="868680" y="4590288"/>
            <a:ext cx="5276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把零散输出统一到医生/评审容易浏览的格式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保留 JSON 结构化结果，方便后续程序复核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适合作为阶段性汇报和人工检查入口</a:t>
            </a:r>
            <a:endParaRPr lang="en-US" sz="880" dirty="0"/>
          </a:p>
        </p:txBody>
      </p:sp>
      <p:sp>
        <p:nvSpPr>
          <p:cNvPr id="20" name="Shape 17"/>
          <p:cNvSpPr/>
          <p:nvPr/>
        </p:nvSpPr>
        <p:spPr>
          <a:xfrm>
            <a:off x="6629400" y="4773168"/>
            <a:ext cx="123444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75120" y="4855464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病例</a:t>
            </a:r>
            <a:endParaRPr lang="en-US" sz="730" dirty="0"/>
          </a:p>
        </p:txBody>
      </p:sp>
      <p:sp>
        <p:nvSpPr>
          <p:cNvPr id="22" name="Shape 19"/>
          <p:cNvSpPr/>
          <p:nvPr/>
        </p:nvSpPr>
        <p:spPr>
          <a:xfrm>
            <a:off x="7863840" y="4773168"/>
            <a:ext cx="109728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909560" y="4855464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plan.txt</a:t>
            </a:r>
            <a:endParaRPr lang="en-US" sz="730" dirty="0"/>
          </a:p>
        </p:txBody>
      </p:sp>
      <p:sp>
        <p:nvSpPr>
          <p:cNvPr id="24" name="Shape 21"/>
          <p:cNvSpPr/>
          <p:nvPr/>
        </p:nvSpPr>
        <p:spPr>
          <a:xfrm>
            <a:off x="8961120" y="4773168"/>
            <a:ext cx="109728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006840" y="4855464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report.pdf</a:t>
            </a:r>
            <a:endParaRPr lang="en-US" sz="730" dirty="0"/>
          </a:p>
        </p:txBody>
      </p:sp>
      <p:sp>
        <p:nvSpPr>
          <p:cNvPr id="26" name="Shape 23"/>
          <p:cNvSpPr/>
          <p:nvPr/>
        </p:nvSpPr>
        <p:spPr>
          <a:xfrm>
            <a:off x="6629400" y="5111496"/>
            <a:ext cx="123444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675120" y="5193792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0099039449</a:t>
            </a:r>
            <a:endParaRPr lang="en-US" sz="720" dirty="0"/>
          </a:p>
        </p:txBody>
      </p:sp>
      <p:sp>
        <p:nvSpPr>
          <p:cNvPr id="28" name="Shape 25"/>
          <p:cNvSpPr/>
          <p:nvPr/>
        </p:nvSpPr>
        <p:spPr>
          <a:xfrm>
            <a:off x="7863840" y="5111496"/>
            <a:ext cx="109728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09560" y="5193792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已生成</a:t>
            </a:r>
            <a:endParaRPr lang="en-US" sz="720" dirty="0"/>
          </a:p>
        </p:txBody>
      </p:sp>
      <p:sp>
        <p:nvSpPr>
          <p:cNvPr id="30" name="Shape 27"/>
          <p:cNvSpPr/>
          <p:nvPr/>
        </p:nvSpPr>
        <p:spPr>
          <a:xfrm>
            <a:off x="8961120" y="5111496"/>
            <a:ext cx="1097280" cy="329184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006840" y="5193792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已生成</a:t>
            </a:r>
            <a:endParaRPr lang="en-US" sz="720" dirty="0"/>
          </a:p>
        </p:txBody>
      </p:sp>
      <p:sp>
        <p:nvSpPr>
          <p:cNvPr id="32" name="Shape 29"/>
          <p:cNvSpPr/>
          <p:nvPr/>
        </p:nvSpPr>
        <p:spPr>
          <a:xfrm>
            <a:off x="6629400" y="5440680"/>
            <a:ext cx="123444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675120" y="552297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0100297683</a:t>
            </a:r>
            <a:endParaRPr lang="en-US" sz="720" dirty="0"/>
          </a:p>
        </p:txBody>
      </p:sp>
      <p:sp>
        <p:nvSpPr>
          <p:cNvPr id="34" name="Shape 31"/>
          <p:cNvSpPr/>
          <p:nvPr/>
        </p:nvSpPr>
        <p:spPr>
          <a:xfrm>
            <a:off x="7863840" y="5440680"/>
            <a:ext cx="109728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909560" y="5522976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已生成</a:t>
            </a:r>
            <a:endParaRPr lang="en-US" sz="720" dirty="0"/>
          </a:p>
        </p:txBody>
      </p:sp>
      <p:sp>
        <p:nvSpPr>
          <p:cNvPr id="36" name="Shape 33"/>
          <p:cNvSpPr/>
          <p:nvPr/>
        </p:nvSpPr>
        <p:spPr>
          <a:xfrm>
            <a:off x="8961120" y="5440680"/>
            <a:ext cx="1097280" cy="329184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006840" y="5522976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已生成</a:t>
            </a:r>
            <a:endParaRPr lang="en-US" sz="7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NEXT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局限性与下一步计划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当前系统已经跑通流程，但距离临床可用还需要数据、模型和验证体系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13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85800" y="1508760"/>
            <a:ext cx="4983480" cy="1234440"/>
          </a:xfrm>
          <a:prstGeom prst="roundRect">
            <a:avLst>
              <a:gd name="adj" fmla="val 4444"/>
            </a:avLst>
          </a:prstGeom>
          <a:solidFill>
            <a:srgbClr val="13243A"/>
          </a:solidFill>
          <a:ln w="12700">
            <a:solidFill>
              <a:srgbClr val="F05252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70992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5252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医学边界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14400" y="20756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平扫 CT 无法精确显示血管、功能区和脑干边界；这些模块目前是保守近似。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6236208" y="1508760"/>
            <a:ext cx="4983480" cy="1234440"/>
          </a:xfrm>
          <a:prstGeom prst="roundRect">
            <a:avLst>
              <a:gd name="adj" fmla="val 4444"/>
            </a:avLst>
          </a:prstGeom>
          <a:solidFill>
            <a:srgbClr val="13243A"/>
          </a:solidFill>
          <a:ln w="12700">
            <a:solidFill>
              <a:srgbClr val="F59E0B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4808" y="170992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算法边界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64808" y="20756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血肿依赖 HU 阈值和形态学规则，可能漏检或误检，需要人工复核。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685800" y="3246120"/>
            <a:ext cx="4983480" cy="1234440"/>
          </a:xfrm>
          <a:prstGeom prst="roundRect">
            <a:avLst>
              <a:gd name="adj" fmla="val 4444"/>
            </a:avLst>
          </a:prstGeom>
          <a:solidFill>
            <a:srgbClr val="13243A"/>
          </a:solidFill>
          <a:ln w="12700">
            <a:solidFill>
              <a:srgbClr val="A78BFA">
                <a:alpha val="9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44728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规划边界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38130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路径仅评估直线和 mask 碰撞，未纳入骨缝、皮肤肌肉、器械、真实血管变异。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6236208" y="3246120"/>
            <a:ext cx="4983480" cy="1234440"/>
          </a:xfrm>
          <a:prstGeom prst="roundRect">
            <a:avLst>
              <a:gd name="adj" fmla="val 4444"/>
            </a:avLst>
          </a:prstGeom>
          <a:solidFill>
            <a:srgbClr val="13243A"/>
          </a:solidFill>
          <a:ln w="12700">
            <a:solidFill>
              <a:srgbClr val="38BDF8">
                <a:alpha val="9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64808" y="344728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工程边界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64808" y="38130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当前为脚本流水线，后续应封装一键运行、日志、质控和可视化交互。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685800" y="5230368"/>
            <a:ext cx="10561320" cy="749808"/>
          </a:xfrm>
          <a:prstGeom prst="roundRect">
            <a:avLst>
              <a:gd name="adj" fmla="val 7317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431536"/>
            <a:ext cx="10104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34D399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建议推进顺序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914400" y="5779008"/>
            <a:ext cx="10122408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人工复核当前 2 例结果 → 接入更多数据和医生标注 → 替换精度不足的近似模块 → 增加 3D 交互复核 → 建立定量评估指标</a:t>
            </a:r>
            <a:endParaRPr lang="en-US" sz="8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EXPLAINER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汇报前先讲清楚 4 个基础概念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这页用于让非医学背景听众理解后续每一步产物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14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58368" y="1371600"/>
            <a:ext cx="2606040" cy="1920240"/>
          </a:xfrm>
          <a:prstGeom prst="roundRect">
            <a:avLst>
              <a:gd name="adj" fmla="val 2857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554480"/>
            <a:ext cx="2203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DICOM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859536" y="1874520"/>
            <a:ext cx="22037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医院 CT 机器导出的原始影像格式。它不是普通照片，而是一组切片文件，每个文件还带有患者、扫描参数和空间位置等信息。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493008" y="1371600"/>
            <a:ext cx="2606040" cy="1920240"/>
          </a:xfrm>
          <a:prstGeom prst="roundRect">
            <a:avLst>
              <a:gd name="adj" fmla="val 2857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94176" y="1554480"/>
            <a:ext cx="2203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34D399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NIfTI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3694176" y="1874520"/>
            <a:ext cx="22037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医学影像分析常用的三维体数据格式，后缀通常是 .nii.gz。可以理解为把一堆 CT 切片按正确位置叠成一个三维脑部模型。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327648" y="1371600"/>
            <a:ext cx="2606040" cy="1920240"/>
          </a:xfrm>
          <a:prstGeom prst="roundRect">
            <a:avLst>
              <a:gd name="adj" fmla="val 2857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28816" y="1554480"/>
            <a:ext cx="2203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A78BF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Mask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6528816" y="1874520"/>
            <a:ext cx="22037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mask 是“涂色图层”。例如颅骨 mask 里，骨头位置标成 1，其他地方标成 0，程序就能知道哪里是骨头。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9162288" y="1371600"/>
            <a:ext cx="2331720" cy="1920240"/>
          </a:xfrm>
          <a:prstGeom prst="roundRect">
            <a:avLst>
              <a:gd name="adj" fmla="val 2857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63456" y="1554480"/>
            <a:ext cx="1929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F59E0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HU 值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9363456" y="1874520"/>
            <a:ext cx="19293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CT 里每个点都有亮度数值。空气低，水和脑脊液偏低，脑组织居中，出血更亮，骨头最亮。项目大量依赖这些范围。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58368" y="3703320"/>
            <a:ext cx="5285232" cy="1417320"/>
          </a:xfrm>
          <a:prstGeom prst="roundRect">
            <a:avLst>
              <a:gd name="adj" fmla="val 3871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968" y="3904488"/>
            <a:ext cx="4828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为什么这些概念重要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886968" y="42519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DICOM 是输入，NIfTI 是算法可处理的三维影像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mask 是所有分割结果和路径避让的基础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HU 阈值是当前规则算法的核心，但它不是百分百准确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6236208" y="3703320"/>
            <a:ext cx="5257800" cy="1737360"/>
          </a:xfrm>
          <a:prstGeom prst="roundRect">
            <a:avLst>
              <a:gd name="adj" fmla="val 3158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24" name="Image 0" descr="/Users/thy/Desktop/KeTiZu/proj_260608/Songtt_proj01/output_nifti/patient_0099039449/CT_brain_0.80_Hr40_S3_00000262_pre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91072" y="3758184"/>
            <a:ext cx="5148072" cy="1353312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6382512" y="5166360"/>
            <a:ext cx="49651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DICOM 转换后的三视图预览示例</a:t>
            </a:r>
            <a:endParaRPr lang="en-US" sz="73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DETAILS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步骤 1-4 的输入、目的和输出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前半段重点是把原始数据变成可分析结构，并找出血肿和脑室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15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502920" y="1371600"/>
            <a:ext cx="1417320" cy="38404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453896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步骤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1920240" y="1371600"/>
            <a:ext cx="1965960" cy="38404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65960" y="1453896"/>
            <a:ext cx="1874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输入</a:t>
            </a:r>
            <a:endParaRPr lang="en-US" sz="730" dirty="0"/>
          </a:p>
        </p:txBody>
      </p:sp>
      <p:sp>
        <p:nvSpPr>
          <p:cNvPr id="12" name="Shape 10"/>
          <p:cNvSpPr/>
          <p:nvPr/>
        </p:nvSpPr>
        <p:spPr>
          <a:xfrm>
            <a:off x="3886200" y="1371600"/>
            <a:ext cx="2971800" cy="38404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0" y="1453896"/>
            <a:ext cx="2880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核心目的</a:t>
            </a:r>
            <a:endParaRPr lang="en-US" sz="730" dirty="0"/>
          </a:p>
        </p:txBody>
      </p:sp>
      <p:sp>
        <p:nvSpPr>
          <p:cNvPr id="14" name="Shape 12"/>
          <p:cNvSpPr/>
          <p:nvPr/>
        </p:nvSpPr>
        <p:spPr>
          <a:xfrm>
            <a:off x="6858000" y="1371600"/>
            <a:ext cx="2880360" cy="38404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03720" y="1453896"/>
            <a:ext cx="2788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主要输出</a:t>
            </a:r>
            <a:endParaRPr lang="en-US" sz="730" dirty="0"/>
          </a:p>
        </p:txBody>
      </p:sp>
      <p:sp>
        <p:nvSpPr>
          <p:cNvPr id="16" name="Shape 14"/>
          <p:cNvSpPr/>
          <p:nvPr/>
        </p:nvSpPr>
        <p:spPr>
          <a:xfrm>
            <a:off x="502920" y="1755648"/>
            <a:ext cx="1417320" cy="530352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1837944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 DICOM 转 NIfTI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1920240" y="1755648"/>
            <a:ext cx="1965960" cy="530352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65960" y="1837944"/>
            <a:ext cx="1874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原始 DICOM 切片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3886200" y="1755648"/>
            <a:ext cx="2971800" cy="530352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0" y="1837944"/>
            <a:ext cx="2880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把散落切片拼成三维 CT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6858000" y="1755648"/>
            <a:ext cx="2880360" cy="530352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03720" y="1837944"/>
            <a:ext cx="2788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.nii.gz / preview / manifest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502920" y="2286000"/>
            <a:ext cx="1417320" cy="530352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2368296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2 颅骨分割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1920240" y="2286000"/>
            <a:ext cx="1965960" cy="530352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65960" y="2368296"/>
            <a:ext cx="1874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Hr60 骨重建 CT</a:t>
            </a:r>
            <a:endParaRPr lang="en-US" sz="720" dirty="0"/>
          </a:p>
        </p:txBody>
      </p:sp>
      <p:sp>
        <p:nvSpPr>
          <p:cNvPr id="28" name="Shape 26"/>
          <p:cNvSpPr/>
          <p:nvPr/>
        </p:nvSpPr>
        <p:spPr>
          <a:xfrm>
            <a:off x="3886200" y="2286000"/>
            <a:ext cx="2971800" cy="530352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31920" y="2368296"/>
            <a:ext cx="2880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找到头骨外壳，供后续定位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6858000" y="2286000"/>
            <a:ext cx="2880360" cy="530352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03720" y="2368296"/>
            <a:ext cx="2788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skull_mask / overlay / 3D</a:t>
            </a:r>
            <a:endParaRPr lang="en-US" sz="720" dirty="0"/>
          </a:p>
        </p:txBody>
      </p:sp>
      <p:sp>
        <p:nvSpPr>
          <p:cNvPr id="32" name="Shape 30"/>
          <p:cNvSpPr/>
          <p:nvPr/>
        </p:nvSpPr>
        <p:spPr>
          <a:xfrm>
            <a:off x="502920" y="2816352"/>
            <a:ext cx="1417320" cy="530352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2898648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3 脑+血肿</a:t>
            </a:r>
            <a:endParaRPr lang="en-US" sz="720" dirty="0"/>
          </a:p>
        </p:txBody>
      </p:sp>
      <p:sp>
        <p:nvSpPr>
          <p:cNvPr id="34" name="Shape 32"/>
          <p:cNvSpPr/>
          <p:nvPr/>
        </p:nvSpPr>
        <p:spPr>
          <a:xfrm>
            <a:off x="1920240" y="2816352"/>
            <a:ext cx="1965960" cy="530352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965960" y="2898648"/>
            <a:ext cx="1874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Hr40 CT + 颅骨 mask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3886200" y="2816352"/>
            <a:ext cx="2971800" cy="530352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31920" y="2898648"/>
            <a:ext cx="2880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提取颅腔、脑组织和疑似血肿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6858000" y="2816352"/>
            <a:ext cx="2880360" cy="530352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03720" y="2898648"/>
            <a:ext cx="2788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brain_mask / hematoma_mask / report</a:t>
            </a:r>
            <a:endParaRPr lang="en-US" sz="720" dirty="0"/>
          </a:p>
        </p:txBody>
      </p:sp>
      <p:sp>
        <p:nvSpPr>
          <p:cNvPr id="40" name="Shape 38"/>
          <p:cNvSpPr/>
          <p:nvPr/>
        </p:nvSpPr>
        <p:spPr>
          <a:xfrm>
            <a:off x="502920" y="3346704"/>
            <a:ext cx="1417320" cy="530352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429000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4 脑室分割</a:t>
            </a:r>
            <a:endParaRPr lang="en-US" sz="720" dirty="0"/>
          </a:p>
        </p:txBody>
      </p:sp>
      <p:sp>
        <p:nvSpPr>
          <p:cNvPr id="42" name="Shape 40"/>
          <p:cNvSpPr/>
          <p:nvPr/>
        </p:nvSpPr>
        <p:spPr>
          <a:xfrm>
            <a:off x="1920240" y="3346704"/>
            <a:ext cx="1965960" cy="530352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65960" y="3429000"/>
            <a:ext cx="1874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CT + 颅腔 + 颅骨</a:t>
            </a:r>
            <a:endParaRPr lang="en-US" sz="720" dirty="0"/>
          </a:p>
        </p:txBody>
      </p:sp>
      <p:sp>
        <p:nvSpPr>
          <p:cNvPr id="44" name="Shape 42"/>
          <p:cNvSpPr/>
          <p:nvPr/>
        </p:nvSpPr>
        <p:spPr>
          <a:xfrm>
            <a:off x="3886200" y="3346704"/>
            <a:ext cx="2971800" cy="530352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931920" y="3429000"/>
            <a:ext cx="2880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找到路径需要避开的脑室区域</a:t>
            </a:r>
            <a:endParaRPr lang="en-US" sz="720" dirty="0"/>
          </a:p>
        </p:txBody>
      </p:sp>
      <p:sp>
        <p:nvSpPr>
          <p:cNvPr id="46" name="Shape 44"/>
          <p:cNvSpPr/>
          <p:nvPr/>
        </p:nvSpPr>
        <p:spPr>
          <a:xfrm>
            <a:off x="6858000" y="3346704"/>
            <a:ext cx="2880360" cy="530352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03720" y="3429000"/>
            <a:ext cx="2788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ventricle_mask / stats / 3D</a:t>
            </a:r>
            <a:endParaRPr lang="en-US" sz="720" dirty="0"/>
          </a:p>
        </p:txBody>
      </p:sp>
      <p:sp>
        <p:nvSpPr>
          <p:cNvPr id="48" name="Shape 46"/>
          <p:cNvSpPr/>
          <p:nvPr/>
        </p:nvSpPr>
        <p:spPr>
          <a:xfrm>
            <a:off x="685800" y="4343400"/>
            <a:ext cx="5166360" cy="1325880"/>
          </a:xfrm>
          <a:prstGeom prst="roundRect">
            <a:avLst>
              <a:gd name="adj" fmla="val 4138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14400" y="4544568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34D399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这一阶段的汇报口径</a:t>
            </a:r>
            <a:endParaRPr lang="en-US" sz="1120" dirty="0"/>
          </a:p>
        </p:txBody>
      </p:sp>
      <p:sp>
        <p:nvSpPr>
          <p:cNvPr id="50" name="Text 48"/>
          <p:cNvSpPr/>
          <p:nvPr/>
        </p:nvSpPr>
        <p:spPr>
          <a:xfrm>
            <a:off x="914400" y="4892040"/>
            <a:ext cx="4727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先把数据格式统一，再逐步生成结构 mask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颅骨是后续颅腔提取和入颅点采样的基础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血肿分割是粗筛结果，必须看 overlay 图复核</a:t>
            </a:r>
            <a:endParaRPr lang="en-US" sz="880" dirty="0"/>
          </a:p>
        </p:txBody>
      </p:sp>
      <p:sp>
        <p:nvSpPr>
          <p:cNvPr id="51" name="Shape 49"/>
          <p:cNvSpPr/>
          <p:nvPr/>
        </p:nvSpPr>
        <p:spPr>
          <a:xfrm>
            <a:off x="6144768" y="4343400"/>
            <a:ext cx="5166360" cy="1325880"/>
          </a:xfrm>
          <a:prstGeom prst="roundRect">
            <a:avLst>
              <a:gd name="adj" fmla="val 4138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73368" y="4544568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05252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当前跑出的关键结果</a:t>
            </a:r>
            <a:endParaRPr lang="en-US" sz="1120" dirty="0"/>
          </a:p>
        </p:txBody>
      </p:sp>
      <p:sp>
        <p:nvSpPr>
          <p:cNvPr id="53" name="Text 51"/>
          <p:cNvSpPr/>
          <p:nvPr/>
        </p:nvSpPr>
        <p:spPr>
          <a:xfrm>
            <a:off x="6373368" y="4892040"/>
            <a:ext cx="4727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成功转换 8 个体数据序列，失败 0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2 个病例均完成颅骨、脑组织和脑室分割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病例 0099039449 检出疑似血肿 8.37 mL</a:t>
            </a:r>
            <a:endParaRPr lang="en-US" sz="8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DETAILS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步骤 5-9 的输入、目的和输出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后半段重点是建立避让约束，寻找路径，并生成交付报告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16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502920" y="1298448"/>
            <a:ext cx="1417320" cy="38404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80744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步骤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1920240" y="1298448"/>
            <a:ext cx="2057400" cy="38404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65960" y="1380744"/>
            <a:ext cx="1965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输入</a:t>
            </a:r>
            <a:endParaRPr lang="en-US" sz="730" dirty="0"/>
          </a:p>
        </p:txBody>
      </p:sp>
      <p:sp>
        <p:nvSpPr>
          <p:cNvPr id="12" name="Shape 10"/>
          <p:cNvSpPr/>
          <p:nvPr/>
        </p:nvSpPr>
        <p:spPr>
          <a:xfrm>
            <a:off x="3977640" y="1298448"/>
            <a:ext cx="2880360" cy="38404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0" y="1380744"/>
            <a:ext cx="2788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核心目的</a:t>
            </a:r>
            <a:endParaRPr lang="en-US" sz="730" dirty="0"/>
          </a:p>
        </p:txBody>
      </p:sp>
      <p:sp>
        <p:nvSpPr>
          <p:cNvPr id="14" name="Shape 12"/>
          <p:cNvSpPr/>
          <p:nvPr/>
        </p:nvSpPr>
        <p:spPr>
          <a:xfrm>
            <a:off x="6858000" y="1298448"/>
            <a:ext cx="2880360" cy="38404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03720" y="1380744"/>
            <a:ext cx="2788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主要输出</a:t>
            </a:r>
            <a:endParaRPr lang="en-US" sz="730" dirty="0"/>
          </a:p>
        </p:txBody>
      </p:sp>
      <p:sp>
        <p:nvSpPr>
          <p:cNvPr id="16" name="Shape 14"/>
          <p:cNvSpPr/>
          <p:nvPr/>
        </p:nvSpPr>
        <p:spPr>
          <a:xfrm>
            <a:off x="502920" y="1682496"/>
            <a:ext cx="1417320" cy="457200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1764792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5 血管风险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1920240" y="1682496"/>
            <a:ext cx="2057400" cy="457200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65960" y="1764792"/>
            <a:ext cx="1965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CT + 颅腔 + 血肿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3977640" y="1682496"/>
            <a:ext cx="2880360" cy="457200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0" y="1764792"/>
            <a:ext cx="2788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平扫 CT 下生成保守避让区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6858000" y="1682496"/>
            <a:ext cx="2880360" cy="457200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03720" y="1764792"/>
            <a:ext cx="2788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vessel_risk_mask / stats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502920" y="2139696"/>
            <a:ext cx="1417320" cy="457200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2221992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6 脑干近似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1920240" y="2139696"/>
            <a:ext cx="2057400" cy="457200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65960" y="2221992"/>
            <a:ext cx="1965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CT + 颅腔 + 脑组织</a:t>
            </a:r>
            <a:endParaRPr lang="en-US" sz="720" dirty="0"/>
          </a:p>
        </p:txBody>
      </p:sp>
      <p:sp>
        <p:nvSpPr>
          <p:cNvPr id="28" name="Shape 26"/>
          <p:cNvSpPr/>
          <p:nvPr/>
        </p:nvSpPr>
        <p:spPr>
          <a:xfrm>
            <a:off x="3977640" y="2139696"/>
            <a:ext cx="2880360" cy="457200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23360" y="2221992"/>
            <a:ext cx="2788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估算脑干禁区，路径规划避让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6858000" y="2139696"/>
            <a:ext cx="2880360" cy="457200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03720" y="2221992"/>
            <a:ext cx="2788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brainstem_mask / overlay</a:t>
            </a:r>
            <a:endParaRPr lang="en-US" sz="720" dirty="0"/>
          </a:p>
        </p:txBody>
      </p:sp>
      <p:sp>
        <p:nvSpPr>
          <p:cNvPr id="32" name="Shape 30"/>
          <p:cNvSpPr/>
          <p:nvPr/>
        </p:nvSpPr>
        <p:spPr>
          <a:xfrm>
            <a:off x="502920" y="2596896"/>
            <a:ext cx="1417320" cy="457200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2679192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7 功能区近似</a:t>
            </a:r>
            <a:endParaRPr lang="en-US" sz="720" dirty="0"/>
          </a:p>
        </p:txBody>
      </p:sp>
      <p:sp>
        <p:nvSpPr>
          <p:cNvPr id="34" name="Shape 32"/>
          <p:cNvSpPr/>
          <p:nvPr/>
        </p:nvSpPr>
        <p:spPr>
          <a:xfrm>
            <a:off x="1920240" y="2596896"/>
            <a:ext cx="2057400" cy="457200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965960" y="2679192"/>
            <a:ext cx="1965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颅腔 + 脑组织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3977640" y="2596896"/>
            <a:ext cx="2880360" cy="457200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23360" y="2679192"/>
            <a:ext cx="2788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按经验位置画功能区禁区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6858000" y="2596896"/>
            <a:ext cx="2880360" cy="457200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03720" y="2679192"/>
            <a:ext cx="2788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eloquent masks / stats</a:t>
            </a:r>
            <a:endParaRPr lang="en-US" sz="720" dirty="0"/>
          </a:p>
        </p:txBody>
      </p:sp>
      <p:sp>
        <p:nvSpPr>
          <p:cNvPr id="40" name="Shape 38"/>
          <p:cNvSpPr/>
          <p:nvPr/>
        </p:nvSpPr>
        <p:spPr>
          <a:xfrm>
            <a:off x="502920" y="3054096"/>
            <a:ext cx="1417320" cy="457200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136392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8 路径规划</a:t>
            </a:r>
            <a:endParaRPr lang="en-US" sz="720" dirty="0"/>
          </a:p>
        </p:txBody>
      </p:sp>
      <p:sp>
        <p:nvSpPr>
          <p:cNvPr id="42" name="Shape 40"/>
          <p:cNvSpPr/>
          <p:nvPr/>
        </p:nvSpPr>
        <p:spPr>
          <a:xfrm>
            <a:off x="1920240" y="3054096"/>
            <a:ext cx="2057400" cy="457200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65960" y="3136392"/>
            <a:ext cx="1965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颅骨 + 血肿 + 禁区 masks</a:t>
            </a:r>
            <a:endParaRPr lang="en-US" sz="720" dirty="0"/>
          </a:p>
        </p:txBody>
      </p:sp>
      <p:sp>
        <p:nvSpPr>
          <p:cNvPr id="44" name="Shape 42"/>
          <p:cNvSpPr/>
          <p:nvPr/>
        </p:nvSpPr>
        <p:spPr>
          <a:xfrm>
            <a:off x="3977640" y="3054096"/>
            <a:ext cx="2880360" cy="457200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023360" y="3136392"/>
            <a:ext cx="2788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找短、直、避开风险区的候选路径</a:t>
            </a:r>
            <a:endParaRPr lang="en-US" sz="720" dirty="0"/>
          </a:p>
        </p:txBody>
      </p:sp>
      <p:sp>
        <p:nvSpPr>
          <p:cNvPr id="46" name="Shape 44"/>
          <p:cNvSpPr/>
          <p:nvPr/>
        </p:nvSpPr>
        <p:spPr>
          <a:xfrm>
            <a:off x="6858000" y="3054096"/>
            <a:ext cx="2880360" cy="457200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03720" y="3136392"/>
            <a:ext cx="2788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paths.json / overlay / 3D</a:t>
            </a:r>
            <a:endParaRPr lang="en-US" sz="720" dirty="0"/>
          </a:p>
        </p:txBody>
      </p:sp>
      <p:sp>
        <p:nvSpPr>
          <p:cNvPr id="48" name="Shape 46"/>
          <p:cNvSpPr/>
          <p:nvPr/>
        </p:nvSpPr>
        <p:spPr>
          <a:xfrm>
            <a:off x="502920" y="3511296"/>
            <a:ext cx="1417320" cy="457200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" y="3593592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9 报告生成</a:t>
            </a:r>
            <a:endParaRPr lang="en-US" sz="720" dirty="0"/>
          </a:p>
        </p:txBody>
      </p:sp>
      <p:sp>
        <p:nvSpPr>
          <p:cNvPr id="50" name="Shape 48"/>
          <p:cNvSpPr/>
          <p:nvPr/>
        </p:nvSpPr>
        <p:spPr>
          <a:xfrm>
            <a:off x="1920240" y="3511296"/>
            <a:ext cx="2057400" cy="457200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965960" y="3593592"/>
            <a:ext cx="1965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PNG + JSON 结果</a:t>
            </a:r>
            <a:endParaRPr lang="en-US" sz="720" dirty="0"/>
          </a:p>
        </p:txBody>
      </p:sp>
      <p:sp>
        <p:nvSpPr>
          <p:cNvPr id="52" name="Shape 50"/>
          <p:cNvSpPr/>
          <p:nvPr/>
        </p:nvSpPr>
        <p:spPr>
          <a:xfrm>
            <a:off x="3977640" y="3511296"/>
            <a:ext cx="2880360" cy="457200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023360" y="3593592"/>
            <a:ext cx="2788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整理为可阅读方案和 PDF</a:t>
            </a:r>
            <a:endParaRPr lang="en-US" sz="720" dirty="0"/>
          </a:p>
        </p:txBody>
      </p:sp>
      <p:sp>
        <p:nvSpPr>
          <p:cNvPr id="54" name="Shape 52"/>
          <p:cNvSpPr/>
          <p:nvPr/>
        </p:nvSpPr>
        <p:spPr>
          <a:xfrm>
            <a:off x="6858000" y="3511296"/>
            <a:ext cx="2880360" cy="457200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903720" y="3593592"/>
            <a:ext cx="2788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plan.txt / report.pdf</a:t>
            </a:r>
            <a:endParaRPr lang="en-US" sz="720" dirty="0"/>
          </a:p>
        </p:txBody>
      </p:sp>
      <p:sp>
        <p:nvSpPr>
          <p:cNvPr id="56" name="Shape 54"/>
          <p:cNvSpPr/>
          <p:nvPr/>
        </p:nvSpPr>
        <p:spPr>
          <a:xfrm>
            <a:off x="685800" y="4736592"/>
            <a:ext cx="5166360" cy="1143000"/>
          </a:xfrm>
          <a:prstGeom prst="roundRect">
            <a:avLst>
              <a:gd name="adj" fmla="val 4800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86968" y="4919472"/>
            <a:ext cx="4764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F59E0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为什么要做风险禁区</a:t>
            </a:r>
            <a:endParaRPr lang="en-US" sz="1080" dirty="0"/>
          </a:p>
        </p:txBody>
      </p:sp>
      <p:sp>
        <p:nvSpPr>
          <p:cNvPr id="58" name="Text 56"/>
          <p:cNvSpPr/>
          <p:nvPr/>
        </p:nvSpPr>
        <p:spPr>
          <a:xfrm>
            <a:off x="886968" y="5239512"/>
            <a:ext cx="4764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路径规划不是只追求最短。如果直线穿过脑室、脑干、功能区或血管风险区域，即使很短也会被拒绝。当前风险区多数是保守近似，作用是帮助程序“宁可绕开，也不冒险”。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144768" y="4736592"/>
            <a:ext cx="5166360" cy="1143000"/>
          </a:xfrm>
          <a:prstGeom prst="roundRect">
            <a:avLst>
              <a:gd name="adj" fmla="val 4800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45936" y="4919472"/>
            <a:ext cx="4764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为什么还要生成报告</a:t>
            </a:r>
            <a:endParaRPr lang="en-US" sz="1080" dirty="0"/>
          </a:p>
        </p:txBody>
      </p:sp>
      <p:sp>
        <p:nvSpPr>
          <p:cNvPr id="61" name="Text 59"/>
          <p:cNvSpPr/>
          <p:nvPr/>
        </p:nvSpPr>
        <p:spPr>
          <a:xfrm>
            <a:off x="6345936" y="5239512"/>
            <a:ext cx="4764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算法结果分散在 mask、PNG、JSON 中，直接阅读成本很高。报告生成步骤把路径、体积、坐标、叠加图统一整理，便于人工复核、项目汇报和后续归档。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EXPLAINER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从颅骨到血肿：核心分割逻辑白话解释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这页用于讲清楚项目最核心的“找血肿”过程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17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21792" y="1298448"/>
            <a:ext cx="6035040" cy="2267712"/>
          </a:xfrm>
          <a:prstGeom prst="roundRect">
            <a:avLst>
              <a:gd name="adj" fmla="val 2419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9" name="Image 0" descr="/Users/thy/Desktop/KeTiZu/proj_260608/Songtt_proj01/output_nifti/patient_0099039449/CT_brain_0.80_Hr40_S3_00000262_brain_overla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" y="1353312"/>
            <a:ext cx="5925312" cy="18836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8096" y="3291840"/>
            <a:ext cx="57424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脑组织与血肿 overlay</a:t>
            </a:r>
            <a:endParaRPr lang="en-US" sz="730" dirty="0"/>
          </a:p>
        </p:txBody>
      </p:sp>
      <p:sp>
        <p:nvSpPr>
          <p:cNvPr id="11" name="Shape 8"/>
          <p:cNvSpPr/>
          <p:nvPr/>
        </p:nvSpPr>
        <p:spPr>
          <a:xfrm>
            <a:off x="6903720" y="1298448"/>
            <a:ext cx="4434840" cy="1024128"/>
          </a:xfrm>
          <a:prstGeom prst="roundRect">
            <a:avLst>
              <a:gd name="adj" fmla="val 5357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04888" y="1481328"/>
            <a:ext cx="4032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34D399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第一步：由骨头推颅腔</a:t>
            </a:r>
            <a:endParaRPr lang="en-US" sz="1080" dirty="0"/>
          </a:p>
        </p:txBody>
      </p:sp>
      <p:sp>
        <p:nvSpPr>
          <p:cNvPr id="13" name="Text 10"/>
          <p:cNvSpPr/>
          <p:nvPr/>
        </p:nvSpPr>
        <p:spPr>
          <a:xfrm>
            <a:off x="7104888" y="1801368"/>
            <a:ext cx="4032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先找到头骨壳，再把壳里面的空间填出来，减掉骨头本身，得到大致颅腔。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903720" y="2487168"/>
            <a:ext cx="4434840" cy="1024128"/>
          </a:xfrm>
          <a:prstGeom prst="roundRect">
            <a:avLst>
              <a:gd name="adj" fmla="val 5357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04888" y="2670048"/>
            <a:ext cx="4032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第二步：在颅腔里筛脑组织</a:t>
            </a:r>
            <a:endParaRPr lang="en-US" sz="1080" dirty="0"/>
          </a:p>
        </p:txBody>
      </p:sp>
      <p:sp>
        <p:nvSpPr>
          <p:cNvPr id="16" name="Text 13"/>
          <p:cNvSpPr/>
          <p:nvPr/>
        </p:nvSpPr>
        <p:spPr>
          <a:xfrm>
            <a:off x="7104888" y="2990088"/>
            <a:ext cx="4032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用 HU 0-80 的范围提取脑组织和类似软组织区域。血肿通常也在这个范围内，所以会被包含进去。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903720" y="3675888"/>
            <a:ext cx="4434840" cy="1078992"/>
          </a:xfrm>
          <a:prstGeom prst="roundRect">
            <a:avLst>
              <a:gd name="adj" fmla="val 5085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104888" y="3858768"/>
            <a:ext cx="4032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F05252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第三步：筛疑似血肿</a:t>
            </a:r>
            <a:endParaRPr lang="en-US" sz="1080" dirty="0"/>
          </a:p>
        </p:txBody>
      </p:sp>
      <p:sp>
        <p:nvSpPr>
          <p:cNvPr id="19" name="Text 16"/>
          <p:cNvSpPr/>
          <p:nvPr/>
        </p:nvSpPr>
        <p:spPr>
          <a:xfrm>
            <a:off x="7104888" y="4178808"/>
            <a:ext cx="40325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新鲜出血通常更亮，项目用 HU 45-80 作为候选，再用体积、距骨距离和形状实心度过滤明显误判。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621792" y="3977640"/>
            <a:ext cx="6035040" cy="1325880"/>
          </a:xfrm>
          <a:prstGeom prst="roundRect">
            <a:avLst>
              <a:gd name="adj" fmla="val 4138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50392" y="4178808"/>
            <a:ext cx="5577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05252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这一步的注意事项</a:t>
            </a:r>
            <a:endParaRPr lang="en-US" sz="1120" dirty="0"/>
          </a:p>
        </p:txBody>
      </p:sp>
      <p:sp>
        <p:nvSpPr>
          <p:cNvPr id="22" name="Text 19"/>
          <p:cNvSpPr/>
          <p:nvPr/>
        </p:nvSpPr>
        <p:spPr>
          <a:xfrm>
            <a:off x="850392" y="4526280"/>
            <a:ext cx="5596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血肿结果是“粗分割”，不是最终诊断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钙化、骨边缘伪影等也可能偏亮，需要人工看图确认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本例检出 1 个疑似血肿，体积约 8.37 mL</a:t>
            </a:r>
            <a:endParaRPr lang="en-US" sz="8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EXPLAINER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为什么血管、脑干、功能区只能做近似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这页用于避免听众误解：这些不是精准医学分割，而是路径规划避让用的保守区域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18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594360" y="1298448"/>
            <a:ext cx="3474720" cy="1874520"/>
          </a:xfrm>
          <a:prstGeom prst="roundRect">
            <a:avLst>
              <a:gd name="adj" fmla="val 2927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9" name="Image 0" descr="/Users/thy/Desktop/KeTiZu/proj_260608/Songtt_proj01/output_nifti/patient_0099039449/CT_brain_0.80_Hr40_S3_00000262_vessel_overla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9224" y="1353312"/>
            <a:ext cx="3364992" cy="1490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40664" y="2898648"/>
            <a:ext cx="31821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血管风险区</a:t>
            </a:r>
            <a:endParaRPr lang="en-US" sz="730" dirty="0"/>
          </a:p>
        </p:txBody>
      </p:sp>
      <p:sp>
        <p:nvSpPr>
          <p:cNvPr id="11" name="Shape 8"/>
          <p:cNvSpPr/>
          <p:nvPr/>
        </p:nvSpPr>
        <p:spPr>
          <a:xfrm>
            <a:off x="4343400" y="1298448"/>
            <a:ext cx="3474720" cy="1874520"/>
          </a:xfrm>
          <a:prstGeom prst="roundRect">
            <a:avLst>
              <a:gd name="adj" fmla="val 2927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12" name="Image 1" descr="/Users/thy/Desktop/KeTiZu/proj_260608/Songtt_proj01/output_nifti/patient_0099039449/CT_brain_0.80_Hr40_S3_00000262_brainstem_overlay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98264" y="1353312"/>
            <a:ext cx="3364992" cy="1490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89704" y="2898648"/>
            <a:ext cx="31821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脑干近似区</a:t>
            </a:r>
            <a:endParaRPr lang="en-US" sz="730" dirty="0"/>
          </a:p>
        </p:txBody>
      </p:sp>
      <p:sp>
        <p:nvSpPr>
          <p:cNvPr id="14" name="Shape 10"/>
          <p:cNvSpPr/>
          <p:nvPr/>
        </p:nvSpPr>
        <p:spPr>
          <a:xfrm>
            <a:off x="8092440" y="1298448"/>
            <a:ext cx="3474720" cy="1874520"/>
          </a:xfrm>
          <a:prstGeom prst="roundRect">
            <a:avLst>
              <a:gd name="adj" fmla="val 2927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15" name="Image 2" descr="/Users/thy/Desktop/KeTiZu/proj_260608/Songtt_proj01/output_nifti/patient_0099039449/CT_brain_0.80_Hr40_S3_00000262_eloquent_overlay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47304" y="1353312"/>
            <a:ext cx="3364992" cy="1490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38744" y="2898648"/>
            <a:ext cx="31821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功能区近似区</a:t>
            </a:r>
            <a:endParaRPr lang="en-US" sz="730" dirty="0"/>
          </a:p>
        </p:txBody>
      </p:sp>
      <p:sp>
        <p:nvSpPr>
          <p:cNvPr id="17" name="Shape 12"/>
          <p:cNvSpPr/>
          <p:nvPr/>
        </p:nvSpPr>
        <p:spPr>
          <a:xfrm>
            <a:off x="594360" y="3493008"/>
            <a:ext cx="3474720" cy="1417320"/>
          </a:xfrm>
          <a:prstGeom prst="roundRect">
            <a:avLst>
              <a:gd name="adj" fmla="val 3871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795528" y="3675888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F59E0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血管风险</a:t>
            </a:r>
            <a:endParaRPr lang="en-US" sz="1080" dirty="0"/>
          </a:p>
        </p:txBody>
      </p:sp>
      <p:sp>
        <p:nvSpPr>
          <p:cNvPr id="19" name="Text 14"/>
          <p:cNvSpPr/>
          <p:nvPr/>
        </p:nvSpPr>
        <p:spPr>
          <a:xfrm>
            <a:off x="795528" y="3995928"/>
            <a:ext cx="3072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普通平扫 CT 看不清很多未钙化血管，因此脚本用高密度结构和解剖先验画出“可能危险”的避让区。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4343400" y="3493008"/>
            <a:ext cx="3474720" cy="1417320"/>
          </a:xfrm>
          <a:prstGeom prst="roundRect">
            <a:avLst>
              <a:gd name="adj" fmla="val 3871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544568" y="3675888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F05252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脑干近似</a:t>
            </a:r>
            <a:endParaRPr lang="en-US" sz="1080" dirty="0"/>
          </a:p>
        </p:txBody>
      </p:sp>
      <p:sp>
        <p:nvSpPr>
          <p:cNvPr id="22" name="Text 17"/>
          <p:cNvSpPr/>
          <p:nvPr/>
        </p:nvSpPr>
        <p:spPr>
          <a:xfrm>
            <a:off x="4544568" y="3995928"/>
            <a:ext cx="3072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脑干在 CT 上和周围脑组织灰度接近，脚本只能根据颅腔下部、中线附近的位置估算禁区。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8092440" y="3493008"/>
            <a:ext cx="3474720" cy="1417320"/>
          </a:xfrm>
          <a:prstGeom prst="roundRect">
            <a:avLst>
              <a:gd name="adj" fmla="val 3871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293608" y="3675888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A78BF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功能区近似</a:t>
            </a:r>
            <a:endParaRPr lang="en-US" sz="1080" dirty="0"/>
          </a:p>
        </p:txBody>
      </p:sp>
      <p:sp>
        <p:nvSpPr>
          <p:cNvPr id="25" name="Text 20"/>
          <p:cNvSpPr/>
          <p:nvPr/>
        </p:nvSpPr>
        <p:spPr>
          <a:xfrm>
            <a:off x="8293608" y="3995928"/>
            <a:ext cx="3072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真正功能区需要 MRI、fMRI 或图谱配准；当前只是按经验位置画运动、语言、视觉和深部核团避让区。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594360" y="5321808"/>
            <a:ext cx="10972800" cy="594360"/>
          </a:xfrm>
          <a:prstGeom prst="roundRect">
            <a:avLst>
              <a:gd name="adj" fmla="val 9231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822960" y="5522976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汇报时建议这样说</a:t>
            </a:r>
            <a:endParaRPr lang="en-US" sz="1120" dirty="0"/>
          </a:p>
        </p:txBody>
      </p:sp>
      <p:sp>
        <p:nvSpPr>
          <p:cNvPr id="28" name="Text 23"/>
          <p:cNvSpPr/>
          <p:nvPr/>
        </p:nvSpPr>
        <p:spPr>
          <a:xfrm>
            <a:off x="822960" y="5870448"/>
            <a:ext cx="10533888" cy="-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• 这些 mask 的用途是路径规划避让，不应被称为真实血管或真实功能区分割；后续有 CTA/MRI 后应替换为更精确的模型。</a:t>
            </a:r>
            <a:endParaRPr lang="en-US" sz="8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EXPLAINER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路径规划是怎样筛出 Top 路径的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从 1500 个候选入颅点出发，逐条直线检查，最后只保留合法路径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19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21792" y="1298448"/>
            <a:ext cx="6035040" cy="2304288"/>
          </a:xfrm>
          <a:prstGeom prst="roundRect">
            <a:avLst>
              <a:gd name="adj" fmla="val 2381"/>
            </a:avLst>
          </a:prstGeom>
          <a:solidFill>
            <a:srgbClr val="081421"/>
          </a:solidFill>
          <a:ln w="12700">
            <a:solidFill>
              <a:srgbClr val="203A55">
                <a:alpha val="90000"/>
              </a:srgbClr>
            </a:solidFill>
            <a:prstDash val="solid"/>
          </a:ln>
        </p:spPr>
      </p:sp>
      <p:pic>
        <p:nvPicPr>
          <p:cNvPr id="9" name="Image 0" descr="/Users/thy/Desktop/KeTiZu/proj_260608/Songtt_proj01/output_nifti/patient_0099039449/CT_brain_0.80_Hr40_S3_00000262_paths_overla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" y="1353312"/>
            <a:ext cx="5925312" cy="19202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8096" y="3328416"/>
            <a:ext cx="57424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路径 overlay</a:t>
            </a:r>
            <a:endParaRPr lang="en-US" sz="730" dirty="0"/>
          </a:p>
        </p:txBody>
      </p:sp>
      <p:sp>
        <p:nvSpPr>
          <p:cNvPr id="11" name="Shape 8"/>
          <p:cNvSpPr/>
          <p:nvPr/>
        </p:nvSpPr>
        <p:spPr>
          <a:xfrm>
            <a:off x="6903720" y="1261872"/>
            <a:ext cx="4434840" cy="804672"/>
          </a:xfrm>
          <a:prstGeom prst="roundRect">
            <a:avLst>
              <a:gd name="adj" fmla="val 6818"/>
            </a:avLst>
          </a:prstGeom>
          <a:solidFill>
            <a:srgbClr val="13243A"/>
          </a:solidFill>
          <a:ln w="12700">
            <a:solidFill>
              <a:srgbClr val="38BDF8">
                <a:alpha val="9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086600" y="1444752"/>
            <a:ext cx="347472" cy="34747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086600" y="1527048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7111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</a:t>
            </a:r>
            <a:endParaRPr lang="en-US" sz="720" dirty="0"/>
          </a:p>
        </p:txBody>
      </p:sp>
      <p:sp>
        <p:nvSpPr>
          <p:cNvPr id="14" name="Text 11"/>
          <p:cNvSpPr/>
          <p:nvPr/>
        </p:nvSpPr>
        <p:spPr>
          <a:xfrm>
            <a:off x="7562088" y="1389888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采样入颅点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7562088" y="1618488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从颅骨外表面取 1500 个候选点，排除面部和颅底区域。</a:t>
            </a:r>
            <a:endParaRPr lang="en-US" sz="720" dirty="0"/>
          </a:p>
        </p:txBody>
      </p:sp>
      <p:sp>
        <p:nvSpPr>
          <p:cNvPr id="16" name="Shape 13"/>
          <p:cNvSpPr/>
          <p:nvPr/>
        </p:nvSpPr>
        <p:spPr>
          <a:xfrm>
            <a:off x="6903720" y="2249424"/>
            <a:ext cx="4434840" cy="804672"/>
          </a:xfrm>
          <a:prstGeom prst="roundRect">
            <a:avLst>
              <a:gd name="adj" fmla="val 6818"/>
            </a:avLst>
          </a:prstGeom>
          <a:solidFill>
            <a:srgbClr val="13243A"/>
          </a:solidFill>
          <a:ln w="12700">
            <a:solidFill>
              <a:srgbClr val="34D399">
                <a:alpha val="90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086600" y="2432304"/>
            <a:ext cx="347472" cy="34747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086600" y="2514600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7111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2</a:t>
            </a:r>
            <a:endParaRPr lang="en-US" sz="720" dirty="0"/>
          </a:p>
        </p:txBody>
      </p:sp>
      <p:sp>
        <p:nvSpPr>
          <p:cNvPr id="19" name="Text 16"/>
          <p:cNvSpPr/>
          <p:nvPr/>
        </p:nvSpPr>
        <p:spPr>
          <a:xfrm>
            <a:off x="7562088" y="237744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采样目标点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7562088" y="2606040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沿血肿 PCA 长轴取远端、质心、远端三个目标点。</a:t>
            </a:r>
            <a:endParaRPr lang="en-US" sz="720" dirty="0"/>
          </a:p>
        </p:txBody>
      </p:sp>
      <p:sp>
        <p:nvSpPr>
          <p:cNvPr id="21" name="Shape 18"/>
          <p:cNvSpPr/>
          <p:nvPr/>
        </p:nvSpPr>
        <p:spPr>
          <a:xfrm>
            <a:off x="6903720" y="3236976"/>
            <a:ext cx="4434840" cy="804672"/>
          </a:xfrm>
          <a:prstGeom prst="roundRect">
            <a:avLst>
              <a:gd name="adj" fmla="val 6818"/>
            </a:avLst>
          </a:prstGeom>
          <a:solidFill>
            <a:srgbClr val="13243A"/>
          </a:solidFill>
          <a:ln w="12700">
            <a:solidFill>
              <a:srgbClr val="F59E0B">
                <a:alpha val="90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086600" y="3419856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086600" y="3502152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7111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3</a:t>
            </a:r>
            <a:endParaRPr lang="en-US" sz="720" dirty="0"/>
          </a:p>
        </p:txBody>
      </p:sp>
      <p:sp>
        <p:nvSpPr>
          <p:cNvPr id="24" name="Text 21"/>
          <p:cNvSpPr/>
          <p:nvPr/>
        </p:nvSpPr>
        <p:spPr>
          <a:xfrm>
            <a:off x="7562088" y="336499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逐线检查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7562088" y="3593592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每条入颅点到目标点的直线都检查骨厚、颅腔比例和禁区碰撞。</a:t>
            </a:r>
            <a:endParaRPr lang="en-US" sz="720" dirty="0"/>
          </a:p>
        </p:txBody>
      </p:sp>
      <p:sp>
        <p:nvSpPr>
          <p:cNvPr id="26" name="Shape 23"/>
          <p:cNvSpPr/>
          <p:nvPr/>
        </p:nvSpPr>
        <p:spPr>
          <a:xfrm>
            <a:off x="6903720" y="4224528"/>
            <a:ext cx="4434840" cy="804672"/>
          </a:xfrm>
          <a:prstGeom prst="roundRect">
            <a:avLst>
              <a:gd name="adj" fmla="val 6818"/>
            </a:avLst>
          </a:prstGeom>
          <a:solidFill>
            <a:srgbClr val="13243A"/>
          </a:solidFill>
          <a:ln w="12700">
            <a:solidFill>
              <a:srgbClr val="A78BFA">
                <a:alpha val="90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086600" y="4407408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086600" y="4489704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7111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4</a:t>
            </a:r>
            <a:endParaRPr lang="en-US" sz="720" dirty="0"/>
          </a:p>
        </p:txBody>
      </p:sp>
      <p:sp>
        <p:nvSpPr>
          <p:cNvPr id="29" name="Text 26"/>
          <p:cNvSpPr/>
          <p:nvPr/>
        </p:nvSpPr>
        <p:spPr>
          <a:xfrm>
            <a:off x="7562088" y="4352544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78BF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排序输出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7562088" y="4581144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按路径长度和入颅角度打分，越短、越接近合适角度越优。</a:t>
            </a:r>
            <a:endParaRPr lang="en-US" sz="720" dirty="0"/>
          </a:p>
        </p:txBody>
      </p:sp>
      <p:sp>
        <p:nvSpPr>
          <p:cNvPr id="31" name="Shape 28"/>
          <p:cNvSpPr/>
          <p:nvPr/>
        </p:nvSpPr>
        <p:spPr>
          <a:xfrm>
            <a:off x="621792" y="4041648"/>
            <a:ext cx="141732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67512" y="4123944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指标</a:t>
            </a:r>
            <a:endParaRPr lang="en-US" sz="730" dirty="0"/>
          </a:p>
        </p:txBody>
      </p:sp>
      <p:sp>
        <p:nvSpPr>
          <p:cNvPr id="33" name="Shape 30"/>
          <p:cNvSpPr/>
          <p:nvPr/>
        </p:nvSpPr>
        <p:spPr>
          <a:xfrm>
            <a:off x="2039112" y="4041648"/>
            <a:ext cx="1508760" cy="33832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084832" y="4123944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本次结果</a:t>
            </a:r>
            <a:endParaRPr lang="en-US" sz="730" dirty="0"/>
          </a:p>
        </p:txBody>
      </p:sp>
      <p:sp>
        <p:nvSpPr>
          <p:cNvPr id="35" name="Shape 32"/>
          <p:cNvSpPr/>
          <p:nvPr/>
        </p:nvSpPr>
        <p:spPr>
          <a:xfrm>
            <a:off x="621792" y="4379976"/>
            <a:ext cx="1417320" cy="310896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67512" y="4462272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候选入颅点</a:t>
            </a:r>
            <a:endParaRPr lang="en-US" sz="720" dirty="0"/>
          </a:p>
        </p:txBody>
      </p:sp>
      <p:sp>
        <p:nvSpPr>
          <p:cNvPr id="37" name="Shape 34"/>
          <p:cNvSpPr/>
          <p:nvPr/>
        </p:nvSpPr>
        <p:spPr>
          <a:xfrm>
            <a:off x="2039112" y="4379976"/>
            <a:ext cx="1508760" cy="310896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084832" y="446227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1500 个</a:t>
            </a:r>
            <a:endParaRPr lang="en-US" sz="720" dirty="0"/>
          </a:p>
        </p:txBody>
      </p:sp>
      <p:sp>
        <p:nvSpPr>
          <p:cNvPr id="39" name="Shape 36"/>
          <p:cNvSpPr/>
          <p:nvPr/>
        </p:nvSpPr>
        <p:spPr>
          <a:xfrm>
            <a:off x="621792" y="4690872"/>
            <a:ext cx="1417320" cy="310896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67512" y="4773168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合法路径</a:t>
            </a:r>
            <a:endParaRPr lang="en-US" sz="720" dirty="0"/>
          </a:p>
        </p:txBody>
      </p:sp>
      <p:sp>
        <p:nvSpPr>
          <p:cNvPr id="41" name="Shape 38"/>
          <p:cNvSpPr/>
          <p:nvPr/>
        </p:nvSpPr>
        <p:spPr>
          <a:xfrm>
            <a:off x="2039112" y="4690872"/>
            <a:ext cx="1508760" cy="310896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2084832" y="4773168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2 条</a:t>
            </a:r>
            <a:endParaRPr lang="en-US" sz="720" dirty="0"/>
          </a:p>
        </p:txBody>
      </p:sp>
      <p:sp>
        <p:nvSpPr>
          <p:cNvPr id="43" name="Shape 40"/>
          <p:cNvSpPr/>
          <p:nvPr/>
        </p:nvSpPr>
        <p:spPr>
          <a:xfrm>
            <a:off x="621792" y="5001768"/>
            <a:ext cx="1417320" cy="310896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67512" y="5084064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Top-1 长度</a:t>
            </a:r>
            <a:endParaRPr lang="en-US" sz="720" dirty="0"/>
          </a:p>
        </p:txBody>
      </p:sp>
      <p:sp>
        <p:nvSpPr>
          <p:cNvPr id="45" name="Shape 42"/>
          <p:cNvSpPr/>
          <p:nvPr/>
        </p:nvSpPr>
        <p:spPr>
          <a:xfrm>
            <a:off x="2039112" y="5001768"/>
            <a:ext cx="1508760" cy="310896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2084832" y="5084064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50.6 mm</a:t>
            </a:r>
            <a:endParaRPr lang="en-US" sz="720" dirty="0"/>
          </a:p>
        </p:txBody>
      </p:sp>
      <p:sp>
        <p:nvSpPr>
          <p:cNvPr id="47" name="Shape 44"/>
          <p:cNvSpPr/>
          <p:nvPr/>
        </p:nvSpPr>
        <p:spPr>
          <a:xfrm>
            <a:off x="621792" y="5312664"/>
            <a:ext cx="1417320" cy="310896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67512" y="5394960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Top-1 入颅角度</a:t>
            </a:r>
            <a:endParaRPr lang="en-US" sz="720" dirty="0"/>
          </a:p>
        </p:txBody>
      </p:sp>
      <p:sp>
        <p:nvSpPr>
          <p:cNvPr id="49" name="Shape 46"/>
          <p:cNvSpPr/>
          <p:nvPr/>
        </p:nvSpPr>
        <p:spPr>
          <a:xfrm>
            <a:off x="2039112" y="5312664"/>
            <a:ext cx="1508760" cy="310896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2084832" y="5394960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18.1°</a:t>
            </a:r>
            <a:endParaRPr lang="en-US" sz="720" dirty="0"/>
          </a:p>
        </p:txBody>
      </p:sp>
      <p:sp>
        <p:nvSpPr>
          <p:cNvPr id="51" name="Shape 48"/>
          <p:cNvSpPr/>
          <p:nvPr/>
        </p:nvSpPr>
        <p:spPr>
          <a:xfrm>
            <a:off x="621792" y="5623560"/>
            <a:ext cx="1417320" cy="310896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67512" y="5705856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跳过病例</a:t>
            </a:r>
            <a:endParaRPr lang="en-US" sz="720" dirty="0"/>
          </a:p>
        </p:txBody>
      </p:sp>
      <p:sp>
        <p:nvSpPr>
          <p:cNvPr id="53" name="Shape 50"/>
          <p:cNvSpPr/>
          <p:nvPr/>
        </p:nvSpPr>
        <p:spPr>
          <a:xfrm>
            <a:off x="2039112" y="5623560"/>
            <a:ext cx="1508760" cy="310896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2084832" y="5705856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1 个：血肿 mask 为空</a:t>
            </a:r>
            <a:endParaRPr lang="en-US" sz="720" dirty="0"/>
          </a:p>
        </p:txBody>
      </p:sp>
      <p:sp>
        <p:nvSpPr>
          <p:cNvPr id="55" name="Shape 52"/>
          <p:cNvSpPr/>
          <p:nvPr/>
        </p:nvSpPr>
        <p:spPr>
          <a:xfrm>
            <a:off x="3794760" y="4041648"/>
            <a:ext cx="2880360" cy="1417320"/>
          </a:xfrm>
          <a:prstGeom prst="roundRect">
            <a:avLst>
              <a:gd name="adj" fmla="val 3871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3995928" y="4224528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F59E0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如何解读 Top-2</a:t>
            </a:r>
            <a:endParaRPr lang="en-US" sz="1080" dirty="0"/>
          </a:p>
        </p:txBody>
      </p:sp>
      <p:sp>
        <p:nvSpPr>
          <p:cNvPr id="57" name="Text 54"/>
          <p:cNvSpPr/>
          <p:nvPr/>
        </p:nvSpPr>
        <p:spPr>
          <a:xfrm>
            <a:off x="3995928" y="4544568"/>
            <a:ext cx="2478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第二条路径虽然合法，但长度 92.4 mm、角度 75.1°，说明它更多是备选记录，实际参考价值弱于 Top-1。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OUTPUT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如何解读最终输出文件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21208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9DB0C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这页可以作为汇报结尾或答疑页，说明每类文件给谁看、怎么用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19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Songtt_proj01 · 自动化流水线汇报 · 20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58368" y="1298448"/>
            <a:ext cx="1097280" cy="38404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1380744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文件类型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1755648" y="1298448"/>
            <a:ext cx="2057400" cy="38404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01368" y="1380744"/>
            <a:ext cx="1965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典型文件</a:t>
            </a:r>
            <a:endParaRPr lang="en-US" sz="730" dirty="0"/>
          </a:p>
        </p:txBody>
      </p:sp>
      <p:sp>
        <p:nvSpPr>
          <p:cNvPr id="12" name="Shape 10"/>
          <p:cNvSpPr/>
          <p:nvPr/>
        </p:nvSpPr>
        <p:spPr>
          <a:xfrm>
            <a:off x="3813048" y="1298448"/>
            <a:ext cx="5669280" cy="384048"/>
          </a:xfrm>
          <a:prstGeom prst="rect">
            <a:avLst/>
          </a:prstGeom>
          <a:solidFill>
            <a:srgbClr val="18304A"/>
          </a:solidFill>
          <a:ln w="6350">
            <a:solidFill>
              <a:srgbClr val="2944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58768" y="1380744"/>
            <a:ext cx="5577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用途</a:t>
            </a:r>
            <a:endParaRPr lang="en-US" sz="730" dirty="0"/>
          </a:p>
        </p:txBody>
      </p:sp>
      <p:sp>
        <p:nvSpPr>
          <p:cNvPr id="14" name="Shape 12"/>
          <p:cNvSpPr/>
          <p:nvPr/>
        </p:nvSpPr>
        <p:spPr>
          <a:xfrm>
            <a:off x="658368" y="1682496"/>
            <a:ext cx="1097280" cy="438912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1764792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.nii.gz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1755648" y="1682496"/>
            <a:ext cx="2057400" cy="438912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01368" y="1764792"/>
            <a:ext cx="1965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CT / mask 三维文件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3813048" y="1682496"/>
            <a:ext cx="5669280" cy="438912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58768" y="1764792"/>
            <a:ext cx="5577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给 3D Slicer 或程序继续分析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658368" y="2121408"/>
            <a:ext cx="1097280" cy="438912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" y="2203704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.png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1755648" y="2121408"/>
            <a:ext cx="2057400" cy="438912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01368" y="2203704"/>
            <a:ext cx="1965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preview / overlay / 3D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3813048" y="2121408"/>
            <a:ext cx="5669280" cy="438912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58768" y="2203704"/>
            <a:ext cx="5577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给人快速检查每一步效果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658368" y="2560320"/>
            <a:ext cx="1097280" cy="438912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4088" y="2642616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.json</a:t>
            </a:r>
            <a:endParaRPr lang="en-US" sz="720" dirty="0"/>
          </a:p>
        </p:txBody>
      </p:sp>
      <p:sp>
        <p:nvSpPr>
          <p:cNvPr id="28" name="Shape 26"/>
          <p:cNvSpPr/>
          <p:nvPr/>
        </p:nvSpPr>
        <p:spPr>
          <a:xfrm>
            <a:off x="1755648" y="2560320"/>
            <a:ext cx="2057400" cy="438912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01368" y="2642616"/>
            <a:ext cx="1965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brain_report / paths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3813048" y="2560320"/>
            <a:ext cx="5669280" cy="438912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58768" y="2642616"/>
            <a:ext cx="5577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保存体积、坐标、路径评分等结构化数据</a:t>
            </a:r>
            <a:endParaRPr lang="en-US" sz="720" dirty="0"/>
          </a:p>
        </p:txBody>
      </p:sp>
      <p:sp>
        <p:nvSpPr>
          <p:cNvPr id="32" name="Shape 30"/>
          <p:cNvSpPr/>
          <p:nvPr/>
        </p:nvSpPr>
        <p:spPr>
          <a:xfrm>
            <a:off x="658368" y="2999232"/>
            <a:ext cx="1097280" cy="438912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4088" y="308152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.txt</a:t>
            </a:r>
            <a:endParaRPr lang="en-US" sz="720" dirty="0"/>
          </a:p>
        </p:txBody>
      </p:sp>
      <p:sp>
        <p:nvSpPr>
          <p:cNvPr id="34" name="Shape 32"/>
          <p:cNvSpPr/>
          <p:nvPr/>
        </p:nvSpPr>
        <p:spPr>
          <a:xfrm>
            <a:off x="1755648" y="2999232"/>
            <a:ext cx="2057400" cy="438912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01368" y="3081528"/>
            <a:ext cx="1965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plan.txt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3813048" y="2999232"/>
            <a:ext cx="5669280" cy="438912"/>
          </a:xfrm>
          <a:prstGeom prst="rect">
            <a:avLst/>
          </a:prstGeom>
          <a:solidFill>
            <a:srgbClr val="102238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58768" y="3081528"/>
            <a:ext cx="5577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自然语言手术路径建议，便于阅读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658368" y="3438144"/>
            <a:ext cx="1097280" cy="438912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4088" y="352044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.pdf</a:t>
            </a:r>
            <a:endParaRPr lang="en-US" sz="720" dirty="0"/>
          </a:p>
        </p:txBody>
      </p:sp>
      <p:sp>
        <p:nvSpPr>
          <p:cNvPr id="40" name="Shape 38"/>
          <p:cNvSpPr/>
          <p:nvPr/>
        </p:nvSpPr>
        <p:spPr>
          <a:xfrm>
            <a:off x="1755648" y="3438144"/>
            <a:ext cx="2057400" cy="438912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801368" y="3520440"/>
            <a:ext cx="1965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report.pdf</a:t>
            </a:r>
            <a:endParaRPr lang="en-US" sz="720" dirty="0"/>
          </a:p>
        </p:txBody>
      </p:sp>
      <p:sp>
        <p:nvSpPr>
          <p:cNvPr id="42" name="Shape 40"/>
          <p:cNvSpPr/>
          <p:nvPr/>
        </p:nvSpPr>
        <p:spPr>
          <a:xfrm>
            <a:off x="3813048" y="3438144"/>
            <a:ext cx="5669280" cy="438912"/>
          </a:xfrm>
          <a:prstGeom prst="rect">
            <a:avLst/>
          </a:prstGeom>
          <a:solidFill>
            <a:srgbClr val="0D1B2C"/>
          </a:solidFill>
          <a:ln w="5715">
            <a:solidFill>
              <a:srgbClr val="2944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58768" y="3520440"/>
            <a:ext cx="5577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整合版病例报告，适合归档和汇报</a:t>
            </a:r>
            <a:endParaRPr lang="en-US" sz="720" dirty="0"/>
          </a:p>
        </p:txBody>
      </p:sp>
      <p:sp>
        <p:nvSpPr>
          <p:cNvPr id="44" name="Shape 42"/>
          <p:cNvSpPr/>
          <p:nvPr/>
        </p:nvSpPr>
        <p:spPr>
          <a:xfrm>
            <a:off x="658368" y="4224528"/>
            <a:ext cx="3383280" cy="1371600"/>
          </a:xfrm>
          <a:prstGeom prst="roundRect">
            <a:avLst>
              <a:gd name="adj" fmla="val 4000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59536" y="440740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34D399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对医生/评审</a:t>
            </a:r>
            <a:endParaRPr lang="en-US" sz="1080" dirty="0"/>
          </a:p>
        </p:txBody>
      </p:sp>
      <p:sp>
        <p:nvSpPr>
          <p:cNvPr id="46" name="Text 44"/>
          <p:cNvSpPr/>
          <p:nvPr/>
        </p:nvSpPr>
        <p:spPr>
          <a:xfrm>
            <a:off x="859536" y="4727448"/>
            <a:ext cx="2980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优先看 overlay 图和 PDF 报告，判断分割是否明显错误，路径是否穿过不合理区域。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343400" y="4224528"/>
            <a:ext cx="3383280" cy="1371600"/>
          </a:xfrm>
          <a:prstGeom prst="roundRect">
            <a:avLst>
              <a:gd name="adj" fmla="val 4000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44568" y="440740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38BDF8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对算法开发</a:t>
            </a:r>
            <a:endParaRPr lang="en-US" sz="1080" dirty="0"/>
          </a:p>
        </p:txBody>
      </p:sp>
      <p:sp>
        <p:nvSpPr>
          <p:cNvPr id="49" name="Text 47"/>
          <p:cNvSpPr/>
          <p:nvPr/>
        </p:nvSpPr>
        <p:spPr>
          <a:xfrm>
            <a:off x="4544568" y="4727448"/>
            <a:ext cx="2980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重点看 JSON 里的体积、连通域、拒绝统计和路径评分，用于调参和后续算法替换。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8028432" y="4224528"/>
            <a:ext cx="3291840" cy="1371600"/>
          </a:xfrm>
          <a:prstGeom prst="roundRect">
            <a:avLst>
              <a:gd name="adj" fmla="val 4000"/>
            </a:avLst>
          </a:prstGeom>
          <a:solidFill>
            <a:srgbClr val="0E1A2B"/>
          </a:solidFill>
          <a:ln w="12700">
            <a:solidFill>
              <a:srgbClr val="29445F">
                <a:alpha val="9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229600" y="4407408"/>
            <a:ext cx="2889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F59E0B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对项目管理</a:t>
            </a:r>
            <a:endParaRPr lang="en-US" sz="1080" dirty="0"/>
          </a:p>
        </p:txBody>
      </p:sp>
      <p:sp>
        <p:nvSpPr>
          <p:cNvPr id="52" name="Text 50"/>
          <p:cNvSpPr/>
          <p:nvPr/>
        </p:nvSpPr>
        <p:spPr>
          <a:xfrm>
            <a:off x="8229600" y="4727448"/>
            <a:ext cx="2889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9D7EA"/>
                </a:solidFill>
                <a:latin typeface="Heiti TC" pitchFamily="34" charset="0"/>
                <a:ea typeface="Heiti TC" pitchFamily="34" charset="-122"/>
                <a:cs typeface="Heiti TC" pitchFamily="34" charset="-120"/>
              </a:rPr>
              <a:t>这套输出说明流程已跑通，但还需要人工标注、更多病例和定量评估，才能证明可靠性。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Heiti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iti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KeTiZu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脑出血 CT 影像分割与穿刺路径规划</dc:title>
  <dc:subject>Brain CT segmentation and puncture path planning pipeline</dc:subject>
  <dc:creator>Songtt CT project</dc:creator>
  <cp:lastModifiedBy>Songtt CT project</cp:lastModifiedBy>
  <cp:revision>1</cp:revision>
  <dcterms:created xsi:type="dcterms:W3CDTF">2026-06-08T02:35:45Z</dcterms:created>
  <dcterms:modified xsi:type="dcterms:W3CDTF">2026-06-08T02:35:45Z</dcterms:modified>
</cp:coreProperties>
</file>