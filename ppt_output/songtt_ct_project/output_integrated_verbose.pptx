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这一页先讲项目的定位。不要把它说成自动诊断或者自动手术决策系统，它更像一个影像辅助原型。
项目做的事情可以用一句话概括：先把医院导出的 CT 小切片整理成三维脑部 CT，再把骨头、脑组织、疑似血肿、脑室和一些风险区域标出来，最后用这些标注结果筛选候选穿刺路径。
右侧 3D 图展示的是最终路径规划结果。左侧四个数字说明这次数据里有 2 个病例、8 个成功转换的体数据序列、1 个病例检出 8.37 mL 疑似血肿、最终筛出 2 条合法路径。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这一页说明最终交付。输入是医院 CT 机器导出的 DICOM 文件，它们不是普通照片，而是带空间坐标和扫描参数的医学影像文件。
分割部分的输出是各种 mask，可以理解为给 CT 加了很多透明涂色层：骨头一层、脑组织一层、血肿一层、脑室一层、风险禁区一层。
规划部分不是直接给临床方案，而是在这些涂色层的限制下，先自动找出一些候选直线路径。报告部分则把 PNG、JSON、TXT、PDF 都整理出来，方便后续人工复核。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这里要解释一个容易误会的点：1001 个 DICOM 不是 1001 个病人，而是一张张切片文件。
程序扫描后发现 11 个 series，其中有些只是定位像或者患者方案，不能当成完整三维 CT 使用，所以被跳过。最终 8 个序列成功转换。
右边两张 preview 是转换后的三视图。简单说，就是从横断面、冠状面和矢状面三个方向快速看三维 CT 是否拼接正常。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这一页讲整体流程。可以把整个项目比作一条工厂流水线，每一步拿上一环节的结果继续加工。
第 1 步统一数据格式，第 2 到第 4 步找出骨头、脑组织、血肿和脑室，第 5 到第 7 步画出血管风险、脑干和功能区这些避让区域，第 8 步做路径规划，第 9 步生成报告。
重点强调：后续路径规划不是凭空找线，而是依赖前面每一步产生的 mask。前面 mask 如果错了，后面的路径也会受影响，所以每一步的 overlay 图都要人工看。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这一步是所有后续处理的地基。医院 CT 导出的原始数据通常是一堆 DICOM 切片，每张切片都有自己的空间位置。
程序做的事是先把同一个扫描序列的切片找出来，再按正确顺序、间距和方向叠成一个三维体数据，也就是 NIfTI 文件。
这一步还会自动跳过定位像、患者方案、切片数太少的序列，因为这些东西不能组成稳定的三维脑部模型。转换成功后会生成 preview 图，先用肉眼看拼接是否正常。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颅骨分割的核心逻辑很直观：骨头在 CT 上特别亮，所以可以用比较高的 HU 阈值先把疑似骨头筛出来。
筛出来以后还要清理，因为 CT 里会有零散亮点、骨缝、小断裂。脚本会做形态学开闭运算，并保留最大的三维连通结构。
为什么这一步重要？因为头骨是边界。后面要从骨头内部推颅腔，要从骨头表面找入颅点，还要判断路径穿过骨头的厚度，都离不开颅骨 mask。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这一步是项目最核心的分割步骤。先用颅骨 mask 做填洞，把头骨里面的空间估计出来，这就是大致颅腔。
然后在颅腔里按 HU 范围找脑组织。血肿通常比普通脑组织更亮，所以再用更高一点的 HU 范围筛出疑似出血区域。
但是只靠亮度会有误判，比如钙化、骨头边缘伪影、图像噪声也可能很亮。所以脚本还加了体积、距骨距离、形状等过滤条件。当前病例 0099039449 得到 8.37 mL 疑似血肿，另一个病例没有检出血肿。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脑室可以简单理解为脑子里面装脑脊液的空腔。它在 CT 上通常比普通脑组织更暗，所以脚本会在颅腔内寻找低 HU 区域。
但低 HU 区域不一定都是脑室，靠近颅骨的脑沟或蛛网膜下腔也可能偏低，所以程序会排除太靠近颅骨的区域。
脑室 mask 的作用主要是路径避让。路径规划时会把脑室外扩一定安全距离，如果候选路径穿过这个区域，就会被拒绝。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这一页一定要讲清楚边界：普通平扫 CT 不是专门看血管的检查，很多血管在里面看不清。
所以这个脚本不是精确血管分割，而是保守风险禁区。它会把一些高密度结构、中线附近的静脉窦区域、大脑镰区域、颅底附近风险区域画出来。
对路径规划来说，这些区域相当于地图上的危险区。程序宁可少给一些路径，也尽量不让路径穿过这些可能有风险的位置。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脑干和功能区都是路径规划里必须谨慎对待的结构，但它们在平扫 CT 上并不像骨头和明显出血那样容易看清。
脑干近似是根据颅腔下部、中线附近的位置估算出来的。功能区近似则是把颅腔坐标归一化后，按经验位置画出运动区、语言区、视觉区和深部核团。
汇报时要避免说这是精确分割。更准确的说法是：这是为了路径规划做的保守避让区，真实功能区定位需要 MRI、fMRI、DTI 或图谱配准。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路径规划可以分成四步讲。第一步是在颅骨外表面采样很多候选入颅点，这次最多采了 1500 个。
第二步是确定目标点。它不只取血肿中心，还沿血肿长轴取远端点，这样可以覆盖血肿的形状。
第三步是逐条检查直线。每条线都要检查骨头厚度、是否重复碰骨、是否大部分在颅腔内、是否穿过脑室、血管风险、脑干和功能区。第四步才是对剩余合法路径打分，按更短、更合适的角度排序。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前面步骤会生成很多技术文件，直接看目录会比较乱，所以最后做了文字方案和 PDF 报告。
.nii.gz 文件是给软件继续打开和分析的，比如可以放进 3D Slicer 看三维位置。.png 是给人快速检查效果的，比如看 overlay 有没有明显错分。.json 是给程序和开发人员看的，里面有坐标、体积、评分、拒绝原因。
plan.txt 和 report.pdf 是汇报友好的格式，把路径、体积、图像和关键统计统一整理出来。这里的方案仍然只是自动生成的参考文字，不是医生最终方案。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最后要主动讲局限性，这样汇报更稳。当前流程已经跑通，但它主要依赖规则、阈值和几何经验，不是经过大量标注数据验证的临床系统。
医学上，平扫 CT 对血管、功能区和脑干边界显示有限；算法上，血肿阈值分割可能误判；规划上，目前只考虑直线路径和 mask 碰撞，没有模拟真实手术器械和个体血管变异。
下一步建议是先人工复核当前两例所有 overlay 和 3D 图，再接入更多病例和医生标注；对近似模块，优先用 CTA/MRI 或训练模型替换；最后建立定量指标，证明分割和路径规划到底有多可靠。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PROJECT REPORT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6812280" y="118872"/>
            <a:ext cx="5376672" cy="6739128"/>
          </a:xfrm>
          <a:prstGeom prst="rect">
            <a:avLst/>
          </a:prstGeom>
          <a:solidFill>
            <a:srgbClr val="020916"/>
          </a:solidFill>
          <a:ln w="12700">
            <a:solidFill>
              <a:srgbClr val="020916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86600" y="685800"/>
            <a:ext cx="4681728" cy="5440680"/>
          </a:xfrm>
          <a:prstGeom prst="roundRect">
            <a:avLst>
              <a:gd name="adj" fmla="val 1172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7" name="Image 0" descr="/Users/thy/Desktop/KeTiZu/proj_260608/Songtt_proj01/output_nifti/patient_0099039449/CT_brain_0.80_Hr40_S3_00000262_paths_3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141464" y="740664"/>
            <a:ext cx="4572000" cy="50566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232904" y="5852160"/>
            <a:ext cx="4389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代表病例路径规划 3D 视图</a:t>
            </a:r>
            <a:endParaRPr lang="en-US" sz="730" dirty="0"/>
          </a:p>
        </p:txBody>
      </p:sp>
      <p:sp>
        <p:nvSpPr>
          <p:cNvPr id="9" name="Text 6"/>
          <p:cNvSpPr/>
          <p:nvPr/>
        </p:nvSpPr>
        <p:spPr>
          <a:xfrm>
            <a:off x="594360" y="1024128"/>
            <a:ext cx="5715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脑出血 CT 影像分割与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穿刺路径规划流水线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621792" y="208483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从原始 DICOM 到关键结构分割、风险禁区生成、路径规划与报告输出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2944368"/>
            <a:ext cx="1234440" cy="758952"/>
          </a:xfrm>
          <a:prstGeom prst="roundRect">
            <a:avLst>
              <a:gd name="adj" fmla="val 7229"/>
            </a:avLst>
          </a:prstGeom>
          <a:solidFill>
            <a:srgbClr val="13243A"/>
          </a:solidFill>
          <a:ln w="12700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672" y="3063240"/>
            <a:ext cx="9052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04672" y="3364992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病例数</a:t>
            </a:r>
            <a:endParaRPr lang="en-US" sz="780" dirty="0"/>
          </a:p>
        </p:txBody>
      </p:sp>
      <p:sp>
        <p:nvSpPr>
          <p:cNvPr id="14" name="Shape 11"/>
          <p:cNvSpPr/>
          <p:nvPr/>
        </p:nvSpPr>
        <p:spPr>
          <a:xfrm>
            <a:off x="2011680" y="2944368"/>
            <a:ext cx="1234440" cy="758952"/>
          </a:xfrm>
          <a:prstGeom prst="roundRect">
            <a:avLst>
              <a:gd name="adj" fmla="val 7229"/>
            </a:avLst>
          </a:prstGeom>
          <a:solidFill>
            <a:srgbClr val="13243A"/>
          </a:solidFill>
          <a:ln w="12700">
            <a:solidFill>
              <a:srgbClr val="34D399">
                <a:alpha val="65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176272" y="3063240"/>
            <a:ext cx="9052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8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2176272" y="3364992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转换序列</a:t>
            </a:r>
            <a:endParaRPr lang="en-US" sz="780" dirty="0"/>
          </a:p>
        </p:txBody>
      </p:sp>
      <p:sp>
        <p:nvSpPr>
          <p:cNvPr id="17" name="Shape 14"/>
          <p:cNvSpPr/>
          <p:nvPr/>
        </p:nvSpPr>
        <p:spPr>
          <a:xfrm>
            <a:off x="3383280" y="2944368"/>
            <a:ext cx="1508760" cy="758952"/>
          </a:xfrm>
          <a:prstGeom prst="roundRect">
            <a:avLst>
              <a:gd name="adj" fmla="val 7229"/>
            </a:avLst>
          </a:prstGeom>
          <a:solidFill>
            <a:srgbClr val="13243A"/>
          </a:solidFill>
          <a:ln w="12700">
            <a:solidFill>
              <a:srgbClr val="F05252">
                <a:alpha val="65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547872" y="3063240"/>
            <a:ext cx="11795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5252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8.37 mL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3547872" y="3364992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疑似血肿</a:t>
            </a:r>
            <a:endParaRPr lang="en-US" sz="780" dirty="0"/>
          </a:p>
        </p:txBody>
      </p:sp>
      <p:sp>
        <p:nvSpPr>
          <p:cNvPr id="20" name="Text 17"/>
          <p:cNvSpPr/>
          <p:nvPr/>
        </p:nvSpPr>
        <p:spPr>
          <a:xfrm>
            <a:off x="3547872" y="3538728"/>
            <a:ext cx="11795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 个病例检出</a:t>
            </a:r>
            <a:endParaRPr lang="en-US" sz="590" dirty="0"/>
          </a:p>
        </p:txBody>
      </p:sp>
      <p:sp>
        <p:nvSpPr>
          <p:cNvPr id="21" name="Shape 18"/>
          <p:cNvSpPr/>
          <p:nvPr/>
        </p:nvSpPr>
        <p:spPr>
          <a:xfrm>
            <a:off x="5074920" y="2944368"/>
            <a:ext cx="1234440" cy="758952"/>
          </a:xfrm>
          <a:prstGeom prst="roundRect">
            <a:avLst>
              <a:gd name="adj" fmla="val 7229"/>
            </a:avLst>
          </a:prstGeom>
          <a:solidFill>
            <a:srgbClr val="13243A"/>
          </a:solidFill>
          <a:ln w="12700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239512" y="3063240"/>
            <a:ext cx="9052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2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5239512" y="3364992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合法路径</a:t>
            </a:r>
            <a:endParaRPr lang="en-US" sz="780" dirty="0"/>
          </a:p>
        </p:txBody>
      </p:sp>
      <p:sp>
        <p:nvSpPr>
          <p:cNvPr id="24" name="Shape 21"/>
          <p:cNvSpPr/>
          <p:nvPr/>
        </p:nvSpPr>
        <p:spPr>
          <a:xfrm>
            <a:off x="640080" y="4114800"/>
            <a:ext cx="5623560" cy="1554480"/>
          </a:xfrm>
          <a:prstGeom prst="roundRect">
            <a:avLst>
              <a:gd name="adj" fmla="val 3529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68680" y="4315968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汇报重点</a:t>
            </a:r>
            <a:endParaRPr lang="en-US" sz="1120" dirty="0"/>
          </a:p>
        </p:txBody>
      </p:sp>
      <p:sp>
        <p:nvSpPr>
          <p:cNvPr id="26" name="Text 23"/>
          <p:cNvSpPr/>
          <p:nvPr/>
        </p:nvSpPr>
        <p:spPr>
          <a:xfrm>
            <a:off x="868680" y="4663440"/>
            <a:ext cx="5184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完整跑通从原始 CT 到路径规划的 9 步处理流程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每一步都留下可检查产物：三维影像、mask、叠加图、3D 图、JSON 和 PDF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当前是规则/几何驱动的辅助原型，价值在于自动整理和可视化，不是直接给临床结论</a:t>
            </a:r>
            <a:endParaRPr lang="en-US" sz="880" dirty="0"/>
          </a:p>
        </p:txBody>
      </p:sp>
      <p:sp>
        <p:nvSpPr>
          <p:cNvPr id="27" name="Shape 24"/>
          <p:cNvSpPr/>
          <p:nvPr/>
        </p:nvSpPr>
        <p:spPr>
          <a:xfrm>
            <a:off x="640080" y="5715000"/>
            <a:ext cx="5623560" cy="621792"/>
          </a:xfrm>
          <a:prstGeom prst="roundRect">
            <a:avLst>
              <a:gd name="adj" fmla="val 8824"/>
            </a:avLst>
          </a:prstGeom>
          <a:solidFill>
            <a:srgbClr val="09182A"/>
          </a:solidFill>
          <a:ln w="12700">
            <a:solidFill>
              <a:srgbClr val="F05252">
                <a:alpha val="65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04672" y="5788152"/>
            <a:ext cx="52943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F05252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项目定位</a:t>
            </a:r>
            <a:endParaRPr lang="en-US" sz="760" dirty="0"/>
          </a:p>
        </p:txBody>
      </p:sp>
      <p:sp>
        <p:nvSpPr>
          <p:cNvPr id="29" name="Text 26"/>
          <p:cNvSpPr/>
          <p:nvPr/>
        </p:nvSpPr>
        <p:spPr>
          <a:xfrm>
            <a:off x="804672" y="5943600"/>
            <a:ext cx="52943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可以把它理解成“影像整理 + 自动标注 + 路径初筛”工具：先把 CT 拼成三维脑袋，再把骨头、脑组织、疑似血肿和危险区域涂出来，最后给出几条候选直线路径，方便人去检查。</a:t>
            </a:r>
            <a:endParaRPr lang="en-US" sz="640" dirty="0"/>
          </a:p>
        </p:txBody>
      </p:sp>
      <p:sp>
        <p:nvSpPr>
          <p:cNvPr id="30" name="Text 27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1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OBJECTIVE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项目目标与最终交付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21208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把 CT 原始数据转化为可检查、可汇报、可追踪的结构化结果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2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685800" y="1508760"/>
            <a:ext cx="2423160" cy="2331720"/>
          </a:xfrm>
          <a:prstGeom prst="roundRect">
            <a:avLst>
              <a:gd name="adj" fmla="val 2353"/>
            </a:avLst>
          </a:prstGeom>
          <a:solidFill>
            <a:srgbClr val="13243A"/>
          </a:solidFill>
          <a:ln w="12700">
            <a:solidFill>
              <a:srgbClr val="38BDF8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7373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输入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86968" y="2331720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医院导出的 DICOM 切片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包含图像、空间位置和扫描参数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3474720" y="1508760"/>
            <a:ext cx="2423160" cy="2331720"/>
          </a:xfrm>
          <a:prstGeom prst="roundRect">
            <a:avLst>
              <a:gd name="adj" fmla="val 2353"/>
            </a:avLst>
          </a:prstGeom>
          <a:solidFill>
            <a:srgbClr val="13243A"/>
          </a:solidFill>
          <a:ln w="12700">
            <a:solidFill>
              <a:srgbClr val="34D399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75888" y="17373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分割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75888" y="2331720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标出颅骨、颅腔、脑组织、血肿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以及脑室等结构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6263640" y="1508760"/>
            <a:ext cx="2423160" cy="2331720"/>
          </a:xfrm>
          <a:prstGeom prst="roundRect">
            <a:avLst>
              <a:gd name="adj" fmla="val 2353"/>
            </a:avLst>
          </a:prstGeom>
          <a:solidFill>
            <a:srgbClr val="13243A"/>
          </a:solidFill>
          <a:ln w="12700">
            <a:solidFill>
              <a:srgbClr val="F59E0B">
                <a:alpha val="9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64808" y="17373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规划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64808" y="2331720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在避开风险禁区的前提下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寻找候选穿刺直线路径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9052560" y="1508760"/>
            <a:ext cx="2423160" cy="2331720"/>
          </a:xfrm>
          <a:prstGeom prst="roundRect">
            <a:avLst>
              <a:gd name="adj" fmla="val 2353"/>
            </a:avLst>
          </a:prstGeom>
          <a:solidFill>
            <a:srgbClr val="13243A"/>
          </a:solidFill>
          <a:ln w="12700">
            <a:solidFill>
              <a:srgbClr val="A78BFA">
                <a:alpha val="9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53728" y="17373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报告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253728" y="2331720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输出 PNG、JSON、TXT 和 PDF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便于复核和汇报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685800" y="4297680"/>
            <a:ext cx="5349240" cy="1444752"/>
          </a:xfrm>
          <a:prstGeom prst="roundRect">
            <a:avLst>
              <a:gd name="adj" fmla="val 3797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498848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F05252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当前项目定位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914400" y="4846320"/>
            <a:ext cx="491032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它不是自动诊断系统，也不能替代医生判断；PPT 里的“血肿”“禁区”“路径”都应理解为程序计算出的候选结果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核心价值是把分散的 CT 文件、分割结果、统计数据和路径图统一整理，让人能快速复核每一步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适合做原型验证和流程演示；后续可以替换成更准确的血管分割、功能区定位或深度学习模型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6355080" y="4297680"/>
            <a:ext cx="5120640" cy="1444752"/>
          </a:xfrm>
          <a:prstGeom prst="roundRect">
            <a:avLst>
              <a:gd name="adj" fmla="val 3797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4498848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34D399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本次已跑出的结果</a:t>
            </a:r>
            <a:endParaRPr lang="en-US" sz="1120" dirty="0"/>
          </a:p>
        </p:txBody>
      </p:sp>
      <p:sp>
        <p:nvSpPr>
          <p:cNvPr id="25" name="Text 23"/>
          <p:cNvSpPr/>
          <p:nvPr/>
        </p:nvSpPr>
        <p:spPr>
          <a:xfrm>
            <a:off x="6583680" y="4846320"/>
            <a:ext cx="468172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2 个病例完成 DICOM 转换、颅骨、脑组织、脑室、血管风险、脑干和功能区禁区生成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病例 0099039449 检出疑似血肿 8.37 mL，并找到 2 条满足规则的候选路径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病例 0100297683 没有检出血肿，因此路径规划自动跳过；两个病例均生成了文字方案和 PDF 报告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685800" y="5870448"/>
            <a:ext cx="10789920" cy="438912"/>
          </a:xfrm>
          <a:prstGeom prst="roundRect">
            <a:avLst>
              <a:gd name="adj" fmla="val 12500"/>
            </a:avLst>
          </a:prstGeom>
          <a:solidFill>
            <a:srgbClr val="09182A"/>
          </a:solidFill>
          <a:ln w="12700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" y="5943600"/>
            <a:ext cx="104607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给听众的理解方式</a:t>
            </a:r>
            <a:endParaRPr lang="en-US" sz="760" dirty="0"/>
          </a:p>
        </p:txBody>
      </p:sp>
      <p:sp>
        <p:nvSpPr>
          <p:cNvPr id="28" name="Text 26"/>
          <p:cNvSpPr/>
          <p:nvPr/>
        </p:nvSpPr>
        <p:spPr>
          <a:xfrm>
            <a:off x="850392" y="6099048"/>
            <a:ext cx="104607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整套流程的目标不是“程序说了算”，而是把原本需要人工逐项打开查看的文件变成一组清晰、可追踪、可复核的中间结果。</a:t>
            </a:r>
            <a:endParaRPr lang="en-US" sz="6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DATA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数据与运行结果概览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21208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本次基于已解压的头颅 CT 数据完成端到端跑通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3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141732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499616"/>
            <a:ext cx="1325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项目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2057400" y="1417320"/>
            <a:ext cx="274320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03120" y="1499616"/>
            <a:ext cx="2651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结果</a:t>
            </a:r>
            <a:endParaRPr lang="en-US" sz="730" dirty="0"/>
          </a:p>
        </p:txBody>
      </p:sp>
      <p:sp>
        <p:nvSpPr>
          <p:cNvPr id="12" name="Shape 10"/>
          <p:cNvSpPr/>
          <p:nvPr/>
        </p:nvSpPr>
        <p:spPr>
          <a:xfrm>
            <a:off x="640080" y="1755648"/>
            <a:ext cx="141732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1837944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遍历文件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2057400" y="1755648"/>
            <a:ext cx="274320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03120" y="1837944"/>
            <a:ext cx="2651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1003 个</a:t>
            </a:r>
            <a:endParaRPr lang="en-US" sz="720" dirty="0"/>
          </a:p>
        </p:txBody>
      </p:sp>
      <p:sp>
        <p:nvSpPr>
          <p:cNvPr id="16" name="Shape 14"/>
          <p:cNvSpPr/>
          <p:nvPr/>
        </p:nvSpPr>
        <p:spPr>
          <a:xfrm>
            <a:off x="640080" y="2084832"/>
            <a:ext cx="141732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167128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识别 DICOM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2057400" y="2084832"/>
            <a:ext cx="274320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03120" y="2167128"/>
            <a:ext cx="2651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1001 个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640080" y="2414016"/>
            <a:ext cx="141732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2496312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DICOM series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2057400" y="2414016"/>
            <a:ext cx="274320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03120" y="2496312"/>
            <a:ext cx="2651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11 个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640080" y="2743200"/>
            <a:ext cx="141732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2825496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成功转换</a:t>
            </a:r>
            <a:endParaRPr lang="en-US" sz="720" dirty="0"/>
          </a:p>
        </p:txBody>
      </p:sp>
      <p:sp>
        <p:nvSpPr>
          <p:cNvPr id="26" name="Shape 24"/>
          <p:cNvSpPr/>
          <p:nvPr/>
        </p:nvSpPr>
        <p:spPr>
          <a:xfrm>
            <a:off x="2057400" y="2743200"/>
            <a:ext cx="274320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03120" y="2825496"/>
            <a:ext cx="2651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8 个体数据序列</a:t>
            </a:r>
            <a:endParaRPr lang="en-US" sz="720" dirty="0"/>
          </a:p>
        </p:txBody>
      </p:sp>
      <p:sp>
        <p:nvSpPr>
          <p:cNvPr id="28" name="Shape 26"/>
          <p:cNvSpPr/>
          <p:nvPr/>
        </p:nvSpPr>
        <p:spPr>
          <a:xfrm>
            <a:off x="640080" y="3072384"/>
            <a:ext cx="141732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3154680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跳过序列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2057400" y="3072384"/>
            <a:ext cx="274320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03120" y="3154680"/>
            <a:ext cx="2651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3 个（定位像/患者方案等）</a:t>
            </a:r>
            <a:endParaRPr lang="en-US" sz="720" dirty="0"/>
          </a:p>
        </p:txBody>
      </p:sp>
      <p:sp>
        <p:nvSpPr>
          <p:cNvPr id="32" name="Shape 30"/>
          <p:cNvSpPr/>
          <p:nvPr/>
        </p:nvSpPr>
        <p:spPr>
          <a:xfrm>
            <a:off x="640080" y="3401568"/>
            <a:ext cx="141732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3483864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失败序列</a:t>
            </a:r>
            <a:endParaRPr lang="en-US" sz="720" dirty="0"/>
          </a:p>
        </p:txBody>
      </p:sp>
      <p:sp>
        <p:nvSpPr>
          <p:cNvPr id="34" name="Shape 32"/>
          <p:cNvSpPr/>
          <p:nvPr/>
        </p:nvSpPr>
        <p:spPr>
          <a:xfrm>
            <a:off x="2057400" y="3401568"/>
            <a:ext cx="274320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103120" y="3483864"/>
            <a:ext cx="2651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</a:t>
            </a:r>
            <a:endParaRPr lang="en-US" sz="720" dirty="0"/>
          </a:p>
        </p:txBody>
      </p:sp>
      <p:sp>
        <p:nvSpPr>
          <p:cNvPr id="36" name="Shape 34"/>
          <p:cNvSpPr/>
          <p:nvPr/>
        </p:nvSpPr>
        <p:spPr>
          <a:xfrm>
            <a:off x="640080" y="4069080"/>
            <a:ext cx="128016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4151376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病例</a:t>
            </a:r>
            <a:endParaRPr lang="en-US" sz="730" dirty="0"/>
          </a:p>
        </p:txBody>
      </p:sp>
      <p:sp>
        <p:nvSpPr>
          <p:cNvPr id="38" name="Shape 36"/>
          <p:cNvSpPr/>
          <p:nvPr/>
        </p:nvSpPr>
        <p:spPr>
          <a:xfrm>
            <a:off x="1920240" y="4069080"/>
            <a:ext cx="114300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965960" y="4151376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颅腔</a:t>
            </a:r>
            <a:endParaRPr lang="en-US" sz="730" dirty="0"/>
          </a:p>
        </p:txBody>
      </p:sp>
      <p:sp>
        <p:nvSpPr>
          <p:cNvPr id="40" name="Shape 38"/>
          <p:cNvSpPr/>
          <p:nvPr/>
        </p:nvSpPr>
        <p:spPr>
          <a:xfrm>
            <a:off x="3063240" y="4069080"/>
            <a:ext cx="114300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108960" y="4151376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脑组织</a:t>
            </a:r>
            <a:endParaRPr lang="en-US" sz="730" dirty="0"/>
          </a:p>
        </p:txBody>
      </p:sp>
      <p:sp>
        <p:nvSpPr>
          <p:cNvPr id="42" name="Shape 40"/>
          <p:cNvSpPr/>
          <p:nvPr/>
        </p:nvSpPr>
        <p:spPr>
          <a:xfrm>
            <a:off x="4206240" y="4069080"/>
            <a:ext cx="105156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251960" y="4151376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血肿</a:t>
            </a:r>
            <a:endParaRPr lang="en-US" sz="730" dirty="0"/>
          </a:p>
        </p:txBody>
      </p:sp>
      <p:sp>
        <p:nvSpPr>
          <p:cNvPr id="44" name="Shape 42"/>
          <p:cNvSpPr/>
          <p:nvPr/>
        </p:nvSpPr>
        <p:spPr>
          <a:xfrm>
            <a:off x="640080" y="4407408"/>
            <a:ext cx="1280160" cy="347472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5800" y="448970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0099039449</a:t>
            </a:r>
            <a:endParaRPr lang="en-US" sz="720" dirty="0"/>
          </a:p>
        </p:txBody>
      </p:sp>
      <p:sp>
        <p:nvSpPr>
          <p:cNvPr id="46" name="Shape 44"/>
          <p:cNvSpPr/>
          <p:nvPr/>
        </p:nvSpPr>
        <p:spPr>
          <a:xfrm>
            <a:off x="1920240" y="4407408"/>
            <a:ext cx="1143000" cy="347472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965960" y="4489704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827.24 mL</a:t>
            </a:r>
            <a:endParaRPr lang="en-US" sz="720" dirty="0"/>
          </a:p>
        </p:txBody>
      </p:sp>
      <p:sp>
        <p:nvSpPr>
          <p:cNvPr id="48" name="Shape 46"/>
          <p:cNvSpPr/>
          <p:nvPr/>
        </p:nvSpPr>
        <p:spPr>
          <a:xfrm>
            <a:off x="3063240" y="4407408"/>
            <a:ext cx="1143000" cy="347472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108960" y="4489704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785.40 mL</a:t>
            </a:r>
            <a:endParaRPr lang="en-US" sz="720" dirty="0"/>
          </a:p>
        </p:txBody>
      </p:sp>
      <p:sp>
        <p:nvSpPr>
          <p:cNvPr id="50" name="Shape 48"/>
          <p:cNvSpPr/>
          <p:nvPr/>
        </p:nvSpPr>
        <p:spPr>
          <a:xfrm>
            <a:off x="4206240" y="4407408"/>
            <a:ext cx="1051560" cy="347472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251960" y="4489704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8.37 mL</a:t>
            </a:r>
            <a:endParaRPr lang="en-US" sz="720" dirty="0"/>
          </a:p>
        </p:txBody>
      </p:sp>
      <p:sp>
        <p:nvSpPr>
          <p:cNvPr id="52" name="Shape 50"/>
          <p:cNvSpPr/>
          <p:nvPr/>
        </p:nvSpPr>
        <p:spPr>
          <a:xfrm>
            <a:off x="640080" y="4754880"/>
            <a:ext cx="1280160" cy="347472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5800" y="4837176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0100297683</a:t>
            </a:r>
            <a:endParaRPr lang="en-US" sz="720" dirty="0"/>
          </a:p>
        </p:txBody>
      </p:sp>
      <p:sp>
        <p:nvSpPr>
          <p:cNvPr id="54" name="Shape 52"/>
          <p:cNvSpPr/>
          <p:nvPr/>
        </p:nvSpPr>
        <p:spPr>
          <a:xfrm>
            <a:off x="1920240" y="4754880"/>
            <a:ext cx="1143000" cy="347472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965960" y="4837176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1048.32 mL</a:t>
            </a:r>
            <a:endParaRPr lang="en-US" sz="720" dirty="0"/>
          </a:p>
        </p:txBody>
      </p:sp>
      <p:sp>
        <p:nvSpPr>
          <p:cNvPr id="56" name="Shape 54"/>
          <p:cNvSpPr/>
          <p:nvPr/>
        </p:nvSpPr>
        <p:spPr>
          <a:xfrm>
            <a:off x="3063240" y="4754880"/>
            <a:ext cx="1143000" cy="347472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108960" y="4837176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999.50 mL</a:t>
            </a:r>
            <a:endParaRPr lang="en-US" sz="720" dirty="0"/>
          </a:p>
        </p:txBody>
      </p:sp>
      <p:sp>
        <p:nvSpPr>
          <p:cNvPr id="58" name="Shape 56"/>
          <p:cNvSpPr/>
          <p:nvPr/>
        </p:nvSpPr>
        <p:spPr>
          <a:xfrm>
            <a:off x="4206240" y="4754880"/>
            <a:ext cx="1051560" cy="347472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251960" y="4837176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0.00 mL</a:t>
            </a:r>
            <a:endParaRPr lang="en-US" sz="720" dirty="0"/>
          </a:p>
        </p:txBody>
      </p:sp>
      <p:sp>
        <p:nvSpPr>
          <p:cNvPr id="60" name="Shape 58"/>
          <p:cNvSpPr/>
          <p:nvPr/>
        </p:nvSpPr>
        <p:spPr>
          <a:xfrm>
            <a:off x="640080" y="5248656"/>
            <a:ext cx="4160520" cy="749808"/>
          </a:xfrm>
          <a:prstGeom prst="roundRect">
            <a:avLst>
              <a:gd name="adj" fmla="val 7317"/>
            </a:avLst>
          </a:prstGeom>
          <a:solidFill>
            <a:srgbClr val="09182A"/>
          </a:solidFill>
          <a:ln w="12700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04672" y="5376672"/>
            <a:ext cx="3831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怎么读这页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804672" y="5596128"/>
            <a:ext cx="3831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1001 个 DICOM 文件不是 1001 个病例，而是许多张 CT 切片。程序先识别哪些切片属于同一次扫描，再把它们按空间顺序叠成三维体数据；定位像、患者方案这类不能组成可靠三维 CT 的内容会被跳过。</a:t>
            </a:r>
            <a:endParaRPr lang="en-US" sz="720" dirty="0"/>
          </a:p>
        </p:txBody>
      </p:sp>
      <p:sp>
        <p:nvSpPr>
          <p:cNvPr id="63" name="Shape 61"/>
          <p:cNvSpPr/>
          <p:nvPr/>
        </p:nvSpPr>
        <p:spPr>
          <a:xfrm>
            <a:off x="5212080" y="1389888"/>
            <a:ext cx="6309360" cy="2148840"/>
          </a:xfrm>
          <a:prstGeom prst="roundRect">
            <a:avLst>
              <a:gd name="adj" fmla="val 2553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64" name="Image 0" descr="/Users/thy/Desktop/KeTiZu/proj_260608/Songtt_proj01/output_nifti/patient_0099039449/CT_brain_0.80_Hr40_S3_00000262_previe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66944" y="1444752"/>
            <a:ext cx="6199632" cy="1764792"/>
          </a:xfrm>
          <a:prstGeom prst="rect">
            <a:avLst/>
          </a:prstGeom>
        </p:spPr>
      </p:pic>
      <p:sp>
        <p:nvSpPr>
          <p:cNvPr id="65" name="Text 62"/>
          <p:cNvSpPr/>
          <p:nvPr/>
        </p:nvSpPr>
        <p:spPr>
          <a:xfrm>
            <a:off x="5358384" y="3264408"/>
            <a:ext cx="60167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病例 0099039449 · 薄层软组织 CT 三视图</a:t>
            </a:r>
            <a:endParaRPr lang="en-US" sz="730" dirty="0"/>
          </a:p>
        </p:txBody>
      </p:sp>
      <p:sp>
        <p:nvSpPr>
          <p:cNvPr id="66" name="Shape 63"/>
          <p:cNvSpPr/>
          <p:nvPr/>
        </p:nvSpPr>
        <p:spPr>
          <a:xfrm>
            <a:off x="5212080" y="3794760"/>
            <a:ext cx="6309360" cy="2148840"/>
          </a:xfrm>
          <a:prstGeom prst="roundRect">
            <a:avLst>
              <a:gd name="adj" fmla="val 2553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67" name="Image 1" descr="/Users/thy/Desktop/KeTiZu/proj_260608/Songtt_proj01/output_nifti/patient_0100297683/CT_brain_0.80_Hr40_S3_00000269_preview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266944" y="3849624"/>
            <a:ext cx="6199632" cy="1764792"/>
          </a:xfrm>
          <a:prstGeom prst="rect">
            <a:avLst/>
          </a:prstGeom>
        </p:spPr>
      </p:pic>
      <p:sp>
        <p:nvSpPr>
          <p:cNvPr id="68" name="Text 64"/>
          <p:cNvSpPr/>
          <p:nvPr/>
        </p:nvSpPr>
        <p:spPr>
          <a:xfrm>
            <a:off x="5358384" y="5669280"/>
            <a:ext cx="60167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病例 0100297683 · 薄层软组织 CT 三视图</a:t>
            </a:r>
            <a:endParaRPr lang="en-US" sz="7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PIPELINE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全流程总览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21208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9 个步骤串起数据读取、分割、风险建模、路径规划和报告输出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4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713232" y="1828800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13243A"/>
          </a:solidFill>
          <a:ln w="12700">
            <a:solidFill>
              <a:srgbClr val="38BDF8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199339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01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50392" y="228600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DICOM 转 NIfTI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2496312" y="2157984"/>
            <a:ext cx="310896" cy="256032"/>
          </a:xfrm>
          <a:prstGeom prst="rightArrow">
            <a:avLst/>
          </a:prstGeom>
          <a:solidFill>
            <a:srgbClr val="34516E"/>
          </a:solidFill>
          <a:ln w="12700">
            <a:solidFill>
              <a:srgbClr val="34516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53512" y="1828800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13243A"/>
          </a:solidFill>
          <a:ln w="12700">
            <a:solidFill>
              <a:srgbClr val="34D399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99816" y="199339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090672" y="228600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颅骨分割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4736592" y="2157984"/>
            <a:ext cx="310896" cy="256032"/>
          </a:xfrm>
          <a:prstGeom prst="rightArrow">
            <a:avLst/>
          </a:prstGeom>
          <a:solidFill>
            <a:srgbClr val="34516E"/>
          </a:solidFill>
          <a:ln w="12700">
            <a:solidFill>
              <a:srgbClr val="34516E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93792" y="1828800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13243A"/>
          </a:solidFill>
          <a:ln w="12700">
            <a:solidFill>
              <a:srgbClr val="F05252">
                <a:alpha val="9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40096" y="199339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05252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03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330952" y="228600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脑/血肿分割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6976872" y="2157984"/>
            <a:ext cx="310896" cy="256032"/>
          </a:xfrm>
          <a:prstGeom prst="rightArrow">
            <a:avLst/>
          </a:prstGeom>
          <a:solidFill>
            <a:srgbClr val="34516E"/>
          </a:solidFill>
          <a:ln w="12700">
            <a:solidFill>
              <a:srgbClr val="34516E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34072" y="1828800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13243A"/>
          </a:solidFill>
          <a:ln w="12700">
            <a:solidFill>
              <a:srgbClr val="38BDF8">
                <a:alpha val="9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0376" y="199339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04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571232" y="228600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脑室分割</a:t>
            </a:r>
            <a:endParaRPr lang="en-US" sz="830" dirty="0"/>
          </a:p>
        </p:txBody>
      </p:sp>
      <p:sp>
        <p:nvSpPr>
          <p:cNvPr id="23" name="Shape 21"/>
          <p:cNvSpPr/>
          <p:nvPr/>
        </p:nvSpPr>
        <p:spPr>
          <a:xfrm>
            <a:off x="9217152" y="2157984"/>
            <a:ext cx="310896" cy="256032"/>
          </a:xfrm>
          <a:prstGeom prst="rightArrow">
            <a:avLst/>
          </a:prstGeom>
          <a:solidFill>
            <a:srgbClr val="34516E"/>
          </a:solidFill>
          <a:ln w="12700">
            <a:solidFill>
              <a:srgbClr val="34516E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74352" y="1828800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13243A"/>
          </a:solidFill>
          <a:ln w="12700">
            <a:solidFill>
              <a:srgbClr val="F59E0B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20656" y="199339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05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9811512" y="228600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血管风险禁区</a:t>
            </a:r>
            <a:endParaRPr lang="en-US" sz="830" dirty="0"/>
          </a:p>
        </p:txBody>
      </p:sp>
      <p:sp>
        <p:nvSpPr>
          <p:cNvPr id="27" name="Shape 25"/>
          <p:cNvSpPr/>
          <p:nvPr/>
        </p:nvSpPr>
        <p:spPr>
          <a:xfrm>
            <a:off x="1810512" y="3977640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13243A"/>
          </a:solidFill>
          <a:ln w="12700">
            <a:solidFill>
              <a:srgbClr val="F59E0B">
                <a:alpha val="9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56816" y="41422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06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947672" y="443484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脑干近似</a:t>
            </a:r>
            <a:endParaRPr lang="en-US" sz="830" dirty="0"/>
          </a:p>
        </p:txBody>
      </p:sp>
      <p:sp>
        <p:nvSpPr>
          <p:cNvPr id="30" name="Shape 28"/>
          <p:cNvSpPr/>
          <p:nvPr/>
        </p:nvSpPr>
        <p:spPr>
          <a:xfrm>
            <a:off x="3593592" y="4306824"/>
            <a:ext cx="310896" cy="256032"/>
          </a:xfrm>
          <a:prstGeom prst="rightArrow">
            <a:avLst/>
          </a:prstGeom>
          <a:solidFill>
            <a:srgbClr val="34516E"/>
          </a:solidFill>
          <a:ln w="12700">
            <a:solidFill>
              <a:srgbClr val="34516E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50792" y="3977640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13243A"/>
          </a:solidFill>
          <a:ln w="12700">
            <a:solidFill>
              <a:srgbClr val="A78BFA">
                <a:alpha val="9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97096" y="41422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78BF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07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187952" y="443484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功能区近似</a:t>
            </a:r>
            <a:endParaRPr lang="en-US" sz="830" dirty="0"/>
          </a:p>
        </p:txBody>
      </p:sp>
      <p:sp>
        <p:nvSpPr>
          <p:cNvPr id="34" name="Shape 32"/>
          <p:cNvSpPr/>
          <p:nvPr/>
        </p:nvSpPr>
        <p:spPr>
          <a:xfrm>
            <a:off x="5833872" y="4306824"/>
            <a:ext cx="310896" cy="256032"/>
          </a:xfrm>
          <a:prstGeom prst="rightArrow">
            <a:avLst/>
          </a:prstGeom>
          <a:solidFill>
            <a:srgbClr val="34516E"/>
          </a:solidFill>
          <a:ln w="12700">
            <a:solidFill>
              <a:srgbClr val="34516E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91072" y="3977640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13243A"/>
          </a:solidFill>
          <a:ln w="12700">
            <a:solidFill>
              <a:srgbClr val="34D399">
                <a:alpha val="9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37376" y="41422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08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428232" y="443484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路径规划</a:t>
            </a:r>
            <a:endParaRPr lang="en-US" sz="830" dirty="0"/>
          </a:p>
        </p:txBody>
      </p:sp>
      <p:sp>
        <p:nvSpPr>
          <p:cNvPr id="38" name="Shape 36"/>
          <p:cNvSpPr/>
          <p:nvPr/>
        </p:nvSpPr>
        <p:spPr>
          <a:xfrm>
            <a:off x="8074152" y="4306824"/>
            <a:ext cx="310896" cy="256032"/>
          </a:xfrm>
          <a:prstGeom prst="rightArrow">
            <a:avLst/>
          </a:prstGeom>
          <a:solidFill>
            <a:srgbClr val="34516E"/>
          </a:solidFill>
          <a:ln w="12700">
            <a:solidFill>
              <a:srgbClr val="34516E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531352" y="3977640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13243A"/>
          </a:solidFill>
          <a:ln w="12700">
            <a:solidFill>
              <a:srgbClr val="38BDF8">
                <a:alpha val="9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677656" y="41422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09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8668512" y="443484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报告生成</a:t>
            </a:r>
            <a:endParaRPr lang="en-US" sz="830" dirty="0"/>
          </a:p>
        </p:txBody>
      </p:sp>
      <p:sp>
        <p:nvSpPr>
          <p:cNvPr id="42" name="Shape 40"/>
          <p:cNvSpPr/>
          <p:nvPr/>
        </p:nvSpPr>
        <p:spPr>
          <a:xfrm>
            <a:off x="731520" y="5230368"/>
            <a:ext cx="10744200" cy="950976"/>
          </a:xfrm>
          <a:prstGeom prst="roundRect">
            <a:avLst>
              <a:gd name="adj" fmla="val 5769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120" y="5431536"/>
            <a:ext cx="10287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汇报时的一句话解释</a:t>
            </a:r>
            <a:endParaRPr lang="en-US" sz="1120" dirty="0"/>
          </a:p>
        </p:txBody>
      </p:sp>
      <p:sp>
        <p:nvSpPr>
          <p:cNvPr id="44" name="Text 42"/>
          <p:cNvSpPr/>
          <p:nvPr/>
        </p:nvSpPr>
        <p:spPr>
          <a:xfrm>
            <a:off x="960120" y="5779008"/>
            <a:ext cx="103052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这条流水线先把 CT 小切片拼成三维脑部模型；再根据 CT 亮度值、形态学清理和解剖位置，逐步生成骨头、脑组织、血肿和禁区 mask；最后把这些 mask 当作“地图上的障碍物”，从颅骨外表面尝试连线到血肿，筛掉穿过危险区域的路径。</a:t>
            </a:r>
            <a:endParaRPr lang="en-US" sz="8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STEP 1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步骤 1 · DICOM 转 NIfTI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21208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目的：把医院导出的原始 CT 切片整理成后续算法可处理的三维体数据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5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621792" y="1417320"/>
            <a:ext cx="3977640" cy="1828800"/>
          </a:xfrm>
          <a:prstGeom prst="roundRect">
            <a:avLst>
              <a:gd name="adj" fmla="val 3000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618488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做了什么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850392" y="1965960"/>
            <a:ext cx="35387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递归扫描原始 CT 目录，识别哪些文件是真正的 DICOM 图像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按扫描序列自动分组，把同一组切片放在一起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跳过定位像、剂量报告、患者方案和切片太少的序列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输出 .nii.gz 三维影像、preview 预览图和 manifest 清单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621792" y="3703320"/>
            <a:ext cx="132588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3785616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指标</a:t>
            </a:r>
            <a:endParaRPr lang="en-US" sz="730" dirty="0"/>
          </a:p>
        </p:txBody>
      </p:sp>
      <p:sp>
        <p:nvSpPr>
          <p:cNvPr id="13" name="Shape 11"/>
          <p:cNvSpPr/>
          <p:nvPr/>
        </p:nvSpPr>
        <p:spPr>
          <a:xfrm>
            <a:off x="1947672" y="3703320"/>
            <a:ext cx="210312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93392" y="3785616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结果</a:t>
            </a:r>
            <a:endParaRPr lang="en-US" sz="730" dirty="0"/>
          </a:p>
        </p:txBody>
      </p:sp>
      <p:sp>
        <p:nvSpPr>
          <p:cNvPr id="15" name="Shape 13"/>
          <p:cNvSpPr/>
          <p:nvPr/>
        </p:nvSpPr>
        <p:spPr>
          <a:xfrm>
            <a:off x="621792" y="4041648"/>
            <a:ext cx="1325880" cy="310896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" y="4123944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识别 DICOM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1947672" y="4041648"/>
            <a:ext cx="2103120" cy="310896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93392" y="4123944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1001 个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621792" y="4352544"/>
            <a:ext cx="1325880" cy="310896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" y="4434840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获得 series</a:t>
            </a:r>
            <a:endParaRPr lang="en-US" sz="720" dirty="0"/>
          </a:p>
        </p:txBody>
      </p:sp>
      <p:sp>
        <p:nvSpPr>
          <p:cNvPr id="21" name="Shape 19"/>
          <p:cNvSpPr/>
          <p:nvPr/>
        </p:nvSpPr>
        <p:spPr>
          <a:xfrm>
            <a:off x="1947672" y="4352544"/>
            <a:ext cx="2103120" cy="310896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93392" y="4434840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11 个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621792" y="4663440"/>
            <a:ext cx="1325880" cy="310896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" y="4745736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转换成功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1947672" y="4663440"/>
            <a:ext cx="2103120" cy="310896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93392" y="4745736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8 个</a:t>
            </a:r>
            <a:endParaRPr lang="en-US" sz="720" dirty="0"/>
          </a:p>
        </p:txBody>
      </p:sp>
      <p:sp>
        <p:nvSpPr>
          <p:cNvPr id="27" name="Shape 25"/>
          <p:cNvSpPr/>
          <p:nvPr/>
        </p:nvSpPr>
        <p:spPr>
          <a:xfrm>
            <a:off x="621792" y="4974336"/>
            <a:ext cx="1325880" cy="310896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7512" y="5056632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失败</a:t>
            </a:r>
            <a:endParaRPr lang="en-US" sz="720" dirty="0"/>
          </a:p>
        </p:txBody>
      </p:sp>
      <p:sp>
        <p:nvSpPr>
          <p:cNvPr id="29" name="Shape 27"/>
          <p:cNvSpPr/>
          <p:nvPr/>
        </p:nvSpPr>
        <p:spPr>
          <a:xfrm>
            <a:off x="1947672" y="4974336"/>
            <a:ext cx="2103120" cy="310896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93392" y="5056632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 个</a:t>
            </a:r>
            <a:endParaRPr lang="en-US" sz="720" dirty="0"/>
          </a:p>
        </p:txBody>
      </p:sp>
      <p:sp>
        <p:nvSpPr>
          <p:cNvPr id="31" name="Shape 29"/>
          <p:cNvSpPr/>
          <p:nvPr/>
        </p:nvSpPr>
        <p:spPr>
          <a:xfrm>
            <a:off x="621792" y="5285232"/>
            <a:ext cx="1325880" cy="310896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7512" y="5367528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主用序列</a:t>
            </a:r>
            <a:endParaRPr lang="en-US" sz="720" dirty="0"/>
          </a:p>
        </p:txBody>
      </p:sp>
      <p:sp>
        <p:nvSpPr>
          <p:cNvPr id="33" name="Shape 31"/>
          <p:cNvSpPr/>
          <p:nvPr/>
        </p:nvSpPr>
        <p:spPr>
          <a:xfrm>
            <a:off x="1947672" y="5285232"/>
            <a:ext cx="2103120" cy="310896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993392" y="536752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0.80mm Hr40 / Hr60</a:t>
            </a:r>
            <a:endParaRPr lang="en-US" sz="720" dirty="0"/>
          </a:p>
        </p:txBody>
      </p:sp>
      <p:sp>
        <p:nvSpPr>
          <p:cNvPr id="35" name="Shape 33"/>
          <p:cNvSpPr/>
          <p:nvPr/>
        </p:nvSpPr>
        <p:spPr>
          <a:xfrm>
            <a:off x="4919472" y="1417320"/>
            <a:ext cx="6537960" cy="4114800"/>
          </a:xfrm>
          <a:prstGeom prst="roundRect">
            <a:avLst>
              <a:gd name="adj" fmla="val 1333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36" name="Image 0" descr="/Users/thy/Desktop/KeTiZu/proj_260608/Songtt_proj01/output_nifti/patient_0099039449/CT_brain_0.80_Hr40_S3_00000262_previe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74336" y="1472184"/>
            <a:ext cx="6428232" cy="3730752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5065776" y="5257800"/>
            <a:ext cx="6245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转换后生成的 NIfTI 三视图预览</a:t>
            </a:r>
            <a:endParaRPr lang="en-US" sz="730" dirty="0"/>
          </a:p>
        </p:txBody>
      </p:sp>
      <p:sp>
        <p:nvSpPr>
          <p:cNvPr id="38" name="Shape 35"/>
          <p:cNvSpPr/>
          <p:nvPr/>
        </p:nvSpPr>
        <p:spPr>
          <a:xfrm>
            <a:off x="4919472" y="5623560"/>
            <a:ext cx="6537960" cy="713232"/>
          </a:xfrm>
          <a:prstGeom prst="roundRect">
            <a:avLst>
              <a:gd name="adj" fmla="val 7692"/>
            </a:avLst>
          </a:prstGeom>
          <a:solidFill>
            <a:srgbClr val="09182A"/>
          </a:solidFill>
          <a:ln w="12700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084064" y="5751576"/>
            <a:ext cx="6208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白话解释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5084064" y="5971032"/>
            <a:ext cx="6208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DICOM 可以理解成“一摞带坐标的 CT 小切片”，每张图都知道自己在脑袋里的位置。NIfTI 则是把这些切片按正确顺序和间距叠成一个三维脑部 CT。后面的颅骨、血肿、脑室、路径规划，都必须建立在这个三维数据上。</a:t>
            </a:r>
            <a:endParaRPr lang="en-US" sz="7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STEP 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步骤 2 · 颅骨分割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21208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目的：先找到头骨外壳，为颅腔提取和入颅点采样打基础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6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621792" y="1417320"/>
            <a:ext cx="6400800" cy="2331720"/>
          </a:xfrm>
          <a:prstGeom prst="roundRect">
            <a:avLst>
              <a:gd name="adj" fmla="val 2353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9" name="Image 0" descr="/Users/thy/Desktop/KeTiZu/proj_260608/Songtt_proj01/output_nifti/patient_0099039449/CT_brain_0.80_Hr60_S3_00000263_skull_overla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" y="1472184"/>
            <a:ext cx="6291072" cy="19476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68096" y="3474720"/>
            <a:ext cx="61081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颅骨 overlay：白/红色区域为骨结构</a:t>
            </a:r>
            <a:endParaRPr lang="en-US" sz="730" dirty="0"/>
          </a:p>
        </p:txBody>
      </p:sp>
      <p:sp>
        <p:nvSpPr>
          <p:cNvPr id="11" name="Shape 8"/>
          <p:cNvSpPr/>
          <p:nvPr/>
        </p:nvSpPr>
        <p:spPr>
          <a:xfrm>
            <a:off x="7315200" y="1417320"/>
            <a:ext cx="4069080" cy="4526280"/>
          </a:xfrm>
          <a:prstGeom prst="roundRect">
            <a:avLst>
              <a:gd name="adj" fmla="val 1348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12" name="Image 1" descr="/Users/thy/Desktop/KeTiZu/proj_260608/Songtt_proj01/output_nifti/patient_0099039449/CT_brain_0.80_Hr60_S3_00000263_skull_3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370064" y="1472184"/>
            <a:ext cx="3959352" cy="41422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61504" y="5669280"/>
            <a:ext cx="3776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颅骨 3D 表面渲染</a:t>
            </a:r>
            <a:endParaRPr lang="en-US" sz="730" dirty="0"/>
          </a:p>
        </p:txBody>
      </p:sp>
      <p:sp>
        <p:nvSpPr>
          <p:cNvPr id="14" name="Shape 10"/>
          <p:cNvSpPr/>
          <p:nvPr/>
        </p:nvSpPr>
        <p:spPr>
          <a:xfrm>
            <a:off x="621792" y="3977640"/>
            <a:ext cx="2971800" cy="1325880"/>
          </a:xfrm>
          <a:prstGeom prst="roundRect">
            <a:avLst>
              <a:gd name="adj" fmla="val 4138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50392" y="417880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34D399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方法</a:t>
            </a:r>
            <a:endParaRPr lang="en-US" sz="1120" dirty="0"/>
          </a:p>
        </p:txBody>
      </p:sp>
      <p:sp>
        <p:nvSpPr>
          <p:cNvPr id="16" name="Text 12"/>
          <p:cNvSpPr/>
          <p:nvPr/>
        </p:nvSpPr>
        <p:spPr>
          <a:xfrm>
            <a:off x="850392" y="4526280"/>
            <a:ext cx="2532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骨头在 CT 上非常亮，用 HU 阈值先筛出疑似骨头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用开闭运算去掉小噪点，并尽量补上骨缝小断裂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保留最大的三维连通结构，避免把零散亮点当成颅骨</a:t>
            </a:r>
            <a:endParaRPr lang="en-US" sz="880" dirty="0"/>
          </a:p>
        </p:txBody>
      </p:sp>
      <p:sp>
        <p:nvSpPr>
          <p:cNvPr id="17" name="Shape 13"/>
          <p:cNvSpPr/>
          <p:nvPr/>
        </p:nvSpPr>
        <p:spPr>
          <a:xfrm>
            <a:off x="3794760" y="3977640"/>
            <a:ext cx="128016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840480" y="4059936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病例</a:t>
            </a:r>
            <a:endParaRPr lang="en-US" sz="730" dirty="0"/>
          </a:p>
        </p:txBody>
      </p:sp>
      <p:sp>
        <p:nvSpPr>
          <p:cNvPr id="19" name="Shape 15"/>
          <p:cNvSpPr/>
          <p:nvPr/>
        </p:nvSpPr>
        <p:spPr>
          <a:xfrm>
            <a:off x="5074920" y="3977640"/>
            <a:ext cx="118872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120640" y="4059936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颅骨体积</a:t>
            </a:r>
            <a:endParaRPr lang="en-US" sz="730" dirty="0"/>
          </a:p>
        </p:txBody>
      </p:sp>
      <p:sp>
        <p:nvSpPr>
          <p:cNvPr id="21" name="Shape 17"/>
          <p:cNvSpPr/>
          <p:nvPr/>
        </p:nvSpPr>
        <p:spPr>
          <a:xfrm>
            <a:off x="3794760" y="4315968"/>
            <a:ext cx="128016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840480" y="439826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0099039449</a:t>
            </a:r>
            <a:endParaRPr lang="en-US" sz="720" dirty="0"/>
          </a:p>
        </p:txBody>
      </p:sp>
      <p:sp>
        <p:nvSpPr>
          <p:cNvPr id="23" name="Shape 19"/>
          <p:cNvSpPr/>
          <p:nvPr/>
        </p:nvSpPr>
        <p:spPr>
          <a:xfrm>
            <a:off x="5074920" y="4315968"/>
            <a:ext cx="118872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120640" y="4398264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402.10 cm³</a:t>
            </a:r>
            <a:endParaRPr lang="en-US" sz="720" dirty="0"/>
          </a:p>
        </p:txBody>
      </p:sp>
      <p:sp>
        <p:nvSpPr>
          <p:cNvPr id="25" name="Shape 21"/>
          <p:cNvSpPr/>
          <p:nvPr/>
        </p:nvSpPr>
        <p:spPr>
          <a:xfrm>
            <a:off x="3794760" y="4645152"/>
            <a:ext cx="128016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840480" y="4727448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0100297683</a:t>
            </a:r>
            <a:endParaRPr lang="en-US" sz="720" dirty="0"/>
          </a:p>
        </p:txBody>
      </p:sp>
      <p:sp>
        <p:nvSpPr>
          <p:cNvPr id="27" name="Shape 23"/>
          <p:cNvSpPr/>
          <p:nvPr/>
        </p:nvSpPr>
        <p:spPr>
          <a:xfrm>
            <a:off x="5074920" y="4645152"/>
            <a:ext cx="118872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120640" y="472744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484.34 cm³</a:t>
            </a:r>
            <a:endParaRPr lang="en-US" sz="720" dirty="0"/>
          </a:p>
        </p:txBody>
      </p:sp>
      <p:sp>
        <p:nvSpPr>
          <p:cNvPr id="29" name="Shape 25"/>
          <p:cNvSpPr/>
          <p:nvPr/>
        </p:nvSpPr>
        <p:spPr>
          <a:xfrm>
            <a:off x="621792" y="5440680"/>
            <a:ext cx="6400800" cy="841248"/>
          </a:xfrm>
          <a:prstGeom prst="roundRect">
            <a:avLst>
              <a:gd name="adj" fmla="val 6522"/>
            </a:avLst>
          </a:prstGeom>
          <a:solidFill>
            <a:srgbClr val="09182A"/>
          </a:solidFill>
          <a:ln w="12700">
            <a:solidFill>
              <a:srgbClr val="34D399">
                <a:alpha val="65000"/>
              </a:srgbClr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786384" y="5568696"/>
            <a:ext cx="6071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为什么先找骨头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786384" y="5788152"/>
            <a:ext cx="6071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头骨像一个坚硬外壳。先把外壳找出来，程序才能知道“脑袋里面”大概在哪里；后面提取颅腔、判断路径是否穿过太厚的骨头、从颅骨表面采样入颅点，都要依赖这一步。overlay 图用于看二维叠加效果，3D 图用于直观看整体骨壳形状。</a:t>
            </a:r>
            <a:endParaRPr lang="en-US" sz="7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STEP 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步骤 3 · 颅腔、脑组织、血肿粗分割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21208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目的：定位脑内空间，并筛出疑似出血区域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7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621792" y="1389888"/>
            <a:ext cx="6492240" cy="2487168"/>
          </a:xfrm>
          <a:prstGeom prst="roundRect">
            <a:avLst>
              <a:gd name="adj" fmla="val 2206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9" name="Image 0" descr="/Users/thy/Desktop/KeTiZu/proj_260608/Songtt_proj01/output_nifti/patient_0099039449/CT_brain_0.80_Hr40_S3_00000262_brain_overla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" y="1444752"/>
            <a:ext cx="6382512" cy="21031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68096" y="3602736"/>
            <a:ext cx="61996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脑/血肿 overlay：红色为疑似血肿</a:t>
            </a:r>
            <a:endParaRPr lang="en-US" sz="730" dirty="0"/>
          </a:p>
        </p:txBody>
      </p:sp>
      <p:sp>
        <p:nvSpPr>
          <p:cNvPr id="11" name="Shape 8"/>
          <p:cNvSpPr/>
          <p:nvPr/>
        </p:nvSpPr>
        <p:spPr>
          <a:xfrm>
            <a:off x="7388352" y="1389888"/>
            <a:ext cx="3977640" cy="4480560"/>
          </a:xfrm>
          <a:prstGeom prst="roundRect">
            <a:avLst>
              <a:gd name="adj" fmla="val 1379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12" name="Image 1" descr="/Users/thy/Desktop/KeTiZu/proj_260608/Songtt_proj01/output_nifti/patient_0099039449/CT_brain_0.80_Hr40_S3_00000262_brain_3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443216" y="1444752"/>
            <a:ext cx="3867912" cy="40965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34656" y="5596128"/>
            <a:ext cx="36850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颅骨半透明 + 血肿 3D</a:t>
            </a:r>
            <a:endParaRPr lang="en-US" sz="730" dirty="0"/>
          </a:p>
        </p:txBody>
      </p:sp>
      <p:sp>
        <p:nvSpPr>
          <p:cNvPr id="14" name="Shape 10"/>
          <p:cNvSpPr/>
          <p:nvPr/>
        </p:nvSpPr>
        <p:spPr>
          <a:xfrm>
            <a:off x="621792" y="4187952"/>
            <a:ext cx="3429000" cy="1508760"/>
          </a:xfrm>
          <a:prstGeom prst="roundRect">
            <a:avLst>
              <a:gd name="adj" fmla="val 3636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50392" y="4389120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F05252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处理逻辑</a:t>
            </a:r>
            <a:endParaRPr lang="en-US" sz="1120" dirty="0"/>
          </a:p>
        </p:txBody>
      </p:sp>
      <p:sp>
        <p:nvSpPr>
          <p:cNvPr id="16" name="Text 12"/>
          <p:cNvSpPr/>
          <p:nvPr/>
        </p:nvSpPr>
        <p:spPr>
          <a:xfrm>
            <a:off x="850392" y="4736592"/>
            <a:ext cx="2990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先把颅骨围起来的内部空间填出来，得到大致颅腔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在颅腔里用 HU 0-80 提取脑组织和类似软组织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再用 HU 45-80 找更亮的疑似出血，并按体积、距离和形状过滤</a:t>
            </a:r>
            <a:endParaRPr lang="en-US" sz="880" dirty="0"/>
          </a:p>
        </p:txBody>
      </p:sp>
      <p:sp>
        <p:nvSpPr>
          <p:cNvPr id="17" name="Shape 13"/>
          <p:cNvSpPr/>
          <p:nvPr/>
        </p:nvSpPr>
        <p:spPr>
          <a:xfrm>
            <a:off x="4297680" y="4187952"/>
            <a:ext cx="105156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343400" y="4270248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病例</a:t>
            </a:r>
            <a:endParaRPr lang="en-US" sz="730" dirty="0"/>
          </a:p>
        </p:txBody>
      </p:sp>
      <p:sp>
        <p:nvSpPr>
          <p:cNvPr id="19" name="Shape 15"/>
          <p:cNvSpPr/>
          <p:nvPr/>
        </p:nvSpPr>
        <p:spPr>
          <a:xfrm>
            <a:off x="5349240" y="4187952"/>
            <a:ext cx="713232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394960" y="4270248"/>
            <a:ext cx="621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颅腔</a:t>
            </a:r>
            <a:endParaRPr lang="en-US" sz="730" dirty="0"/>
          </a:p>
        </p:txBody>
      </p:sp>
      <p:sp>
        <p:nvSpPr>
          <p:cNvPr id="21" name="Shape 17"/>
          <p:cNvSpPr/>
          <p:nvPr/>
        </p:nvSpPr>
        <p:spPr>
          <a:xfrm>
            <a:off x="6062472" y="4187952"/>
            <a:ext cx="713232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108192" y="4270248"/>
            <a:ext cx="621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脑组织</a:t>
            </a:r>
            <a:endParaRPr lang="en-US" sz="730" dirty="0"/>
          </a:p>
        </p:txBody>
      </p:sp>
      <p:sp>
        <p:nvSpPr>
          <p:cNvPr id="23" name="Shape 19"/>
          <p:cNvSpPr/>
          <p:nvPr/>
        </p:nvSpPr>
        <p:spPr>
          <a:xfrm>
            <a:off x="6775704" y="4187952"/>
            <a:ext cx="713232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821424" y="4270248"/>
            <a:ext cx="621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血肿</a:t>
            </a:r>
            <a:endParaRPr lang="en-US" sz="730" dirty="0"/>
          </a:p>
        </p:txBody>
      </p:sp>
      <p:sp>
        <p:nvSpPr>
          <p:cNvPr id="25" name="Shape 21"/>
          <p:cNvSpPr/>
          <p:nvPr/>
        </p:nvSpPr>
        <p:spPr>
          <a:xfrm>
            <a:off x="4297680" y="4526280"/>
            <a:ext cx="105156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343400" y="4608576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0099039449</a:t>
            </a:r>
            <a:endParaRPr lang="en-US" sz="720" dirty="0"/>
          </a:p>
        </p:txBody>
      </p:sp>
      <p:sp>
        <p:nvSpPr>
          <p:cNvPr id="27" name="Shape 23"/>
          <p:cNvSpPr/>
          <p:nvPr/>
        </p:nvSpPr>
        <p:spPr>
          <a:xfrm>
            <a:off x="5349240" y="4526280"/>
            <a:ext cx="713232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394960" y="4608576"/>
            <a:ext cx="621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827.24</a:t>
            </a:r>
            <a:endParaRPr lang="en-US" sz="720" dirty="0"/>
          </a:p>
        </p:txBody>
      </p:sp>
      <p:sp>
        <p:nvSpPr>
          <p:cNvPr id="29" name="Shape 25"/>
          <p:cNvSpPr/>
          <p:nvPr/>
        </p:nvSpPr>
        <p:spPr>
          <a:xfrm>
            <a:off x="6062472" y="4526280"/>
            <a:ext cx="713232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108192" y="4608576"/>
            <a:ext cx="621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785.40</a:t>
            </a:r>
            <a:endParaRPr lang="en-US" sz="720" dirty="0"/>
          </a:p>
        </p:txBody>
      </p:sp>
      <p:sp>
        <p:nvSpPr>
          <p:cNvPr id="31" name="Shape 27"/>
          <p:cNvSpPr/>
          <p:nvPr/>
        </p:nvSpPr>
        <p:spPr>
          <a:xfrm>
            <a:off x="6775704" y="4526280"/>
            <a:ext cx="713232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6821424" y="4608576"/>
            <a:ext cx="621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8.37</a:t>
            </a:r>
            <a:endParaRPr lang="en-US" sz="720" dirty="0"/>
          </a:p>
        </p:txBody>
      </p:sp>
      <p:sp>
        <p:nvSpPr>
          <p:cNvPr id="33" name="Shape 29"/>
          <p:cNvSpPr/>
          <p:nvPr/>
        </p:nvSpPr>
        <p:spPr>
          <a:xfrm>
            <a:off x="4297680" y="4855464"/>
            <a:ext cx="105156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4343400" y="4937760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0100297683</a:t>
            </a:r>
            <a:endParaRPr lang="en-US" sz="720" dirty="0"/>
          </a:p>
        </p:txBody>
      </p:sp>
      <p:sp>
        <p:nvSpPr>
          <p:cNvPr id="35" name="Shape 31"/>
          <p:cNvSpPr/>
          <p:nvPr/>
        </p:nvSpPr>
        <p:spPr>
          <a:xfrm>
            <a:off x="5349240" y="4855464"/>
            <a:ext cx="713232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5394960" y="4937760"/>
            <a:ext cx="621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1048.32</a:t>
            </a:r>
            <a:endParaRPr lang="en-US" sz="720" dirty="0"/>
          </a:p>
        </p:txBody>
      </p:sp>
      <p:sp>
        <p:nvSpPr>
          <p:cNvPr id="37" name="Shape 33"/>
          <p:cNvSpPr/>
          <p:nvPr/>
        </p:nvSpPr>
        <p:spPr>
          <a:xfrm>
            <a:off x="6062472" y="4855464"/>
            <a:ext cx="713232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6108192" y="4937760"/>
            <a:ext cx="621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999.50</a:t>
            </a:r>
            <a:endParaRPr lang="en-US" sz="720" dirty="0"/>
          </a:p>
        </p:txBody>
      </p:sp>
      <p:sp>
        <p:nvSpPr>
          <p:cNvPr id="39" name="Shape 35"/>
          <p:cNvSpPr/>
          <p:nvPr/>
        </p:nvSpPr>
        <p:spPr>
          <a:xfrm>
            <a:off x="6775704" y="4855464"/>
            <a:ext cx="713232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6821424" y="4937760"/>
            <a:ext cx="621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0.00</a:t>
            </a:r>
            <a:endParaRPr lang="en-US" sz="720" dirty="0"/>
          </a:p>
        </p:txBody>
      </p:sp>
      <p:sp>
        <p:nvSpPr>
          <p:cNvPr id="41" name="Text 37"/>
          <p:cNvSpPr/>
          <p:nvPr/>
        </p:nvSpPr>
        <p:spPr>
          <a:xfrm>
            <a:off x="4315968" y="5394960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单位：mL；血肿为粗分割结果，需要人工复核。</a:t>
            </a:r>
            <a:endParaRPr lang="en-US" sz="650" dirty="0"/>
          </a:p>
        </p:txBody>
      </p:sp>
      <p:sp>
        <p:nvSpPr>
          <p:cNvPr id="42" name="Shape 38"/>
          <p:cNvSpPr/>
          <p:nvPr/>
        </p:nvSpPr>
        <p:spPr>
          <a:xfrm>
            <a:off x="621792" y="5596128"/>
            <a:ext cx="6492240" cy="713232"/>
          </a:xfrm>
          <a:prstGeom prst="roundRect">
            <a:avLst>
              <a:gd name="adj" fmla="val 7692"/>
            </a:avLst>
          </a:prstGeom>
          <a:solidFill>
            <a:srgbClr val="09182A"/>
          </a:solidFill>
          <a:ln w="12700">
            <a:solidFill>
              <a:srgbClr val="F05252">
                <a:alpha val="65000"/>
              </a:srgbClr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786384" y="5724144"/>
            <a:ext cx="6163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05252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白话逻辑</a:t>
            </a:r>
            <a:endParaRPr lang="en-US" sz="850" dirty="0"/>
          </a:p>
        </p:txBody>
      </p:sp>
      <p:sp>
        <p:nvSpPr>
          <p:cNvPr id="44" name="Text 40"/>
          <p:cNvSpPr/>
          <p:nvPr/>
        </p:nvSpPr>
        <p:spPr>
          <a:xfrm>
            <a:off x="786384" y="594360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这一步像是在三维 CT 上分三层涂色：第一层先圈出头骨里面的空间，第二层把脑组织涂出来，第三层在脑组织里找更亮、形状更像出血的区域。本例 0099039449 检出约 8.37 mL 疑似血肿；但钙化、骨边缘伪影也可能偏亮，所以必须人工看 overlay 复核。</a:t>
            </a:r>
            <a:endParaRPr lang="en-US" sz="7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STEP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步骤 4 · 脑室分割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21208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目的：找出脑室区域，作为路径规划时需要避开的结构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8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621792" y="1389888"/>
            <a:ext cx="6400800" cy="2487168"/>
          </a:xfrm>
          <a:prstGeom prst="roundRect">
            <a:avLst>
              <a:gd name="adj" fmla="val 2206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9" name="Image 0" descr="/Users/thy/Desktop/KeTiZu/proj_260608/Songtt_proj01/output_nifti/patient_0099039449/CT_brain_0.80_Hr40_S3_00000262_ventricle_overla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" y="1444752"/>
            <a:ext cx="6291072" cy="21031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68096" y="3602736"/>
            <a:ext cx="61081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青色区域为脑室候选</a:t>
            </a:r>
            <a:endParaRPr lang="en-US" sz="730" dirty="0"/>
          </a:p>
        </p:txBody>
      </p:sp>
      <p:sp>
        <p:nvSpPr>
          <p:cNvPr id="11" name="Shape 8"/>
          <p:cNvSpPr/>
          <p:nvPr/>
        </p:nvSpPr>
        <p:spPr>
          <a:xfrm>
            <a:off x="7333488" y="1389888"/>
            <a:ext cx="4041648" cy="4480560"/>
          </a:xfrm>
          <a:prstGeom prst="roundRect">
            <a:avLst>
              <a:gd name="adj" fmla="val 1357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12" name="Image 1" descr="/Users/thy/Desktop/KeTiZu/proj_260608/Songtt_proj01/output_nifti/patient_0099039449/CT_brain_0.80_Hr40_S3_00000262_ventricle_3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388352" y="1444752"/>
            <a:ext cx="3931920" cy="40965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79792" y="5596128"/>
            <a:ext cx="3749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颅骨 + 脑室 + 血肿 3D</a:t>
            </a:r>
            <a:endParaRPr lang="en-US" sz="730" dirty="0"/>
          </a:p>
        </p:txBody>
      </p:sp>
      <p:sp>
        <p:nvSpPr>
          <p:cNvPr id="14" name="Shape 10"/>
          <p:cNvSpPr/>
          <p:nvPr/>
        </p:nvSpPr>
        <p:spPr>
          <a:xfrm>
            <a:off x="621792" y="4206240"/>
            <a:ext cx="3566160" cy="1444752"/>
          </a:xfrm>
          <a:prstGeom prst="roundRect">
            <a:avLst>
              <a:gd name="adj" fmla="val 3797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50392" y="440740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方法</a:t>
            </a:r>
            <a:endParaRPr lang="en-US" sz="1120" dirty="0"/>
          </a:p>
        </p:txBody>
      </p:sp>
      <p:sp>
        <p:nvSpPr>
          <p:cNvPr id="16" name="Text 12"/>
          <p:cNvSpPr/>
          <p:nvPr/>
        </p:nvSpPr>
        <p:spPr>
          <a:xfrm>
            <a:off x="850392" y="4754880"/>
            <a:ext cx="312724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在颅腔内部寻找 HU 偏低、接近脑脊液的区域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排除太靠近颅骨的低密度区域，减少把脑沟误当脑室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按连通域大小筛选，保留更像脑室的主要区域</a:t>
            </a:r>
            <a:endParaRPr lang="en-US" sz="880" dirty="0"/>
          </a:p>
        </p:txBody>
      </p:sp>
      <p:sp>
        <p:nvSpPr>
          <p:cNvPr id="17" name="Shape 13"/>
          <p:cNvSpPr/>
          <p:nvPr/>
        </p:nvSpPr>
        <p:spPr>
          <a:xfrm>
            <a:off x="4462272" y="4206240"/>
            <a:ext cx="114300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507992" y="4288536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病例</a:t>
            </a:r>
            <a:endParaRPr lang="en-US" sz="730" dirty="0"/>
          </a:p>
        </p:txBody>
      </p:sp>
      <p:sp>
        <p:nvSpPr>
          <p:cNvPr id="19" name="Shape 15"/>
          <p:cNvSpPr/>
          <p:nvPr/>
        </p:nvSpPr>
        <p:spPr>
          <a:xfrm>
            <a:off x="5605272" y="4206240"/>
            <a:ext cx="114300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650992" y="4288536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脑室体积</a:t>
            </a:r>
            <a:endParaRPr lang="en-US" sz="730" dirty="0"/>
          </a:p>
        </p:txBody>
      </p:sp>
      <p:sp>
        <p:nvSpPr>
          <p:cNvPr id="21" name="Shape 17"/>
          <p:cNvSpPr/>
          <p:nvPr/>
        </p:nvSpPr>
        <p:spPr>
          <a:xfrm>
            <a:off x="6748272" y="4206240"/>
            <a:ext cx="73152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793992" y="4288536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连通域</a:t>
            </a:r>
            <a:endParaRPr lang="en-US" sz="730" dirty="0"/>
          </a:p>
        </p:txBody>
      </p:sp>
      <p:sp>
        <p:nvSpPr>
          <p:cNvPr id="23" name="Shape 19"/>
          <p:cNvSpPr/>
          <p:nvPr/>
        </p:nvSpPr>
        <p:spPr>
          <a:xfrm>
            <a:off x="4462272" y="4544568"/>
            <a:ext cx="114300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507992" y="4626864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0099039449</a:t>
            </a:r>
            <a:endParaRPr lang="en-US" sz="720" dirty="0"/>
          </a:p>
        </p:txBody>
      </p:sp>
      <p:sp>
        <p:nvSpPr>
          <p:cNvPr id="25" name="Shape 21"/>
          <p:cNvSpPr/>
          <p:nvPr/>
        </p:nvSpPr>
        <p:spPr>
          <a:xfrm>
            <a:off x="5605272" y="4544568"/>
            <a:ext cx="114300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650992" y="4626864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19.09 mL</a:t>
            </a:r>
            <a:endParaRPr lang="en-US" sz="720" dirty="0"/>
          </a:p>
        </p:txBody>
      </p:sp>
      <p:sp>
        <p:nvSpPr>
          <p:cNvPr id="27" name="Shape 23"/>
          <p:cNvSpPr/>
          <p:nvPr/>
        </p:nvSpPr>
        <p:spPr>
          <a:xfrm>
            <a:off x="6748272" y="4544568"/>
            <a:ext cx="73152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793992" y="4626864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5</a:t>
            </a:r>
            <a:endParaRPr lang="en-US" sz="720" dirty="0"/>
          </a:p>
        </p:txBody>
      </p:sp>
      <p:sp>
        <p:nvSpPr>
          <p:cNvPr id="29" name="Shape 25"/>
          <p:cNvSpPr/>
          <p:nvPr/>
        </p:nvSpPr>
        <p:spPr>
          <a:xfrm>
            <a:off x="4462272" y="4873752"/>
            <a:ext cx="114300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507992" y="4956048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0100297683</a:t>
            </a:r>
            <a:endParaRPr lang="en-US" sz="720" dirty="0"/>
          </a:p>
        </p:txBody>
      </p:sp>
      <p:sp>
        <p:nvSpPr>
          <p:cNvPr id="31" name="Shape 27"/>
          <p:cNvSpPr/>
          <p:nvPr/>
        </p:nvSpPr>
        <p:spPr>
          <a:xfrm>
            <a:off x="5605272" y="4873752"/>
            <a:ext cx="114300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5650992" y="4956048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40.29 mL</a:t>
            </a:r>
            <a:endParaRPr lang="en-US" sz="720" dirty="0"/>
          </a:p>
        </p:txBody>
      </p:sp>
      <p:sp>
        <p:nvSpPr>
          <p:cNvPr id="33" name="Shape 29"/>
          <p:cNvSpPr/>
          <p:nvPr/>
        </p:nvSpPr>
        <p:spPr>
          <a:xfrm>
            <a:off x="6748272" y="4873752"/>
            <a:ext cx="73152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6793992" y="4956048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4</a:t>
            </a:r>
            <a:endParaRPr lang="en-US" sz="720" dirty="0"/>
          </a:p>
        </p:txBody>
      </p:sp>
      <p:sp>
        <p:nvSpPr>
          <p:cNvPr id="35" name="Shape 31"/>
          <p:cNvSpPr/>
          <p:nvPr/>
        </p:nvSpPr>
        <p:spPr>
          <a:xfrm>
            <a:off x="621792" y="5605272"/>
            <a:ext cx="6400800" cy="713232"/>
          </a:xfrm>
          <a:prstGeom prst="roundRect">
            <a:avLst>
              <a:gd name="adj" fmla="val 7692"/>
            </a:avLst>
          </a:prstGeom>
          <a:solidFill>
            <a:srgbClr val="09182A"/>
          </a:solidFill>
          <a:ln w="12700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786384" y="5733288"/>
            <a:ext cx="6071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为什么要避开脑室</a:t>
            </a:r>
            <a:endParaRPr lang="en-US" sz="850" dirty="0"/>
          </a:p>
        </p:txBody>
      </p:sp>
      <p:sp>
        <p:nvSpPr>
          <p:cNvPr id="37" name="Text 33"/>
          <p:cNvSpPr/>
          <p:nvPr/>
        </p:nvSpPr>
        <p:spPr>
          <a:xfrm>
            <a:off x="786384" y="5952744"/>
            <a:ext cx="6071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脑室可以理解成脑内装脑脊液的空腔，CT 上比普通脑组织更暗。路径规划时如果直线穿过脑室，可能增加风险或不符合预期，因此脚本把脑室外扩一定安全边距后作为禁区。本次两个病例都提取到了脑室候选区域。</a:t>
            </a:r>
            <a:endParaRPr lang="en-US" sz="7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STEP 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步骤 5 · 血管风险禁区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21208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目的：在平扫 CT 无法精确分割血管时，生成保守避让区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9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621792" y="1389888"/>
            <a:ext cx="6400800" cy="2487168"/>
          </a:xfrm>
          <a:prstGeom prst="roundRect">
            <a:avLst>
              <a:gd name="adj" fmla="val 2206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9" name="Image 0" descr="/Users/thy/Desktop/KeTiZu/proj_260608/Songtt_proj01/output_nifti/patient_0099039449/CT_brain_0.80_Hr40_S3_00000262_vessel_overla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" y="1444752"/>
            <a:ext cx="6291072" cy="21031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68096" y="3602736"/>
            <a:ext cx="61081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红/橙色风险区用于路径避让</a:t>
            </a:r>
            <a:endParaRPr lang="en-US" sz="730" dirty="0"/>
          </a:p>
        </p:txBody>
      </p:sp>
      <p:sp>
        <p:nvSpPr>
          <p:cNvPr id="11" name="Shape 8"/>
          <p:cNvSpPr/>
          <p:nvPr/>
        </p:nvSpPr>
        <p:spPr>
          <a:xfrm>
            <a:off x="7333488" y="1389888"/>
            <a:ext cx="4041648" cy="4480560"/>
          </a:xfrm>
          <a:prstGeom prst="roundRect">
            <a:avLst>
              <a:gd name="adj" fmla="val 1357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12" name="Image 1" descr="/Users/thy/Desktop/KeTiZu/proj_260608/Songtt_proj01/output_nifti/patient_0099039449/CT_brain_0.80_Hr40_S3_00000262_vessel_3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388352" y="1444752"/>
            <a:ext cx="3931920" cy="40965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79792" y="5596128"/>
            <a:ext cx="3749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风险区 3D 展示</a:t>
            </a:r>
            <a:endParaRPr lang="en-US" sz="730" dirty="0"/>
          </a:p>
        </p:txBody>
      </p:sp>
      <p:sp>
        <p:nvSpPr>
          <p:cNvPr id="14" name="Shape 10"/>
          <p:cNvSpPr/>
          <p:nvPr/>
        </p:nvSpPr>
        <p:spPr>
          <a:xfrm>
            <a:off x="621792" y="4206240"/>
            <a:ext cx="3749040" cy="1444752"/>
          </a:xfrm>
          <a:prstGeom prst="roundRect">
            <a:avLst>
              <a:gd name="adj" fmla="val 3797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50392" y="440740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F59E0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关键说明</a:t>
            </a:r>
            <a:endParaRPr lang="en-US" sz="1120" dirty="0"/>
          </a:p>
        </p:txBody>
      </p:sp>
      <p:sp>
        <p:nvSpPr>
          <p:cNvPr id="16" name="Text 12"/>
          <p:cNvSpPr/>
          <p:nvPr/>
        </p:nvSpPr>
        <p:spPr>
          <a:xfrm>
            <a:off x="850392" y="4754880"/>
            <a:ext cx="331012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这一步不是精确血管分割，而是保守风险建模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普通平扫 CT 很难看到未钙化血管，真实血管最好用 CTA/MRA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脚本把高密度结构、中线静脉窦、大脑镰和颅底附近区域当作避让区</a:t>
            </a:r>
            <a:endParaRPr lang="en-US" sz="880" dirty="0"/>
          </a:p>
        </p:txBody>
      </p:sp>
      <p:sp>
        <p:nvSpPr>
          <p:cNvPr id="17" name="Shape 13"/>
          <p:cNvSpPr/>
          <p:nvPr/>
        </p:nvSpPr>
        <p:spPr>
          <a:xfrm>
            <a:off x="4590288" y="4206240"/>
            <a:ext cx="123444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636008" y="4288536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病例</a:t>
            </a:r>
            <a:endParaRPr lang="en-US" sz="730" dirty="0"/>
          </a:p>
        </p:txBody>
      </p:sp>
      <p:sp>
        <p:nvSpPr>
          <p:cNvPr id="19" name="Shape 15"/>
          <p:cNvSpPr/>
          <p:nvPr/>
        </p:nvSpPr>
        <p:spPr>
          <a:xfrm>
            <a:off x="5824728" y="4206240"/>
            <a:ext cx="123444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870448" y="4288536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风险区体积</a:t>
            </a:r>
            <a:endParaRPr lang="en-US" sz="730" dirty="0"/>
          </a:p>
        </p:txBody>
      </p:sp>
      <p:sp>
        <p:nvSpPr>
          <p:cNvPr id="21" name="Shape 17"/>
          <p:cNvSpPr/>
          <p:nvPr/>
        </p:nvSpPr>
        <p:spPr>
          <a:xfrm>
            <a:off x="4590288" y="4544568"/>
            <a:ext cx="123444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636008" y="4626864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0099039449</a:t>
            </a:r>
            <a:endParaRPr lang="en-US" sz="720" dirty="0"/>
          </a:p>
        </p:txBody>
      </p:sp>
      <p:sp>
        <p:nvSpPr>
          <p:cNvPr id="23" name="Shape 19"/>
          <p:cNvSpPr/>
          <p:nvPr/>
        </p:nvSpPr>
        <p:spPr>
          <a:xfrm>
            <a:off x="5824728" y="4544568"/>
            <a:ext cx="123444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870448" y="4626864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77.76 mL</a:t>
            </a:r>
            <a:endParaRPr lang="en-US" sz="720" dirty="0"/>
          </a:p>
        </p:txBody>
      </p:sp>
      <p:sp>
        <p:nvSpPr>
          <p:cNvPr id="25" name="Shape 21"/>
          <p:cNvSpPr/>
          <p:nvPr/>
        </p:nvSpPr>
        <p:spPr>
          <a:xfrm>
            <a:off x="4590288" y="4873752"/>
            <a:ext cx="123444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636008" y="4956048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0100297683</a:t>
            </a:r>
            <a:endParaRPr lang="en-US" sz="720" dirty="0"/>
          </a:p>
        </p:txBody>
      </p:sp>
      <p:sp>
        <p:nvSpPr>
          <p:cNvPr id="27" name="Shape 23"/>
          <p:cNvSpPr/>
          <p:nvPr/>
        </p:nvSpPr>
        <p:spPr>
          <a:xfrm>
            <a:off x="5824728" y="4873752"/>
            <a:ext cx="123444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870448" y="4956048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213.37 mL</a:t>
            </a:r>
            <a:endParaRPr lang="en-US" sz="720" dirty="0"/>
          </a:p>
        </p:txBody>
      </p:sp>
      <p:sp>
        <p:nvSpPr>
          <p:cNvPr id="29" name="Text 25"/>
          <p:cNvSpPr/>
          <p:nvPr/>
        </p:nvSpPr>
        <p:spPr>
          <a:xfrm>
            <a:off x="4617720" y="519379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后续接入 CTA/MRA 后应替换为真实血管分割。</a:t>
            </a:r>
            <a:endParaRPr lang="en-US" sz="740" dirty="0"/>
          </a:p>
        </p:txBody>
      </p:sp>
      <p:sp>
        <p:nvSpPr>
          <p:cNvPr id="30" name="Shape 26"/>
          <p:cNvSpPr/>
          <p:nvPr/>
        </p:nvSpPr>
        <p:spPr>
          <a:xfrm>
            <a:off x="621792" y="5596128"/>
            <a:ext cx="6400800" cy="731520"/>
          </a:xfrm>
          <a:prstGeom prst="roundRect">
            <a:avLst>
              <a:gd name="adj" fmla="val 7500"/>
            </a:avLst>
          </a:prstGeom>
          <a:solidFill>
            <a:srgbClr val="09182A"/>
          </a:solidFill>
          <a:ln w="12700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786384" y="5724144"/>
            <a:ext cx="6071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重要边界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786384" y="5943600"/>
            <a:ext cx="6071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普通平扫 CT 看不清很多血管，所以这页不能说“程序把血管都找出来了”。更准确的说法是：程序画出一些可能有血管风险、路径应尽量避开的区域。这样做会牺牲一部分可选路径，但能让规划更保守。后续若有 CTA/MRA，应替换为真实血管分割。</a:t>
            </a:r>
            <a:endParaRPr lang="en-US" sz="7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STEP 6-7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步骤 6-7 · 脑干与功能区近似禁区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21208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目的：把高风险结构纳入路径规划约束，但当前是几何近似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10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621792" y="1389888"/>
            <a:ext cx="5440680" cy="2359152"/>
          </a:xfrm>
          <a:prstGeom prst="roundRect">
            <a:avLst>
              <a:gd name="adj" fmla="val 2326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9" name="Image 0" descr="/Users/thy/Desktop/KeTiZu/proj_260608/Songtt_proj01/output_nifti/patient_0099039449/CT_brain_0.80_Hr40_S3_00000262_brainstem_overla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" y="1444752"/>
            <a:ext cx="5330952" cy="19751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68096" y="3474720"/>
            <a:ext cx="51480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脑干近似禁区 overlay</a:t>
            </a:r>
            <a:endParaRPr lang="en-US" sz="730" dirty="0"/>
          </a:p>
        </p:txBody>
      </p:sp>
      <p:sp>
        <p:nvSpPr>
          <p:cNvPr id="11" name="Shape 8"/>
          <p:cNvSpPr/>
          <p:nvPr/>
        </p:nvSpPr>
        <p:spPr>
          <a:xfrm>
            <a:off x="6236208" y="1389888"/>
            <a:ext cx="5212080" cy="2359152"/>
          </a:xfrm>
          <a:prstGeom prst="roundRect">
            <a:avLst>
              <a:gd name="adj" fmla="val 2326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12" name="Image 1" descr="/Users/thy/Desktop/KeTiZu/proj_260608/Songtt_proj01/output_nifti/patient_0099039449/CT_brain_0.80_Hr40_S3_00000262_eloquent_overlay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91072" y="1444752"/>
            <a:ext cx="5102352" cy="197510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382512" y="3474720"/>
            <a:ext cx="4919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功能区近似禁区 overlay</a:t>
            </a:r>
            <a:endParaRPr lang="en-US" sz="730" dirty="0"/>
          </a:p>
        </p:txBody>
      </p:sp>
      <p:sp>
        <p:nvSpPr>
          <p:cNvPr id="14" name="Shape 10"/>
          <p:cNvSpPr/>
          <p:nvPr/>
        </p:nvSpPr>
        <p:spPr>
          <a:xfrm>
            <a:off x="621792" y="4069080"/>
            <a:ext cx="3383280" cy="1490472"/>
          </a:xfrm>
          <a:prstGeom prst="roundRect">
            <a:avLst>
              <a:gd name="adj" fmla="val 3681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50392" y="427024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F59E0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脑干近似</a:t>
            </a:r>
            <a:endParaRPr lang="en-US" sz="1120" dirty="0"/>
          </a:p>
        </p:txBody>
      </p:sp>
      <p:sp>
        <p:nvSpPr>
          <p:cNvPr id="16" name="Text 12"/>
          <p:cNvSpPr/>
          <p:nvPr/>
        </p:nvSpPr>
        <p:spPr>
          <a:xfrm>
            <a:off x="850392" y="4617720"/>
            <a:ext cx="29443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脑干大致位于颅腔下部、中线附近，是需要重点避让的结构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平扫 CT 上边界不清，脚本只能按位置、HU 范围和连通域估算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输出用于路径规划避让，不等同于精确脑干分割</a:t>
            </a:r>
            <a:endParaRPr lang="en-US" sz="880" dirty="0"/>
          </a:p>
        </p:txBody>
      </p:sp>
      <p:sp>
        <p:nvSpPr>
          <p:cNvPr id="17" name="Shape 13"/>
          <p:cNvSpPr/>
          <p:nvPr/>
        </p:nvSpPr>
        <p:spPr>
          <a:xfrm>
            <a:off x="4251960" y="4069080"/>
            <a:ext cx="3383280" cy="1490472"/>
          </a:xfrm>
          <a:prstGeom prst="roundRect">
            <a:avLst>
              <a:gd name="adj" fmla="val 3681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480560" y="427024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A78BF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功能区近似</a:t>
            </a:r>
            <a:endParaRPr lang="en-US" sz="1120" dirty="0"/>
          </a:p>
        </p:txBody>
      </p:sp>
      <p:sp>
        <p:nvSpPr>
          <p:cNvPr id="19" name="Text 15"/>
          <p:cNvSpPr/>
          <p:nvPr/>
        </p:nvSpPr>
        <p:spPr>
          <a:xfrm>
            <a:off x="4480560" y="4617720"/>
            <a:ext cx="29443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按颅腔大小把坐标归一化，再按经验比例画禁区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覆盖运动区、语言区、视觉区和深部核团等关键区域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真实个体功能区需要 MRI、fMRI、DTI 或图谱配准支持</a:t>
            </a:r>
            <a:endParaRPr lang="en-US" sz="880" dirty="0"/>
          </a:p>
        </p:txBody>
      </p:sp>
      <p:sp>
        <p:nvSpPr>
          <p:cNvPr id="20" name="Shape 16"/>
          <p:cNvSpPr/>
          <p:nvPr/>
        </p:nvSpPr>
        <p:spPr>
          <a:xfrm>
            <a:off x="7882128" y="4069080"/>
            <a:ext cx="109728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927848" y="4151376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病例</a:t>
            </a:r>
            <a:endParaRPr lang="en-US" sz="730" dirty="0"/>
          </a:p>
        </p:txBody>
      </p:sp>
      <p:sp>
        <p:nvSpPr>
          <p:cNvPr id="22" name="Shape 18"/>
          <p:cNvSpPr/>
          <p:nvPr/>
        </p:nvSpPr>
        <p:spPr>
          <a:xfrm>
            <a:off x="8979408" y="4069080"/>
            <a:ext cx="82296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9025128" y="4151376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脑干</a:t>
            </a:r>
            <a:endParaRPr lang="en-US" sz="730" dirty="0"/>
          </a:p>
        </p:txBody>
      </p:sp>
      <p:sp>
        <p:nvSpPr>
          <p:cNvPr id="24" name="Shape 20"/>
          <p:cNvSpPr/>
          <p:nvPr/>
        </p:nvSpPr>
        <p:spPr>
          <a:xfrm>
            <a:off x="9802368" y="4069080"/>
            <a:ext cx="82296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9848088" y="4151376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功能区</a:t>
            </a:r>
            <a:endParaRPr lang="en-US" sz="730" dirty="0"/>
          </a:p>
        </p:txBody>
      </p:sp>
      <p:sp>
        <p:nvSpPr>
          <p:cNvPr id="26" name="Shape 22"/>
          <p:cNvSpPr/>
          <p:nvPr/>
        </p:nvSpPr>
        <p:spPr>
          <a:xfrm>
            <a:off x="7882128" y="4407408"/>
            <a:ext cx="109728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927848" y="4489704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0099039449</a:t>
            </a:r>
            <a:endParaRPr lang="en-US" sz="720" dirty="0"/>
          </a:p>
        </p:txBody>
      </p:sp>
      <p:sp>
        <p:nvSpPr>
          <p:cNvPr id="28" name="Shape 24"/>
          <p:cNvSpPr/>
          <p:nvPr/>
        </p:nvSpPr>
        <p:spPr>
          <a:xfrm>
            <a:off x="8979408" y="4407408"/>
            <a:ext cx="82296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9025128" y="4489704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20.89</a:t>
            </a:r>
            <a:endParaRPr lang="en-US" sz="720" dirty="0"/>
          </a:p>
        </p:txBody>
      </p:sp>
      <p:sp>
        <p:nvSpPr>
          <p:cNvPr id="30" name="Shape 26"/>
          <p:cNvSpPr/>
          <p:nvPr/>
        </p:nvSpPr>
        <p:spPr>
          <a:xfrm>
            <a:off x="9802368" y="4407408"/>
            <a:ext cx="82296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9848088" y="4489704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185.52</a:t>
            </a:r>
            <a:endParaRPr lang="en-US" sz="720" dirty="0"/>
          </a:p>
        </p:txBody>
      </p:sp>
      <p:sp>
        <p:nvSpPr>
          <p:cNvPr id="32" name="Shape 28"/>
          <p:cNvSpPr/>
          <p:nvPr/>
        </p:nvSpPr>
        <p:spPr>
          <a:xfrm>
            <a:off x="7882128" y="4736592"/>
            <a:ext cx="109728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927848" y="4818888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0100297683</a:t>
            </a:r>
            <a:endParaRPr lang="en-US" sz="720" dirty="0"/>
          </a:p>
        </p:txBody>
      </p:sp>
      <p:sp>
        <p:nvSpPr>
          <p:cNvPr id="34" name="Shape 30"/>
          <p:cNvSpPr/>
          <p:nvPr/>
        </p:nvSpPr>
        <p:spPr>
          <a:xfrm>
            <a:off x="8979408" y="4736592"/>
            <a:ext cx="82296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9025128" y="4818888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36.70</a:t>
            </a:r>
            <a:endParaRPr lang="en-US" sz="720" dirty="0"/>
          </a:p>
        </p:txBody>
      </p:sp>
      <p:sp>
        <p:nvSpPr>
          <p:cNvPr id="36" name="Shape 32"/>
          <p:cNvSpPr/>
          <p:nvPr/>
        </p:nvSpPr>
        <p:spPr>
          <a:xfrm>
            <a:off x="9802368" y="4736592"/>
            <a:ext cx="82296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9848088" y="4818888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204.56</a:t>
            </a:r>
            <a:endParaRPr lang="en-US" sz="720" dirty="0"/>
          </a:p>
        </p:txBody>
      </p:sp>
      <p:sp>
        <p:nvSpPr>
          <p:cNvPr id="38" name="Text 34"/>
          <p:cNvSpPr/>
          <p:nvPr/>
        </p:nvSpPr>
        <p:spPr>
          <a:xfrm>
            <a:off x="7918704" y="5010912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单位：mL</a:t>
            </a:r>
            <a:endParaRPr lang="en-US" sz="650" dirty="0"/>
          </a:p>
        </p:txBody>
      </p:sp>
      <p:sp>
        <p:nvSpPr>
          <p:cNvPr id="39" name="Shape 35"/>
          <p:cNvSpPr/>
          <p:nvPr/>
        </p:nvSpPr>
        <p:spPr>
          <a:xfrm>
            <a:off x="621792" y="5577840"/>
            <a:ext cx="10835640" cy="713232"/>
          </a:xfrm>
          <a:prstGeom prst="roundRect">
            <a:avLst>
              <a:gd name="adj" fmla="val 7692"/>
            </a:avLst>
          </a:prstGeom>
          <a:solidFill>
            <a:srgbClr val="09182A"/>
          </a:solidFill>
          <a:ln w="1270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786384" y="5705856"/>
            <a:ext cx="10506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A78BF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为什么叫“近似禁区”</a:t>
            </a:r>
            <a:endParaRPr lang="en-US" sz="850" dirty="0"/>
          </a:p>
        </p:txBody>
      </p:sp>
      <p:sp>
        <p:nvSpPr>
          <p:cNvPr id="41" name="Text 37"/>
          <p:cNvSpPr/>
          <p:nvPr/>
        </p:nvSpPr>
        <p:spPr>
          <a:xfrm>
            <a:off x="786384" y="5925312"/>
            <a:ext cx="10506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脑干和功能区都非常重要，但平扫 CT 对这些结构的显示能力有限。当前脚本并不是“看见了每个人真实的功能区”，而是按解剖经验画一个保守范围，让路径规划尽量不穿过。汇报时要强调：这是避让约束，不是可直接用于临床定位的精准分割。</a:t>
            </a:r>
            <a:endParaRPr lang="en-US" sz="7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STEP 8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步骤 8 · 穿刺路径规划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21208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目的：在避开禁区的前提下，从颅骨外表面找到到达血肿的候选直线路径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11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621792" y="1389888"/>
            <a:ext cx="6400800" cy="2423160"/>
          </a:xfrm>
          <a:prstGeom prst="roundRect">
            <a:avLst>
              <a:gd name="adj" fmla="val 2264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9" name="Image 0" descr="/Users/thy/Desktop/KeTiZu/proj_260608/Songtt_proj01/output_nifti/patient_0099039449/CT_brain_0.80_Hr40_S3_00000262_paths_overla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" y="1444752"/>
            <a:ext cx="6291072" cy="20391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68096" y="3538728"/>
            <a:ext cx="61081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路径 overlay：线条为候选路径，黄星为目标点</a:t>
            </a:r>
            <a:endParaRPr lang="en-US" sz="730" dirty="0"/>
          </a:p>
        </p:txBody>
      </p:sp>
      <p:sp>
        <p:nvSpPr>
          <p:cNvPr id="11" name="Shape 8"/>
          <p:cNvSpPr/>
          <p:nvPr/>
        </p:nvSpPr>
        <p:spPr>
          <a:xfrm>
            <a:off x="7360920" y="1389888"/>
            <a:ext cx="4005072" cy="4480560"/>
          </a:xfrm>
          <a:prstGeom prst="roundRect">
            <a:avLst>
              <a:gd name="adj" fmla="val 1370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12" name="Image 1" descr="/Users/thy/Desktop/KeTiZu/proj_260608/Songtt_proj01/output_nifti/patient_0099039449/CT_brain_0.80_Hr40_S3_00000262_paths_3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415784" y="1444752"/>
            <a:ext cx="3895344" cy="40965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07224" y="5596128"/>
            <a:ext cx="37124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路径规划 3D</a:t>
            </a:r>
            <a:endParaRPr lang="en-US" sz="730" dirty="0"/>
          </a:p>
        </p:txBody>
      </p:sp>
      <p:sp>
        <p:nvSpPr>
          <p:cNvPr id="14" name="Shape 10"/>
          <p:cNvSpPr/>
          <p:nvPr/>
        </p:nvSpPr>
        <p:spPr>
          <a:xfrm>
            <a:off x="621792" y="4096512"/>
            <a:ext cx="3474720" cy="1444752"/>
          </a:xfrm>
          <a:prstGeom prst="roundRect">
            <a:avLst>
              <a:gd name="adj" fmla="val 3797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50392" y="429768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34D399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路径评估规则</a:t>
            </a:r>
            <a:endParaRPr lang="en-US" sz="1120" dirty="0"/>
          </a:p>
        </p:txBody>
      </p:sp>
      <p:sp>
        <p:nvSpPr>
          <p:cNvPr id="16" name="Text 12"/>
          <p:cNvSpPr/>
          <p:nvPr/>
        </p:nvSpPr>
        <p:spPr>
          <a:xfrm>
            <a:off x="850392" y="4645152"/>
            <a:ext cx="303580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从颅骨外表面采样 1500 个可能的入颅点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目标点不只取血肿中心，还沿血肿长轴取远端点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每条直线都要检查骨厚、颅腔比例和禁区碰撞</a:t>
            </a:r>
            <a:endParaRPr lang="en-US" sz="880" dirty="0"/>
          </a:p>
        </p:txBody>
      </p:sp>
      <p:sp>
        <p:nvSpPr>
          <p:cNvPr id="17" name="Shape 13"/>
          <p:cNvSpPr/>
          <p:nvPr/>
        </p:nvSpPr>
        <p:spPr>
          <a:xfrm>
            <a:off x="4315968" y="4096512"/>
            <a:ext cx="713232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361688" y="4178808"/>
            <a:ext cx="621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路径</a:t>
            </a:r>
            <a:endParaRPr lang="en-US" sz="730" dirty="0"/>
          </a:p>
        </p:txBody>
      </p:sp>
      <p:sp>
        <p:nvSpPr>
          <p:cNvPr id="19" name="Shape 15"/>
          <p:cNvSpPr/>
          <p:nvPr/>
        </p:nvSpPr>
        <p:spPr>
          <a:xfrm>
            <a:off x="5029200" y="4096512"/>
            <a:ext cx="841248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074920" y="4178808"/>
            <a:ext cx="7498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目标</a:t>
            </a:r>
            <a:endParaRPr lang="en-US" sz="730" dirty="0"/>
          </a:p>
        </p:txBody>
      </p:sp>
      <p:sp>
        <p:nvSpPr>
          <p:cNvPr id="21" name="Shape 17"/>
          <p:cNvSpPr/>
          <p:nvPr/>
        </p:nvSpPr>
        <p:spPr>
          <a:xfrm>
            <a:off x="5870448" y="4096512"/>
            <a:ext cx="86868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916168" y="417880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长度</a:t>
            </a:r>
            <a:endParaRPr lang="en-US" sz="730" dirty="0"/>
          </a:p>
        </p:txBody>
      </p:sp>
      <p:sp>
        <p:nvSpPr>
          <p:cNvPr id="23" name="Shape 19"/>
          <p:cNvSpPr/>
          <p:nvPr/>
        </p:nvSpPr>
        <p:spPr>
          <a:xfrm>
            <a:off x="6739128" y="4096512"/>
            <a:ext cx="68580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784848" y="4178808"/>
            <a:ext cx="594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角度</a:t>
            </a:r>
            <a:endParaRPr lang="en-US" sz="730" dirty="0"/>
          </a:p>
        </p:txBody>
      </p:sp>
      <p:sp>
        <p:nvSpPr>
          <p:cNvPr id="25" name="Shape 21"/>
          <p:cNvSpPr/>
          <p:nvPr/>
        </p:nvSpPr>
        <p:spPr>
          <a:xfrm>
            <a:off x="4315968" y="4434840"/>
            <a:ext cx="713232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361688" y="4517136"/>
            <a:ext cx="621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Top-1</a:t>
            </a:r>
            <a:endParaRPr lang="en-US" sz="720" dirty="0"/>
          </a:p>
        </p:txBody>
      </p:sp>
      <p:sp>
        <p:nvSpPr>
          <p:cNvPr id="27" name="Shape 23"/>
          <p:cNvSpPr/>
          <p:nvPr/>
        </p:nvSpPr>
        <p:spPr>
          <a:xfrm>
            <a:off x="5029200" y="4434840"/>
            <a:ext cx="841248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074920" y="4517136"/>
            <a:ext cx="7498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质心</a:t>
            </a:r>
            <a:endParaRPr lang="en-US" sz="720" dirty="0"/>
          </a:p>
        </p:txBody>
      </p:sp>
      <p:sp>
        <p:nvSpPr>
          <p:cNvPr id="29" name="Shape 25"/>
          <p:cNvSpPr/>
          <p:nvPr/>
        </p:nvSpPr>
        <p:spPr>
          <a:xfrm>
            <a:off x="5870448" y="4434840"/>
            <a:ext cx="86868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916168" y="4517136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50.6 mm</a:t>
            </a:r>
            <a:endParaRPr lang="en-US" sz="720" dirty="0"/>
          </a:p>
        </p:txBody>
      </p:sp>
      <p:sp>
        <p:nvSpPr>
          <p:cNvPr id="31" name="Shape 27"/>
          <p:cNvSpPr/>
          <p:nvPr/>
        </p:nvSpPr>
        <p:spPr>
          <a:xfrm>
            <a:off x="6739128" y="4434840"/>
            <a:ext cx="68580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6784848" y="4517136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18.1°</a:t>
            </a:r>
            <a:endParaRPr lang="en-US" sz="720" dirty="0"/>
          </a:p>
        </p:txBody>
      </p:sp>
      <p:sp>
        <p:nvSpPr>
          <p:cNvPr id="33" name="Shape 29"/>
          <p:cNvSpPr/>
          <p:nvPr/>
        </p:nvSpPr>
        <p:spPr>
          <a:xfrm>
            <a:off x="4315968" y="4764024"/>
            <a:ext cx="713232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4361688" y="4846320"/>
            <a:ext cx="621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Top-2</a:t>
            </a:r>
            <a:endParaRPr lang="en-US" sz="720" dirty="0"/>
          </a:p>
        </p:txBody>
      </p:sp>
      <p:sp>
        <p:nvSpPr>
          <p:cNvPr id="35" name="Shape 31"/>
          <p:cNvSpPr/>
          <p:nvPr/>
        </p:nvSpPr>
        <p:spPr>
          <a:xfrm>
            <a:off x="5029200" y="4764024"/>
            <a:ext cx="841248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5074920" y="4846320"/>
            <a:ext cx="7498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远端 A</a:t>
            </a:r>
            <a:endParaRPr lang="en-US" sz="720" dirty="0"/>
          </a:p>
        </p:txBody>
      </p:sp>
      <p:sp>
        <p:nvSpPr>
          <p:cNvPr id="37" name="Shape 33"/>
          <p:cNvSpPr/>
          <p:nvPr/>
        </p:nvSpPr>
        <p:spPr>
          <a:xfrm>
            <a:off x="5870448" y="4764024"/>
            <a:ext cx="86868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916168" y="4846320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92.4 mm</a:t>
            </a:r>
            <a:endParaRPr lang="en-US" sz="720" dirty="0"/>
          </a:p>
        </p:txBody>
      </p:sp>
      <p:sp>
        <p:nvSpPr>
          <p:cNvPr id="39" name="Shape 35"/>
          <p:cNvSpPr/>
          <p:nvPr/>
        </p:nvSpPr>
        <p:spPr>
          <a:xfrm>
            <a:off x="6739128" y="4764024"/>
            <a:ext cx="68580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6784848" y="4846320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75.1°</a:t>
            </a:r>
            <a:endParaRPr lang="en-US" sz="720" dirty="0"/>
          </a:p>
        </p:txBody>
      </p:sp>
      <p:sp>
        <p:nvSpPr>
          <p:cNvPr id="41" name="Text 37"/>
          <p:cNvSpPr/>
          <p:nvPr/>
        </p:nvSpPr>
        <p:spPr>
          <a:xfrm>
            <a:off x="4334256" y="5074920"/>
            <a:ext cx="2816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候选入颅点 1500 个，最终合法路径 2 条；另一病例因血肿 mask 为空自动跳过。</a:t>
            </a:r>
            <a:endParaRPr lang="en-US" sz="710" dirty="0"/>
          </a:p>
        </p:txBody>
      </p:sp>
      <p:sp>
        <p:nvSpPr>
          <p:cNvPr id="42" name="Shape 38"/>
          <p:cNvSpPr/>
          <p:nvPr/>
        </p:nvSpPr>
        <p:spPr>
          <a:xfrm>
            <a:off x="621792" y="5559552"/>
            <a:ext cx="6400800" cy="749808"/>
          </a:xfrm>
          <a:prstGeom prst="roundRect">
            <a:avLst>
              <a:gd name="adj" fmla="val 7317"/>
            </a:avLst>
          </a:prstGeom>
          <a:solidFill>
            <a:srgbClr val="09182A"/>
          </a:solidFill>
          <a:ln w="12700">
            <a:solidFill>
              <a:srgbClr val="34D399">
                <a:alpha val="65000"/>
              </a:srgbClr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786384" y="5687568"/>
            <a:ext cx="6071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筛选方式</a:t>
            </a:r>
            <a:endParaRPr lang="en-US" sz="850" dirty="0"/>
          </a:p>
        </p:txBody>
      </p:sp>
      <p:sp>
        <p:nvSpPr>
          <p:cNvPr id="44" name="Text 40"/>
          <p:cNvSpPr/>
          <p:nvPr/>
        </p:nvSpPr>
        <p:spPr>
          <a:xfrm>
            <a:off x="786384" y="5907024"/>
            <a:ext cx="6071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程序把入颅点和目标点两两连成直线，然后像沿着一根针往里走一样逐点检查：进颅骨头是否太厚、进入颅腔后是否又碰到骨头、路径是否主要在颅腔内、有没有穿过脑室/血管风险/脑干/功能区。只要违反规则就丢弃，剩下的按长度和角度打分。</a:t>
            </a:r>
            <a:endParaRPr lang="en-US" sz="7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STEP 9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步骤 9 · 自然语言方案与 PDF 报告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21208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目的：把分割图、统计结果和路径规划结果整理成可交付材料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12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5715000" cy="2240280"/>
          </a:xfrm>
          <a:prstGeom prst="roundRect">
            <a:avLst>
              <a:gd name="adj" fmla="val 2449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9" name="Image 0" descr="/Users/thy/Desktop/KeTiZu/proj_260608/Songtt_proj01/output_nifti/patient_0099039449/CT_brain_0.80_Hr40_S3_00000262_paths_overla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4944" y="1472184"/>
            <a:ext cx="5605272" cy="18562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86384" y="3383280"/>
            <a:ext cx="54223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报告中的路径主页图</a:t>
            </a:r>
            <a:endParaRPr lang="en-US" sz="730" dirty="0"/>
          </a:p>
        </p:txBody>
      </p:sp>
      <p:sp>
        <p:nvSpPr>
          <p:cNvPr id="11" name="Shape 8"/>
          <p:cNvSpPr/>
          <p:nvPr/>
        </p:nvSpPr>
        <p:spPr>
          <a:xfrm>
            <a:off x="6629400" y="1417320"/>
            <a:ext cx="4434840" cy="1280160"/>
          </a:xfrm>
          <a:prstGeom prst="roundRect">
            <a:avLst>
              <a:gd name="adj" fmla="val 4286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0" y="1618488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自动生成文件</a:t>
            </a:r>
            <a:endParaRPr lang="en-US" sz="1120" dirty="0"/>
          </a:p>
        </p:txBody>
      </p:sp>
      <p:sp>
        <p:nvSpPr>
          <p:cNvPr id="13" name="Text 10"/>
          <p:cNvSpPr/>
          <p:nvPr/>
        </p:nvSpPr>
        <p:spPr>
          <a:xfrm>
            <a:off x="6858000" y="1965960"/>
            <a:ext cx="3995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每个病例生成 plan.txt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每个病例生成 report.pdf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PDF 包含封面、方案、路径图和各分割页</a:t>
            </a:r>
            <a:endParaRPr lang="en-US" sz="880" dirty="0"/>
          </a:p>
        </p:txBody>
      </p:sp>
      <p:sp>
        <p:nvSpPr>
          <p:cNvPr id="14" name="Shape 11"/>
          <p:cNvSpPr/>
          <p:nvPr/>
        </p:nvSpPr>
        <p:spPr>
          <a:xfrm>
            <a:off x="6629400" y="2944368"/>
            <a:ext cx="4434840" cy="1627632"/>
          </a:xfrm>
          <a:prstGeom prst="roundRect">
            <a:avLst>
              <a:gd name="adj" fmla="val 3371"/>
            </a:avLst>
          </a:prstGeom>
          <a:solidFill>
            <a:srgbClr val="13243A"/>
          </a:solidFill>
          <a:ln w="12700">
            <a:solidFill>
              <a:srgbClr val="34D399">
                <a:alpha val="9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39712" y="3163824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34D399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推荐路径摘要（病例 0099039449）</a:t>
            </a:r>
            <a:endParaRPr lang="en-US" sz="1040" dirty="0"/>
          </a:p>
        </p:txBody>
      </p:sp>
      <p:sp>
        <p:nvSpPr>
          <p:cNvPr id="16" name="Text 13"/>
          <p:cNvSpPr/>
          <p:nvPr/>
        </p:nvSpPr>
        <p:spPr>
          <a:xfrm>
            <a:off x="6839712" y="3529584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入颅点 LPS: (77.57, -143.12, -513.71) mm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目标点 LPS: (33.24, -166.86, -507.71) mm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进针长度: 50.6 mm    入颅角度: 18.1°</a:t>
            </a:r>
            <a:endParaRPr lang="en-US" sz="840" dirty="0"/>
          </a:p>
        </p:txBody>
      </p:sp>
      <p:sp>
        <p:nvSpPr>
          <p:cNvPr id="17" name="Shape 14"/>
          <p:cNvSpPr/>
          <p:nvPr/>
        </p:nvSpPr>
        <p:spPr>
          <a:xfrm>
            <a:off x="640080" y="4041648"/>
            <a:ext cx="5715000" cy="1298448"/>
          </a:xfrm>
          <a:prstGeom prst="roundRect">
            <a:avLst>
              <a:gd name="adj" fmla="val 4225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68680" y="4242816"/>
            <a:ext cx="5257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34D399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报告价值</a:t>
            </a:r>
            <a:endParaRPr lang="en-US" sz="1120" dirty="0"/>
          </a:p>
        </p:txBody>
      </p:sp>
      <p:sp>
        <p:nvSpPr>
          <p:cNvPr id="19" name="Text 16"/>
          <p:cNvSpPr/>
          <p:nvPr/>
        </p:nvSpPr>
        <p:spPr>
          <a:xfrm>
            <a:off x="868680" y="4590288"/>
            <a:ext cx="5276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把很多零散输出统一成医生、老师或评审更容易浏览的材料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PNG 负责展示效果，JSON 保留坐标、体积、评分等机器可读数据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PDF 和 plan.txt 适合作为阶段性汇报、人工检查和归档入口</a:t>
            </a:r>
            <a:endParaRPr lang="en-US" sz="880" dirty="0"/>
          </a:p>
        </p:txBody>
      </p:sp>
      <p:sp>
        <p:nvSpPr>
          <p:cNvPr id="20" name="Shape 17"/>
          <p:cNvSpPr/>
          <p:nvPr/>
        </p:nvSpPr>
        <p:spPr>
          <a:xfrm>
            <a:off x="6629400" y="4773168"/>
            <a:ext cx="123444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675120" y="4855464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病例</a:t>
            </a:r>
            <a:endParaRPr lang="en-US" sz="730" dirty="0"/>
          </a:p>
        </p:txBody>
      </p:sp>
      <p:sp>
        <p:nvSpPr>
          <p:cNvPr id="22" name="Shape 19"/>
          <p:cNvSpPr/>
          <p:nvPr/>
        </p:nvSpPr>
        <p:spPr>
          <a:xfrm>
            <a:off x="7863840" y="4773168"/>
            <a:ext cx="109728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909560" y="4855464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plan.txt</a:t>
            </a:r>
            <a:endParaRPr lang="en-US" sz="730" dirty="0"/>
          </a:p>
        </p:txBody>
      </p:sp>
      <p:sp>
        <p:nvSpPr>
          <p:cNvPr id="24" name="Shape 21"/>
          <p:cNvSpPr/>
          <p:nvPr/>
        </p:nvSpPr>
        <p:spPr>
          <a:xfrm>
            <a:off x="8961120" y="4773168"/>
            <a:ext cx="109728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006840" y="4855464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report.pdf</a:t>
            </a:r>
            <a:endParaRPr lang="en-US" sz="730" dirty="0"/>
          </a:p>
        </p:txBody>
      </p:sp>
      <p:sp>
        <p:nvSpPr>
          <p:cNvPr id="26" name="Shape 23"/>
          <p:cNvSpPr/>
          <p:nvPr/>
        </p:nvSpPr>
        <p:spPr>
          <a:xfrm>
            <a:off x="6629400" y="5111496"/>
            <a:ext cx="123444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675120" y="5193792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0099039449</a:t>
            </a:r>
            <a:endParaRPr lang="en-US" sz="720" dirty="0"/>
          </a:p>
        </p:txBody>
      </p:sp>
      <p:sp>
        <p:nvSpPr>
          <p:cNvPr id="28" name="Shape 25"/>
          <p:cNvSpPr/>
          <p:nvPr/>
        </p:nvSpPr>
        <p:spPr>
          <a:xfrm>
            <a:off x="7863840" y="5111496"/>
            <a:ext cx="109728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09560" y="5193792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已生成</a:t>
            </a:r>
            <a:endParaRPr lang="en-US" sz="720" dirty="0"/>
          </a:p>
        </p:txBody>
      </p:sp>
      <p:sp>
        <p:nvSpPr>
          <p:cNvPr id="30" name="Shape 27"/>
          <p:cNvSpPr/>
          <p:nvPr/>
        </p:nvSpPr>
        <p:spPr>
          <a:xfrm>
            <a:off x="8961120" y="5111496"/>
            <a:ext cx="109728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006840" y="5193792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已生成</a:t>
            </a:r>
            <a:endParaRPr lang="en-US" sz="720" dirty="0"/>
          </a:p>
        </p:txBody>
      </p:sp>
      <p:sp>
        <p:nvSpPr>
          <p:cNvPr id="32" name="Shape 29"/>
          <p:cNvSpPr/>
          <p:nvPr/>
        </p:nvSpPr>
        <p:spPr>
          <a:xfrm>
            <a:off x="6629400" y="5440680"/>
            <a:ext cx="123444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675120" y="5522976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0100297683</a:t>
            </a:r>
            <a:endParaRPr lang="en-US" sz="720" dirty="0"/>
          </a:p>
        </p:txBody>
      </p:sp>
      <p:sp>
        <p:nvSpPr>
          <p:cNvPr id="34" name="Shape 31"/>
          <p:cNvSpPr/>
          <p:nvPr/>
        </p:nvSpPr>
        <p:spPr>
          <a:xfrm>
            <a:off x="7863840" y="5440680"/>
            <a:ext cx="109728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909560" y="5522976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已生成</a:t>
            </a:r>
            <a:endParaRPr lang="en-US" sz="720" dirty="0"/>
          </a:p>
        </p:txBody>
      </p:sp>
      <p:sp>
        <p:nvSpPr>
          <p:cNvPr id="36" name="Shape 33"/>
          <p:cNvSpPr/>
          <p:nvPr/>
        </p:nvSpPr>
        <p:spPr>
          <a:xfrm>
            <a:off x="8961120" y="5440680"/>
            <a:ext cx="109728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006840" y="5522976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已生成</a:t>
            </a:r>
            <a:endParaRPr lang="en-US" sz="720" dirty="0"/>
          </a:p>
        </p:txBody>
      </p:sp>
      <p:sp>
        <p:nvSpPr>
          <p:cNvPr id="38" name="Shape 35"/>
          <p:cNvSpPr/>
          <p:nvPr/>
        </p:nvSpPr>
        <p:spPr>
          <a:xfrm>
            <a:off x="640080" y="5669280"/>
            <a:ext cx="10424160" cy="621792"/>
          </a:xfrm>
          <a:prstGeom prst="roundRect">
            <a:avLst>
              <a:gd name="adj" fmla="val 8824"/>
            </a:avLst>
          </a:prstGeom>
          <a:solidFill>
            <a:srgbClr val="09182A"/>
          </a:solidFill>
          <a:ln w="12700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04672" y="5742432"/>
            <a:ext cx="100949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文件怎么用</a:t>
            </a:r>
            <a:endParaRPr lang="en-US" sz="760" dirty="0"/>
          </a:p>
        </p:txBody>
      </p:sp>
      <p:sp>
        <p:nvSpPr>
          <p:cNvPr id="40" name="Text 37"/>
          <p:cNvSpPr/>
          <p:nvPr/>
        </p:nvSpPr>
        <p:spPr>
          <a:xfrm>
            <a:off x="804672" y="5897880"/>
            <a:ext cx="100949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.nii.gz 是三维影像和 mask，适合放进 3D Slicer 继续检查；.png 是给人快速看每一步效果；.json 记录体积、坐标、路径评分和拒绝原因；.txt/.pdf 把这些内容翻译成更适合阅读和汇报的形式。</a:t>
            </a:r>
            <a:endParaRPr lang="en-US" sz="6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NEXT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局限性与下一步计划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21208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当前系统已经跑通流程，但距离临床可用还需要数据、模型和验证体系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13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685800" y="1508760"/>
            <a:ext cx="4983480" cy="1234440"/>
          </a:xfrm>
          <a:prstGeom prst="roundRect">
            <a:avLst>
              <a:gd name="adj" fmla="val 4444"/>
            </a:avLst>
          </a:prstGeom>
          <a:solidFill>
            <a:srgbClr val="13243A"/>
          </a:solidFill>
          <a:ln w="12700">
            <a:solidFill>
              <a:srgbClr val="F05252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70992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5252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医学边界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14400" y="207568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平扫 CT 对骨头和明显出血较友好，但血管、功能区和脑干边界显示有限；相关模块目前是保守近似。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6236208" y="1508760"/>
            <a:ext cx="4983480" cy="1234440"/>
          </a:xfrm>
          <a:prstGeom prst="roundRect">
            <a:avLst>
              <a:gd name="adj" fmla="val 4444"/>
            </a:avLst>
          </a:prstGeom>
          <a:solidFill>
            <a:srgbClr val="13243A"/>
          </a:solidFill>
          <a:ln w="12700">
            <a:solidFill>
              <a:srgbClr val="F59E0B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4808" y="170992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算法边界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64808" y="207568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血肿分割主要依赖 HU 阈值和形态学规则，可能把钙化、骨边缘伪影误认为血肿，也可能漏掉不典型出血。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685800" y="3246120"/>
            <a:ext cx="4983480" cy="1234440"/>
          </a:xfrm>
          <a:prstGeom prst="roundRect">
            <a:avLst>
              <a:gd name="adj" fmla="val 4444"/>
            </a:avLst>
          </a:prstGeom>
          <a:solidFill>
            <a:srgbClr val="13243A"/>
          </a:solidFill>
          <a:ln w="12700">
            <a:solidFill>
              <a:srgbClr val="A78BFA">
                <a:alpha val="9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44728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78BF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规划边界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4400" y="381304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路径只评估直线和 mask 碰撞，未模拟皮肤、肌肉、骨缝、器械直径、血管变异和真实手术操作约束。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6236208" y="3246120"/>
            <a:ext cx="4983480" cy="1234440"/>
          </a:xfrm>
          <a:prstGeom prst="roundRect">
            <a:avLst>
              <a:gd name="adj" fmla="val 4444"/>
            </a:avLst>
          </a:prstGeom>
          <a:solidFill>
            <a:srgbClr val="13243A"/>
          </a:solidFill>
          <a:ln w="12700">
            <a:solidFill>
              <a:srgbClr val="38BDF8">
                <a:alpha val="9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64808" y="344728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工程边界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64808" y="381304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当前是脚本流水线，适合原型验证；后续需要一键运行、日志、质控、交互式 3D 复核和批量评估。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685800" y="5157216"/>
            <a:ext cx="10561320" cy="896112"/>
          </a:xfrm>
          <a:prstGeom prst="roundRect">
            <a:avLst>
              <a:gd name="adj" fmla="val 6122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358384"/>
            <a:ext cx="10104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34D399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建议推进顺序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914400" y="5705856"/>
            <a:ext cx="101224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人工复核当前 2 例 overlay 和 3D 图 → 接入更多病例与医生标注 → 用真实 CTA/MRI 或训练模型替换近似模块 → 增加 3D Slicer 复核流程 → 建立 Dice、误检率、路径碰撞率等定量指标</a:t>
            </a:r>
            <a:endParaRPr lang="en-US" sz="8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Heiti T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iti T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KeTiZu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脑出血 CT 影像分割与穿刺路径规划</dc:title>
  <dc:subject>Brain CT segmentation and puncture path planning pipeline</dc:subject>
  <dc:creator>Songtt CT project</dc:creator>
  <cp:lastModifiedBy>Songtt CT project</cp:lastModifiedBy>
  <cp:revision>1</cp:revision>
  <dcterms:created xsi:type="dcterms:W3CDTF">2026-06-08T02:51:58Z</dcterms:created>
  <dcterms:modified xsi:type="dcterms:W3CDTF">2026-06-08T02:51:58Z</dcterms:modified>
</cp:coreProperties>
</file>