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04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这一页是汇报首页，用来填写姓名和分组。打开 PowerPoint 后可以直接修改姓名和分组两行文字。
汇报主题是脑出血 CT 影像分割与穿刺路径规划流水线，后面的页面会按照数据转换、结构分割、禁区构建、路径规划和报告输出的顺序展开。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这一页先讲项目的定位。不要把它说成自动诊断或者自动手术决策系统，它更像一个影像辅助原型。
项目做的事情可以用一句话概括：先把医院导出的 CT 小切片整理成三维脑部 CT，再把骨头、脑组织、疑似血肿、脑室和一些风险区域标出来，最后用这些标注结果筛选候选穿刺路径。
右侧 3D 图展示的是最终路径规划结果。左侧四个数字说明这次数据里有 2 个病例、8 个成功转换的体数据序列、1 个病例检出 8.37 mL 疑似血肿、最终筛出 2 条合法路径。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这一页说明最终交付。输入是医院 CT 机器导出的 DICOM 文件，它们不是普通照片，而是带空间坐标和扫描参数的医学影像文件。
分割部分的输出是各种 mask，可以理解为给 CT 加了很多透明涂色层：骨头一层、脑组织一层、血肿一层、脑室一层、风险禁区一层。
规划部分不是直接给临床方案，而是在这些涂色层的限制下，先自动找出一些候选直线路径。报告部分则把 PNG、JSON、TXT、PDF 都整理出来，方便后续人工复核。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这里要解释一个容易误会的点：1001 个 DICOM 不是 1001 个病人，而是一张张切片文件。
程序扫描后发现 11 个 series，其中有些只是定位像或者患者方案，不能当成完整三维 CT 使用，所以被跳过。最终 8 个序列成功转换。
右边两张 preview 是转换后的三视图。简单说，就是从横断面、冠状面和矢状面三个方向快速看三维 CT 是否拼接正常。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这一页讲整体流程。可以把整个项目比作一条工厂流水线，每一步拿上一环节的结果继续加工。
第 1 步统一数据格式，第 2 到第 4 步找出骨头、脑组织、血肿和脑室，第 5 到第 7 步画出血管风险、脑干和功能区这些避让区域，第 8 步做路径规划，第 9 步生成报告。
重点强调：后续路径规划不是凭空找线，而是依赖前面每一步产生的 mask。前面 mask 如果错了，后面的路径也会受影响，所以每一步的 overlay 图都要人工看。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这一步是所有后续处理的地基。医院 CT 导出的原始数据通常是一堆 DICOM 切片，每张切片都有自己的空间位置。
程序做的事是先把同一个扫描序列的切片找出来，再按正确顺序、间距和方向叠成一个三维体数据，也就是 NIfTI 文件。
这一步还会自动跳过定位像、患者方案、切片数太少的序列，因为这些东西不能组成稳定的三维脑部模型。转换成功后会生成 preview 图，先用肉眼看拼接是否正常。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颅骨分割的核心逻辑很直观：骨头在 CT 上特别亮，所以可以用比较高的 HU 阈值先把疑似骨头筛出来。
筛出来以后还要清理，因为 CT 里会有零散亮点、骨缝、小断裂。脚本会做形态学开闭运算，并保留最大的三维连通结构。
为什么这一步重要？因为头骨是边界。后面要从骨头内部推颅腔，要从骨头表面找入颅点，还要判断路径穿过骨头的厚度，都离不开颅骨 mask。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这一步是项目最核心的分割步骤。先用颅骨 mask 做填洞，把头骨里面的空间估计出来，这就是大致颅腔。
然后在颅腔里按 HU 范围找脑组织。血肿通常比普通脑组织更亮，所以再用更高一点的 HU 范围筛出疑似出血区域。
但是只靠亮度会有误判，比如钙化、骨头边缘伪影、图像噪声也可能很亮。所以脚本还加了体积、距骨距离、形状等过滤条件。当前病例 0099039449 得到 8.37 mL 疑似血肿，另一个病例没有检出血肿。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脑室可以简单理解为脑子里面装脑脊液的空腔。它在 CT 上通常比普通脑组织更暗，所以脚本会在颅腔内寻找低 HU 区域。
但低 HU 区域不一定都是脑室，靠近颅骨的脑沟或蛛网膜下腔也可能偏低，所以程序会排除太靠近颅骨的区域。
脑室 mask 的作用主要是路径避让。路径规划时会把脑室外扩一定安全距离，如果候选路径穿过这个区域，就会被拒绝。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这一页一定要讲清楚边界：普通平扫 CT 不是专门看血管的检查，很多血管在里面看不清。
所以这个脚本不是精确血管分割，而是保守风险禁区。它会把一些高密度结构、中线附近的静脉窦区域、大脑镰区域、颅底附近风险区域画出来。
对路径规划来说，这些区域相当于地图上的危险区。程序宁可少给一些路径，也尽量不让路径穿过这些可能有风险的位置。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脑干和功能区都是路径规划里必须谨慎对待的结构，但它们在平扫 CT 上并不像骨头和明显出血那样容易看清。
脑干近似是根据颅腔下部、中线附近的位置估算出来的。功能区近似则是把颅腔坐标归一化后，按经验位置画出运动区、语言区、视觉区和深部核团。
汇报时要避免说这是精确分割。更准确的说法是：这是为了路径规划做的保守避让区，真实功能区定位需要 MRI、fMRI、DTI 或图谱配准。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路径规划可以分成四步讲。第一步是在颅骨外表面采样很多候选入颅点，这次最多采了 1500 个。
第二步是确定目标点。它不只取血肿中心，还沿血肿长轴取远端点，这样可以覆盖血肿的形状。
第三步是逐条检查直线。每条线都要检查骨头厚度、是否重复碰骨、是否大部分在颅腔内、是否穿过脑室、血管风险、脑干和功能区。第四步才是对剩余合法路径打分，按更短、更合适的角度排序。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前面步骤会生成很多技术文件，直接看目录会比较乱，所以最后做了文字方案和 PDF 报告。
.nii.gz 文件是给软件继续打开和分析的，比如可以放进 3D Slicer 看三维位置。.png 是给人快速检查效果的，比如看 overlay 有没有明显错分。.json 是给程序和开发人员看的，里面有坐标、体积、评分、拒绝原因。
plan.txt 和 report.pdf 是汇报友好的格式，把路径、体积、图像和关键统计统一整理出来。这里的方案仍然只是自动生成的参考文字，不是医生最终方案。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1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2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3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4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5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6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7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8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9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这是病例 0099039449 自动生成 PDF 报告的第 10 页，共 10 页。
这里插入的是 PDF 页面渲染后的图片，作用是让汇报文件本身包含完整报告内容，不需要现场再单独打开 PDF。
如果后续重新生成 PDF，需要重新把 PDF 页面导出成图片并重新生成 PPT，才能同步更新附录页。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720840" y="118872"/>
            <a:ext cx="546811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1024128"/>
            <a:ext cx="4572000" cy="2880360"/>
          </a:xfrm>
          <a:prstGeom prst="roundRect">
            <a:avLst>
              <a:gd name="adj" fmla="val 1905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4" y="1078992"/>
            <a:ext cx="4462272" cy="2496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3630168"/>
            <a:ext cx="4279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 CT 三视图预览</a:t>
            </a:r>
            <a:endParaRPr lang="en-US" sz="730" dirty="0"/>
          </a:p>
        </p:txBody>
      </p:sp>
      <p:sp>
        <p:nvSpPr>
          <p:cNvPr id="9" name="Shape 6"/>
          <p:cNvSpPr/>
          <p:nvPr/>
        </p:nvSpPr>
        <p:spPr>
          <a:xfrm>
            <a:off x="7086600" y="4160520"/>
            <a:ext cx="4572000" cy="1572768"/>
          </a:xfrm>
          <a:prstGeom prst="roundRect">
            <a:avLst>
              <a:gd name="adj" fmla="val 348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0" name="Image 1" descr="/Users/thy/Desktop/KeTiZu/proj_260608/Songtt_proj01/output_nifti/patient_0099039449/CT_brain_0.80_Hr40_S3_00000262_paths_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41464" y="4215384"/>
            <a:ext cx="4462272" cy="1188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32904" y="5458968"/>
            <a:ext cx="4279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 结果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621792" y="10515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658368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项目汇报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58368" y="2907792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13243A"/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3182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汇报人信息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4400" y="363931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姓名</a:t>
            </a:r>
            <a:r>
              <a:rPr lang="en-US" sz="150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：__________</a:t>
            </a:r>
            <a:r>
              <a:rPr lang="en-US" sz="1500" dirty="0" err="1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田昊阳</a:t>
            </a:r>
            <a:r>
              <a:rPr lang="en-US" sz="150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__________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导师</a:t>
            </a:r>
            <a:r>
              <a:rPr lang="en-US" sz="150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：__________</a:t>
            </a:r>
            <a:r>
              <a:rPr lang="en-US" sz="1500" dirty="0" err="1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王云峰</a:t>
            </a:r>
            <a:r>
              <a:rPr lang="en-US" sz="150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__________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8368" y="523036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5358384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汇报主题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22960" y="557784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本汇报展示从原始 DICOM CT 数据开始，到三维影像转换、关键结构分割、风险禁区构建、穿刺路径规划和报告输出的完整处理流程。</a:t>
            </a:r>
            <a:endParaRPr lang="en-US" sz="720" dirty="0"/>
          </a:p>
        </p:txBody>
      </p:sp>
      <p:sp>
        <p:nvSpPr>
          <p:cNvPr id="20" name="Text 16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PROJECT REPORT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12280" y="118872"/>
            <a:ext cx="537667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685800"/>
            <a:ext cx="4681728" cy="5440680"/>
          </a:xfrm>
          <a:prstGeom prst="roundRect">
            <a:avLst>
              <a:gd name="adj" fmla="val 1172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aths_3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4" y="740664"/>
            <a:ext cx="4572000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585216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代表病例路径规划 3D 视图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594360" y="1024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21792" y="2084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从原始 DICOM 到关键结构分割、风险禁区生成、路径规划与报告输出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病例数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16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762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转换序列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83280" y="2944368"/>
            <a:ext cx="150876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3063240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47872" y="33649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疑似血肿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547872" y="353872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个病例检出</a:t>
            </a:r>
            <a:endParaRPr lang="en-US" sz="590" dirty="0"/>
          </a:p>
        </p:txBody>
      </p:sp>
      <p:sp>
        <p:nvSpPr>
          <p:cNvPr id="21" name="Shape 18"/>
          <p:cNvSpPr/>
          <p:nvPr/>
        </p:nvSpPr>
        <p:spPr>
          <a:xfrm>
            <a:off x="507492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951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23951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合法路径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3159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汇报重点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68680" y="4663440"/>
            <a:ext cx="5184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完整跑通从原始 CT 到路径规划的 9 步处理流程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每一步都留下可检查产物：三维影像、mask、叠加图、3D 图、JSON 和 PDF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当前是规则/几何驱动的辅助原型，价值在于自动整理和可视化，不是直接给临床结论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40080" y="5715000"/>
            <a:ext cx="5623560" cy="621792"/>
          </a:xfrm>
          <a:prstGeom prst="roundRect">
            <a:avLst>
              <a:gd name="adj" fmla="val 8824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5788152"/>
            <a:ext cx="5294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项目定位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804672" y="5943600"/>
            <a:ext cx="529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可以把它理解成“影像整理 + 自动标注 + 路径初筛”工具：先把 CT 拼成三维脑袋，再把骨头、脑组织、疑似血肿和危险区域涂出来，最后给出几条候选直线路径，方便人去检查。</a:t>
            </a:r>
            <a:endParaRPr lang="en-US" sz="640" dirty="0"/>
          </a:p>
        </p:txBody>
      </p:sp>
      <p:sp>
        <p:nvSpPr>
          <p:cNvPr id="30" name="Text 27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OBJECTIVE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项目目标与第一阶段交付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 CT 原始数据转化为可检查、可汇报、可追踪的结构化结果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医院导出的 DICOM 切片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包含图像、空间位置和扫描参数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标出颅骨、颅腔、脑组织、血肿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以及脑室等结构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在避开风险禁区的前提下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寻找候选穿刺直线路径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05256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372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输出 PNG、JSON、TXT 和 PDF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便于复核和汇报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3492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88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当前项目定位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它不是自动诊断系统，也不能替代医生判断；PPT 里的“血肿”“禁区”“路径”都应理解为程序计算出的候选结果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核心价值是把分散的 CT 文件、分割结果、统计数据和路径图统一整理，让人能快速复核每一步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适合做原型验证和流程演示；后续可以替换成更准确的血管分割、功能区定位或深度学习模型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51206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498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本次已跑出的结果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个病例完成 DICOM 转换、颅骨、脑组织、脑室、血管风险、脑干和功能区禁区生成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病例 0099039449 检出疑似血肿 8.37 mL，并找到 2 条满足规则的候选路径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病例 0100297683 没有检出血肿，因此路径规划自动跳过；两个病例均生成了文字方案和 PDF 报告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85800" y="5870448"/>
            <a:ext cx="10789920" cy="438912"/>
          </a:xfrm>
          <a:prstGeom prst="roundRect">
            <a:avLst>
              <a:gd name="adj" fmla="val 12500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6099048"/>
            <a:ext cx="10460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整套流程的目标不是“程序说了算”，而是把原本需要人工逐项打开查看的文件变成一组清晰、可追踪、可复核的中间结果。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数据与运行结果概览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本次基于已解压的头颅 CT 数据完成端到端跑通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4173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96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27432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49961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40080" y="1755648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遍历文件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057400" y="1755648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83794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1003 个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67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057400" y="2084832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16712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40080" y="2414016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963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series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57400" y="2414016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963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0080" y="2743200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254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成功转换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057400" y="2743200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82549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个体数据序列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85800" y="315468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57400" y="3072384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401568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838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失败序列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057400" y="3401568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4838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513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1920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3063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206240" y="4069080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1513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40080" y="4407408"/>
            <a:ext cx="12801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8970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920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 mL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063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 mL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206240" y="4407408"/>
            <a:ext cx="10515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48970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0080" y="4754880"/>
            <a:ext cx="12801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83717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920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65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 mL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063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 mL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206240" y="4754880"/>
            <a:ext cx="10515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8371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 mL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640080" y="524865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" y="5376672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04672" y="559612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 DICOM 文件不是 1001 个病例，而是许多张 CT 切片。程序先识别哪些切片属于同一次扫描，再把它们按空间顺序叠成三维体数据；定位像、患者方案这类不能组成可靠三维 CT 的内容会被跳过。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212080" y="1389888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4" name="Image 0" descr="/Users/thy/Desktop/KeTiZu/proj_260608/Songtt_proj01/output_nifti/patient_0099039449/CT_brain_0.80_Hr40_S3_00000262_p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6944" y="1444752"/>
            <a:ext cx="6199632" cy="1764792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5358384" y="3264408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· 薄层软组织 CT 三视图</a:t>
            </a:r>
            <a:endParaRPr lang="en-US" sz="730" dirty="0"/>
          </a:p>
        </p:txBody>
      </p:sp>
      <p:sp>
        <p:nvSpPr>
          <p:cNvPr id="66" name="Shape 63"/>
          <p:cNvSpPr/>
          <p:nvPr/>
        </p:nvSpPr>
        <p:spPr>
          <a:xfrm>
            <a:off x="5212080" y="3794760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7" name="Image 1" descr="/Users/thy/Desktop/KeTiZu/proj_260608/Songtt_proj01/output_nifti/patient_0100297683/CT_brain_0.80_Hr40_S3_00000269_preview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66944" y="3849624"/>
            <a:ext cx="6199632" cy="1764792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5358384" y="5669280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0100297683 · 薄层软组织 CT 三视图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PIPELINE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全流程总览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 个步骤串起数据读取、分割、风险建模、路径规划和报告输出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转 NIfTI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9631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9067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颅骨分割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73659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095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脑/血肿分割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7123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脑室分割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21715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1151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血管风险禁区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81051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4767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59359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079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709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8795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83387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2823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07415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6851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报告生成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31520" y="5230368"/>
            <a:ext cx="10744200" cy="950976"/>
          </a:xfrm>
          <a:prstGeom prst="roundRect">
            <a:avLst>
              <a:gd name="adj" fmla="val 576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431536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60120" y="5779008"/>
            <a:ext cx="10305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这条流水线先把 CT 小切片拼成三维脑部模型；再根据 CT 亮度值、形态学清理和解剖位置，逐步生成骨头、脑组织、血肿和禁区 mask；最后把这些 mask 当作“地图上的障碍物”，从颅骨外表面尝试连线到血肿，筛掉穿过危险区域的路径。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1 · DICOM 转 NIfTI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目的：把医院导出的原始 CT 切片整理成后续算法可处理的三维体数据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18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50392" y="1965960"/>
            <a:ext cx="3538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递归扫描原始 CT 目录，识别哪些文件是真正的 DICOM 图像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按扫描序列自动分组，把同一组切片放在一起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跳过定位像、剂量报告、患者方案和切片太少的序列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输出 .nii.gz 三维影像、preview 预览图和 manifest 清单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21792" y="3703320"/>
            <a:ext cx="13258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指标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947672" y="3703320"/>
            <a:ext cx="21031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78561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21792" y="4041648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1239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47672" y="4041648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1239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21792" y="4352544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获得 series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947672" y="4352544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44348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4663440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745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转换成功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947672" y="4663440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74573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" y="4974336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5663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947672" y="4974336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50566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个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1792" y="5285232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3675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主用序列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947672" y="5285232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536752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0.80mm Hr40 / Hr60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919472" y="1417320"/>
            <a:ext cx="6537960" cy="4114800"/>
          </a:xfrm>
          <a:prstGeom prst="roundRect">
            <a:avLst>
              <a:gd name="adj" fmla="val 133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36" name="Image 0" descr="/Users/thy/Desktop/KeTiZu/proj_260608/Songtt_proj01/output_nifti/patient_0099039449/CT_brain_0.80_Hr40_S3_00000262_p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74336" y="1472184"/>
            <a:ext cx="6428232" cy="373075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65776" y="5257800"/>
            <a:ext cx="6245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转换后生成的 NIfTI 三视图预览</a:t>
            </a:r>
            <a:endParaRPr lang="en-US" sz="730" dirty="0"/>
          </a:p>
        </p:txBody>
      </p:sp>
      <p:sp>
        <p:nvSpPr>
          <p:cNvPr id="38" name="Shape 35"/>
          <p:cNvSpPr/>
          <p:nvPr/>
        </p:nvSpPr>
        <p:spPr>
          <a:xfrm>
            <a:off x="4919472" y="5623560"/>
            <a:ext cx="653796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84064" y="5751576"/>
            <a:ext cx="6208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 err="1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解释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84064" y="5971032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可以理解成“一摞带坐标的 CT 小切片”，每张图都知道自己在脑袋里的位置。NIfTI 则是把这些切片按正确顺序和间距叠成一个三维脑部 CT。后面的颅骨、血肿、脑室、路径规划，都必须建立在这个三维数据上。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2 · 颅骨分割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目的：先找到头骨外壳，为颅腔提取和入颅点采样打基础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6400800" cy="2331720"/>
          </a:xfrm>
          <a:prstGeom prst="roundRect">
            <a:avLst>
              <a:gd name="adj" fmla="val 23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60_S3_00000263_skull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472184"/>
            <a:ext cx="6291072" cy="1947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overlay：白/红色区域为骨结构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15200" y="1417320"/>
            <a:ext cx="4069080" cy="4526280"/>
          </a:xfrm>
          <a:prstGeom prst="roundRect">
            <a:avLst>
              <a:gd name="adj" fmla="val 134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60_S3_00000263_skull_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70064" y="1472184"/>
            <a:ext cx="3959352" cy="4142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5669280"/>
            <a:ext cx="3776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3D 表面渲染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397764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1788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52628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骨头在 CT 上非常亮，用 HU 阈值先筛出疑似骨头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用开闭运算去掉小噪点，并尽量补上骨缝小断裂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保留最大的三维连通结构，避免把零散亮点当成颅骨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3794760" y="397764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40599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74920" y="3977640"/>
            <a:ext cx="11887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40599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794760" y="4315968"/>
            <a:ext cx="12801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0" y="43982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074920" y="4315968"/>
            <a:ext cx="11887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43982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402.10 cm³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794760" y="4645152"/>
            <a:ext cx="12801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0" y="47274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74920" y="4645152"/>
            <a:ext cx="11887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47274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484.34 cm³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21792" y="5440680"/>
            <a:ext cx="6400800" cy="841248"/>
          </a:xfrm>
          <a:prstGeom prst="roundRect">
            <a:avLst>
              <a:gd name="adj" fmla="val 6522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6384" y="5568696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为什么先找骨头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86384" y="5788152"/>
            <a:ext cx="607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头骨像一个坚硬外壳。先把外壳找出来，程序才能知道“脑袋里面”大概在哪里；后面提取颅腔、判断路径是否穿过太厚的骨头、从颅骨表面采样入颅点，都要依赖这一步。overlay 图用于看二维叠加效果，3D 图用于直观看整体骨壳形状。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3 · 颅腔、脑组织、血肿粗分割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目的：定位脑内空间，并筛出疑似出血区域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9224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444752"/>
            <a:ext cx="638251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99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 overlay：红色为疑似血肿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88352" y="1389888"/>
            <a:ext cx="3977640" cy="4480560"/>
          </a:xfrm>
          <a:prstGeom prst="roundRect">
            <a:avLst>
              <a:gd name="adj" fmla="val 137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brain_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43216" y="1444752"/>
            <a:ext cx="3867912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4656" y="5596128"/>
            <a:ext cx="3685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颅骨半透明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187952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3891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处理逻辑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36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先把颅骨围起来的内部空间填出来，得到大致颅腔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在颅腔里用 HU 0-80 提取脑组织和类似软组织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再用 HU 45-80 找更亮的疑似出血，并按体积、距离和形状过滤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97680" y="4187952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43400" y="42702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349240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0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062472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08192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75704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21424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297680" y="4526280"/>
            <a:ext cx="10515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43400" y="46085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349240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062472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08192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75704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21424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297680" y="4855464"/>
            <a:ext cx="10515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43400" y="4937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349240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94960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6062472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8192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75704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21424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15968" y="5394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单位：mL；血肿为粗分割结果，需要人工复核。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621792" y="5596128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724144"/>
            <a:ext cx="6163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逻辑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86384" y="594360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这一步像是在三维 CT 上分三层涂色：第一层先圈出头骨里面的空间，第二层把脑组织涂出来，第三层在脑组织里找更亮、形状更像出血的区域。本例 0099039449 检出约 8.37 mL 疑似血肿；但钙化、骨边缘伪影也可能偏亮，所以必须人工看 overlay 复核。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4 · 脑室分割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目的：找出脑室区域，作为路径规划时需要避开的结构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ntricle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青色区域为脑室候选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ntricle_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+ 脑室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56616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在颅腔内部寻找 HU 偏低、接近脑脊液的区域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排除太靠近颅骨的低密度区域，减少把脑沟误当脑室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按连通域大小筛选，保留更像脑室的主要区域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462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07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605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50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748272" y="4206240"/>
            <a:ext cx="7315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93992" y="428853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连通域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462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07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5605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50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19.09 mL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6748272" y="4544568"/>
            <a:ext cx="7315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93992" y="46268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4462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07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605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50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40.29 mL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6748272" y="4873752"/>
            <a:ext cx="7315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93992" y="49560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621792" y="5605272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86384" y="5733288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为什么要避开脑室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786384" y="5952744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脑室可以理解成脑内装脑脊液的空腔，CT 上比普通脑组织更暗。路径规划时如果直线穿过脑室，可能增加风险或不符合预期，因此脚本把脑室外扩一定安全边距后作为禁区。本次两个病例都提取到了脑室候选区域。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5 · 血管风险禁区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目的：在平扫 CT 无法精确分割血管时，生成保守避让区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ssel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红/橙色风险区用于路径避让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ssel_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 3D 展示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7490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关键说明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310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这一步不是精确血管分割，而是保守风险建模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普通平扫 CT 很难看到未钙化血管，真实血管最好用 CTA/MRA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脚本把高密度结构、中线静脉窦、大脑镰和颅底附近区域当作避让区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59028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82472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7044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59028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82472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7044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77.76 mL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459028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3600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82472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7044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213.37 mL</a:t>
            </a:r>
            <a:endParaRPr lang="en-US" sz="720" dirty="0"/>
          </a:p>
        </p:txBody>
      </p:sp>
      <p:sp>
        <p:nvSpPr>
          <p:cNvPr id="29" name="Text 25"/>
          <p:cNvSpPr/>
          <p:nvPr/>
        </p:nvSpPr>
        <p:spPr>
          <a:xfrm>
            <a:off x="4617720" y="5193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后续接入 CTA/MRA 后应替换为真实血管分割。</a:t>
            </a:r>
            <a:endParaRPr lang="en-US" sz="740" dirty="0"/>
          </a:p>
        </p:txBody>
      </p:sp>
      <p:sp>
        <p:nvSpPr>
          <p:cNvPr id="30" name="Shape 26"/>
          <p:cNvSpPr/>
          <p:nvPr/>
        </p:nvSpPr>
        <p:spPr>
          <a:xfrm>
            <a:off x="621792" y="5596128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09182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6384" y="5724144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重要边界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86384" y="5943600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普通平扫 CT 看不清很多血管，所以这页不能说“程序把血管都找出来了”。更准确的说法是：程序画出一些可能有血管风险、路径应尽量避开的区域。这样做会牺牲一部分可选路径，但能让规划更保守。后续若有 CTA/MRA，应替换为真实血管分割。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6-7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6-7 · 脑干与功能区近似禁区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目的：把高风险结构纳入路径规划约束，但当前是几何近似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stem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444752"/>
            <a:ext cx="5330952" cy="19751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5148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脑干近似禁区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236208" y="1389888"/>
            <a:ext cx="52120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eloquent_overla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444752"/>
            <a:ext cx="5102352" cy="19751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34747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功能区近似禁区 overlay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脑干大致位于颅腔下部、中线附近，是需要重点避让的结构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平扫 CT 上边界不清，脚本只能按位置、HU 范围和连通域估算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输出用于路径规划避让，不等同于精确脑干分割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51960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4480560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按颅腔大小把坐标归一化，再按经验比例画禁区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覆盖运动区、语言区、视觉区和深部核团等关键区域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真实个体功能区需要 MRI、fMRI、DTI 或图谱配准支持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7882128" y="4069080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27848" y="415137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897940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2512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980236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84808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</a:t>
            </a:r>
            <a:endParaRPr lang="en-US" sz="730" dirty="0"/>
          </a:p>
        </p:txBody>
      </p:sp>
      <p:sp>
        <p:nvSpPr>
          <p:cNvPr id="26" name="Shape 22"/>
          <p:cNvSpPr/>
          <p:nvPr/>
        </p:nvSpPr>
        <p:spPr>
          <a:xfrm>
            <a:off x="7882128" y="4407408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27848" y="4489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4"/>
          <p:cNvSpPr/>
          <p:nvPr/>
        </p:nvSpPr>
        <p:spPr>
          <a:xfrm>
            <a:off x="897940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2512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20.89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980236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4808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185.52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7882128" y="4736592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27848" y="48188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897940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02512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36.70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980236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4808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204.56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7918704" y="501091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21792" y="5577840"/>
            <a:ext cx="1083564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86384" y="5705856"/>
            <a:ext cx="10506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为什么叫“近似禁区”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786384" y="592531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脑干和功能区都非常重要，但平扫 CT 对这些结构的显示能力有限。当前脚本并不是“看见了每个人真实的功能区”，而是按解剖经验画一个保守范围，让路径规划尽量不穿过。汇报时要强调：这是避让约束，不是可直接用于临床定位的精准分割。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8 · 穿刺路径规划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目的：在避开禁区的前提下，从颅骨外表面找到到达血肿的候选直线路径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23160"/>
          </a:xfrm>
          <a:prstGeom prst="roundRect">
            <a:avLst>
              <a:gd name="adj" fmla="val 226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444752"/>
            <a:ext cx="6291072" cy="2039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538728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 overlay：线条为候选路径，黄星为目标点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60920" y="1389888"/>
            <a:ext cx="4005072" cy="4480560"/>
          </a:xfrm>
          <a:prstGeom prst="roundRect">
            <a:avLst>
              <a:gd name="adj" fmla="val 1370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paths_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15784" y="1444752"/>
            <a:ext cx="3895344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7224" y="5596128"/>
            <a:ext cx="3712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96512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路径评估规则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45152"/>
            <a:ext cx="3035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从颅骨外表面采样 1500 个可能的入颅点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目标点不只取血肿中心，还沿血肿长轴取远端点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每条直线都要检查骨厚、颅腔比例和禁区碰撞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315968" y="409651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61688" y="41788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29200" y="4096512"/>
            <a:ext cx="841248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417880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5870448" y="4096512"/>
            <a:ext cx="8686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16168" y="41788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长度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39128" y="4096512"/>
            <a:ext cx="6858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7880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角度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315968" y="443484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61688" y="451713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29200" y="4434840"/>
            <a:ext cx="841248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451713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质心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5870448" y="4434840"/>
            <a:ext cx="8686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16168" y="45171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50.6 mm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39128" y="4434840"/>
            <a:ext cx="6858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4517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18.1°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315968" y="476402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61688" y="484632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Top-2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029200" y="4764024"/>
            <a:ext cx="841248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74920" y="48463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远端 A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5870448" y="4764024"/>
            <a:ext cx="8686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916168" y="484632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92.4 mm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39128" y="4764024"/>
            <a:ext cx="6858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84632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75.1°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34256" y="50749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候选入颅点 1500 个，最终合法路径 2 条；另一病例因血肿 mask 为空自动跳过。</a:t>
            </a:r>
            <a:endParaRPr lang="en-US" sz="710" dirty="0"/>
          </a:p>
        </p:txBody>
      </p:sp>
      <p:sp>
        <p:nvSpPr>
          <p:cNvPr id="42" name="Shape 38"/>
          <p:cNvSpPr/>
          <p:nvPr/>
        </p:nvSpPr>
        <p:spPr>
          <a:xfrm>
            <a:off x="621792" y="5559552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687568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筛选方式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86384" y="5907024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程序把入颅点和目标点两两连成直线，然后像沿着一根针往里走一样逐点检查：进颅骨头是否太厚、进入颅腔后是否又碰到骨头、路径是否主要在颅腔内、有没有穿过脑室/血管风险/脑干/功能区。只要违反规则就丢弃，剩下的按长度和角度打分。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9 · 自然语言方案与 PDF 报告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目的：把分割图、统计结果和路径规划结果整理成可交付材料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715000" cy="2240280"/>
          </a:xfrm>
          <a:prstGeom prst="roundRect">
            <a:avLst>
              <a:gd name="adj" fmla="val 244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472184"/>
            <a:ext cx="5605272" cy="1856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3383280"/>
            <a:ext cx="5422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报告中的路径主页图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629400" y="1417320"/>
            <a:ext cx="4434840" cy="1280160"/>
          </a:xfrm>
          <a:prstGeom prst="roundRect">
            <a:avLst>
              <a:gd name="adj" fmla="val 428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自动生成文件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858000" y="1965960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plan.txt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report.pdf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包含封面、方案、路径图和各分割页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629400" y="2944368"/>
            <a:ext cx="4434840" cy="1627632"/>
          </a:xfrm>
          <a:prstGeom prst="roundRect">
            <a:avLst>
              <a:gd name="adj" fmla="val 3371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31638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推荐路径摘要（病例 0099039449）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839712" y="35295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入颅点 LPS: (77.57, -143.12, -513.71) mm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目标点 LPS: (33.24, -166.86, -507.71) mm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进针长度: 50.6 mm    入颅角度: 18.1°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40080" y="4041648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4281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报告价值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868680" y="4590288"/>
            <a:ext cx="5276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把很多零散输出统一成医生、老师或评审更容易浏览的材料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PNG 负责展示效果，JSON 保留坐标、体积、评分等机器可读数据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和 plan.txt 适合作为阶段性汇报、人工检查和归档入口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29400" y="4773168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48554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786384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96112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report.pdf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6629400" y="5111496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51937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786384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896112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6629400" y="5440680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52297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786384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896112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0684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640080" y="5669280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4672" y="5742432"/>
            <a:ext cx="10094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文件怎么用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804672" y="5897880"/>
            <a:ext cx="10094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.nii.gz 是三维影像和 mask，适合放进 3D Slicer 继续检查；.png 是给人快速看每一步效果；.json 记录体积、坐标、路径评分和拒绝原因；.txt/.pdf 把这些内容翻译成更适合阅读和汇报的形式。</a:t>
            </a:r>
            <a:endParaRPr lang="en-US" sz="6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报告（1/10）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1 页</a:t>
            </a:r>
            <a:endParaRPr lang="en-US" sz="7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报告（2/10）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2 页</a:t>
            </a:r>
            <a:endParaRPr lang="en-US" sz="7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报告（3/10）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3 页</a:t>
            </a:r>
            <a:endParaRPr lang="en-US" sz="7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报告（4/10）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4 页</a:t>
            </a:r>
            <a:endParaRPr lang="en-US" sz="7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报告（5/10）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5 页</a:t>
            </a:r>
            <a:endParaRPr lang="en-US" sz="7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报告（6/10）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6 页</a:t>
            </a:r>
            <a:endParaRPr lang="en-US" sz="7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报告（7/10）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7 页</a:t>
            </a:r>
            <a:endParaRPr lang="en-US" sz="7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报告（8/10）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8 页</a:t>
            </a:r>
            <a:endParaRPr lang="en-US" sz="7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报告（9/10）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9 页</a:t>
            </a:r>
            <a:endParaRPr lang="en-US" sz="7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PDF REPORT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附录 · 病例 PDF 报告（10/10）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的自动生成报告已按页插入 PPT，便于汇报时直接翻阅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10789920" cy="4956048"/>
          </a:xfrm>
          <a:prstGeom prst="roundRect">
            <a:avLst>
              <a:gd name="adj" fmla="val 110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ppt_output/songtt_ct_project/report_pages/report_page_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335024"/>
            <a:ext cx="10680192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5961888"/>
            <a:ext cx="10497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CT_brain_0.80_Hr40_S3_00000262_report.pdf · 第 10 页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2479</Words>
  <Application>Microsoft Macintosh PowerPoint</Application>
  <PresentationFormat>宽屏</PresentationFormat>
  <Paragraphs>393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Heiti TC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KeTiZu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脑出血 CT 影像分割与穿刺路径规划</dc:title>
  <dc:subject>Brain CT segmentation and puncture path planning pipeline</dc:subject>
  <dc:creator>Songtt CT project</dc:creator>
  <cp:lastModifiedBy>thy</cp:lastModifiedBy>
  <cp:revision>7</cp:revision>
  <dcterms:created xsi:type="dcterms:W3CDTF">2026-06-08T03:22:43Z</dcterms:created>
  <dcterms:modified xsi:type="dcterms:W3CDTF">2026-06-08T04:24:57Z</dcterms:modified>
</cp:coreProperties>
</file>